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Clicks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9FAF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March 2026</c:v>
                  </c:pt>
                  <c:pt idx="1">
                    <c:v>April 2026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1605712</c:v>
                </c:pt>
                <c:pt idx="1">
                  <c:v>1621673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Impressions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9FAF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March 2026</c:v>
                  </c:pt>
                  <c:pt idx="1">
                    <c:v>April 2026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16164573</c:v>
                </c:pt>
                <c:pt idx="1">
                  <c:v>17960179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9FAF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7303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9CA3A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A1F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"/>
            <a:ext cx="411480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0" kern="0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SEO REPORT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10944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April 2026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March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217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G2G SEO Tools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56655" y="6217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May 6,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HEADLINE NUMBERS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2154" cy="237744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54864" cy="2377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205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CLICKS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20535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1.6M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053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2053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18.0M impressions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79394" y="1554480"/>
            <a:ext cx="2602154" cy="237744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79394" y="1554480"/>
            <a:ext cx="54864" cy="2377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3653714" y="1737360"/>
            <a:ext cx="205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CTR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3714" y="2057400"/>
            <a:ext cx="20535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9.03%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653714" y="2971800"/>
            <a:ext cx="2053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-9%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3714" y="3383280"/>
            <a:ext cx="2053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position 6.7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0148" y="1554480"/>
            <a:ext cx="2602154" cy="237744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0148" y="1554480"/>
            <a:ext cx="54864" cy="2377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6484468" y="1737360"/>
            <a:ext cx="205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84468" y="2057400"/>
            <a:ext cx="20535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6.8M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484468" y="2971800"/>
            <a:ext cx="2053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-14%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84468" y="3383280"/>
            <a:ext cx="2053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153.0M conversions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40901" y="1554480"/>
            <a:ext cx="2602154" cy="237744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40901" y="1554480"/>
            <a:ext cx="54864" cy="2377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9315221" y="1737360"/>
            <a:ext cx="205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15221" y="2057400"/>
            <a:ext cx="20535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$16.38M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9315221" y="2971800"/>
            <a:ext cx="2053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-17%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15221" y="3383280"/>
            <a:ext cx="2053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$19.72M prior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206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Site:  </a:t>
            </a:r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Period:  </a:t>
            </a:r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2026-04-01 → 2026-04-30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Comparison:  </a:t>
            </a:r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Monthly Report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85455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happened this month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45738" cy="221742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354573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</a:rPr>
              <a:t>⚠️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997098" y="1755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299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GSC ↔ GA4 divergence is the #1 priority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299709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clicks +1% but organic sessions –14%. Measurement layer is unreliable until this is diagnosed — every conversion + revenue insight is suspect.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2978" y="1554480"/>
            <a:ext cx="3545738" cy="221742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2978" y="1554480"/>
            <a:ext cx="3545738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551578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F4444"/>
                </a:solidFill>
              </a:rPr>
              <a:t>💰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771437" y="1755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DECLINE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97298" y="2331720"/>
            <a:ext cx="299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dropped $3.3M — biggest single-month decline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7298" y="3246120"/>
            <a:ext cx="299709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revenue $19.7M → $16.4M (–17%). Conversion value held better (–4%) than sessions (–14%) — fewer sessions reaching checkout, mid-funnel friction or traffic-mix shift.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7317" y="1554480"/>
            <a:ext cx="3545738" cy="221742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97317" y="1554480"/>
            <a:ext cx="3545738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8325917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F4444"/>
                </a:solidFill>
              </a:rPr>
              <a:t>📉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0545775" y="1755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DECLINE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71637" y="2331720"/>
            <a:ext cx="299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slipped despite click growth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71637" y="3246120"/>
            <a:ext cx="299709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9.93% → 9.03% and avg. position drifted to 6.7. Indexing more queries but in weaker positions — likely diluted by lower-intent emerging categories.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00500"/>
            <a:ext cx="3545738" cy="221742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000500"/>
            <a:ext cx="3545738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1650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0B981"/>
                </a:solidFill>
              </a:rPr>
              <a:t>🚀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2997098" y="42016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" y="4777740"/>
            <a:ext cx="299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accounts dominated gains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" y="5692140"/>
            <a:ext cx="299709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Accounts +6.4K clicks, ChatGPT Accounts +4.5K, Valorant Accounts +4.7K. Earlier content bets are paying off — double down with CRO + supply.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22978" y="4000500"/>
            <a:ext cx="3545738" cy="221742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22978" y="4000500"/>
            <a:ext cx="3545738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51578" y="41650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F4444"/>
                </a:solidFill>
              </a:rPr>
              <a:t>🩸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771437" y="42016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DECLINE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97298" y="4777740"/>
            <a:ext cx="299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Legacy categories hemorrhaging traffic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97298" y="5692140"/>
            <a:ext cx="299709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–72K clicks, WoW Classic Gold –8.7K, Diablo 2 Items –5.8K, PoE Currency –5.8K. Seasonal cycles + Eldorado/PlayerAuctions/G2A pressure. Defend before May.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97317" y="4000500"/>
            <a:ext cx="3545738" cy="221742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97317" y="4000500"/>
            <a:ext cx="354573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8325917" y="41650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</a:rPr>
              <a:t>🛠️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10545775" y="42016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371637" y="4777740"/>
            <a:ext cx="299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Tooling failure: SEMrush returned all zeros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71637" y="5692140"/>
            <a:ext cx="299709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competitive ranking benchmarks captured this month. Not a real ranking wipeout — API/integration broken. Restore before May report.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Monthly Report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985455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SEARCH CONSOLE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performance trend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4415" cy="438912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389120"/>
          </a:xfrm>
          <a:prstGeom prst="rect">
            <a:avLst/>
          </a:prstGeom>
          <a:solidFill>
            <a:srgbClr val="DC2626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822960" y="1554480"/>
          <a:ext cx="1054577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Monthly Report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85455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ANALYTICS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organic pages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4415" cy="493776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937760"/>
          </a:xfrm>
          <a:prstGeom prst="rect">
            <a:avLst/>
          </a:prstGeom>
          <a:solidFill>
            <a:srgbClr val="DC2626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54480"/>
          <a:ext cx="10545775" cy="914400"/>
        </p:xfrm>
        <a:graphic>
          <a:graphicData uri="http://schemas.openxmlformats.org/drawingml/2006/table">
            <a:tbl>
              <a:tblPr/>
              <a:tblGrid>
                <a:gridCol w="6430975"/>
                <a:gridCol w="1371600"/>
                <a:gridCol w="1371600"/>
                <a:gridCol w="13716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Page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Sessions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Conversions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Revenue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/categories/wow-classic-era-vanilla-gold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76.3K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615.3K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/categories/valorant-account-for-sale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/categories/rbl-item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55.4K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/categories/arc-raiders-items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49.4K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/categories/wow-boosting-service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43.8K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729.1K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/categories/wow-gold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418.4K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Monthly Report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85455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OFF-PAGE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Backlink portfolio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45738" cy="201168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54864" cy="2011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 BACKLINKS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299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as of report date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2978" y="1554480"/>
            <a:ext cx="3545738" cy="201168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2978" y="1554480"/>
            <a:ext cx="54864" cy="2011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97298" y="173736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THIS MONTH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97298" y="2057400"/>
            <a:ext cx="299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+6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97298" y="297180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during period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7317" y="1554480"/>
            <a:ext cx="3545738" cy="201168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97317" y="1554480"/>
            <a:ext cx="54864" cy="2011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8371637" y="173736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SPEND THIS MONTH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71637" y="2057400"/>
            <a:ext cx="299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$1.1K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371637" y="297180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$2.8K all-time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11094415" cy="128016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023360"/>
            <a:ext cx="54864" cy="1280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160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POSITION IMPROVEMENT FROM ACTIVE BACKLINKS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43484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-1.1 positions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Monthly Report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85455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MONTH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action plan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32908" cy="99441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99441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67148" y="1847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08760" y="1847088"/>
            <a:ext cx="3421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08760" y="2121408"/>
            <a:ext cx="42441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Diagnose GSC vs GA4 session gap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2633472"/>
            <a:ext cx="4244188" cy="-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GA4 tag firing, consent-mode, referral exclusions, bot filtering. Every revenue insight is unreliable until the measurement layer is fixed.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0148" y="1554480"/>
            <a:ext cx="5432908" cy="99441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0148" y="1554480"/>
            <a:ext cx="73152" cy="99441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6484468" y="182880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48446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728655" y="1847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70268" y="1847088"/>
            <a:ext cx="3421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70268" y="2121408"/>
            <a:ext cx="42441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Restore SEMrush tracking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70268" y="2633472"/>
            <a:ext cx="4244188" cy="-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 API integration, re-verify tracked keyword list, backfill April where possible. Competitive benchmarking must be live for May review.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777490"/>
            <a:ext cx="5432908" cy="99441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2777490"/>
            <a:ext cx="73152" cy="99441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305181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05181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067148" y="307009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08760" y="3070098"/>
            <a:ext cx="3421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08760" y="3344418"/>
            <a:ext cx="42441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CR Cards category page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08760" y="3856482"/>
            <a:ext cx="4244188" cy="-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found a 1M-search-volume gap with PlayerAuctions at #8 and zero G2G presence. Build category + buyer-guide brief in 30 days.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0148" y="2777490"/>
            <a:ext cx="5432908" cy="99441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0148" y="2777490"/>
            <a:ext cx="73152" cy="99441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6484468" y="305181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484468" y="305181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728655" y="307009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70268" y="3070098"/>
            <a:ext cx="3421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70268" y="3344418"/>
            <a:ext cx="42441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Refresh declining legacy pages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170268" y="3856482"/>
            <a:ext cx="4244188" cy="-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refreshes for WoW Classic Gold, Diablo 2 Items, PoE Currency, Rocket League. These four lost 22.7K clicks combined.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000500"/>
            <a:ext cx="5432908" cy="99441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8640" y="4000500"/>
            <a:ext cx="73152" cy="99441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8" name="Shape 36"/>
          <p:cNvSpPr/>
          <p:nvPr/>
        </p:nvSpPr>
        <p:spPr>
          <a:xfrm>
            <a:off x="822960" y="427482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42748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067148" y="42931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508760" y="4293108"/>
            <a:ext cx="3421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508760" y="4567428"/>
            <a:ext cx="42441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Investigate /offers/sell –90% drop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508760" y="5079492"/>
            <a:ext cx="4244188" cy="-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Heimdall flagged a 294-click loss on the seller-side funnel. If sellers can't list, buyer supply collapses and conversions follow. Diagnose immediately.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10148" y="4000500"/>
            <a:ext cx="5432908" cy="99441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10148" y="4000500"/>
            <a:ext cx="73152" cy="99441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Shape 44"/>
          <p:cNvSpPr/>
          <p:nvPr/>
        </p:nvSpPr>
        <p:spPr>
          <a:xfrm>
            <a:off x="6484468" y="427482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6484468" y="42748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10728655" y="42931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170268" y="4293108"/>
            <a:ext cx="3421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VELOCITY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170268" y="4567428"/>
            <a:ext cx="42441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Clear the 18-item execution backlog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7170268" y="5079492"/>
            <a:ext cx="4244188" cy="-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of 22 action items completed (18% rate). Triage by revenue impact, assign weekly owners, tune Vor's threshold to cut the 90% rejection rate.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5223510"/>
            <a:ext cx="5432908" cy="99441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48640" y="5223510"/>
            <a:ext cx="73152" cy="99441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54" name="Shape 52"/>
          <p:cNvSpPr/>
          <p:nvPr/>
        </p:nvSpPr>
        <p:spPr>
          <a:xfrm>
            <a:off x="822960" y="5497830"/>
            <a:ext cx="548640" cy="54864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55" name="Text 53"/>
          <p:cNvSpPr/>
          <p:nvPr/>
        </p:nvSpPr>
        <p:spPr>
          <a:xfrm>
            <a:off x="822960" y="549783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5067148" y="551611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P2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508760" y="5516118"/>
            <a:ext cx="3421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508760" y="5790438"/>
            <a:ext cx="42441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 CRO on AI account categories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1508760" y="6302502"/>
            <a:ext cx="4244188" cy="-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ChatGPT / Valorant Accounts driving traffic but likely converting below average. Add trust signals, streamline add-to-cart, surface seller ratings.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Monthly Report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985455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G2G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G2G Monthly Report — April 2026</dc:title>
  <dc:subject>PptxGenJS Presentation</dc:subject>
  <dc:creator>G2G SEO Tools</dc:creator>
  <cp:lastModifiedBy>G2G SEO Tools</cp:lastModifiedBy>
  <cp:revision>1</cp:revision>
  <dcterms:created xsi:type="dcterms:W3CDTF">2026-05-06T10:29:08Z</dcterms:created>
  <dcterms:modified xsi:type="dcterms:W3CDTF">2026-05-06T10:29:08Z</dcterms:modified>
</cp:coreProperties>
</file>