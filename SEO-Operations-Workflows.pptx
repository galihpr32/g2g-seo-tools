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2628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34840"/>
            <a:ext cx="32004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OPERATIONS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Workflows &amp;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Automation Footprint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walkthrough of every PIC's daily, weekly, and monthly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— and which steps the system now runs for them.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4023360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0F25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0233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28800" y="4023360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0F25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0233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OffGamers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017520" y="4023360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0F25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40233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PIC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06240" y="4023360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0F25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40233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workflows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to read this deck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73152" cy="82296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373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45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190195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runs end-to-end without a human. Cron, agent, or pipeline triggers itself, processes, and writes results.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0" y="17373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GSC daily sync · Heimdall ranking analysis · PSI snapshot cron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57200" y="2514600"/>
            <a:ext cx="8229600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2514600"/>
            <a:ext cx="73152" cy="8229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974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2606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71600" y="286207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proposes, prepares, or pre-fills. A human approves, edits, or selects. Most steps fall here.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400800" y="2697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Brief generation (AI draft + Tyr review) · Saga cluster proposals · Outreach email drafts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457200" y="3474720"/>
            <a:ext cx="8229600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57200" y="3474720"/>
            <a:ext cx="73152" cy="822960"/>
          </a:xfrm>
          <a:prstGeom prst="rect">
            <a:avLst/>
          </a:prstGeom>
          <a:solidFill>
            <a:srgbClr val="64748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5760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566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371600" y="38221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owns the step end-to-end. System provides context but does not initiate or write the result.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400800" y="36576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Strategic decisions · Final brief sign-off · Outreach replies · Sprint planning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badge appears in the top-right of every workflow step throughout this deck.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G2G + OffGamers · SEO Operations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AT A GLANCE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team &amp; their automation footprint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965960" cy="2926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1965960" cy="16459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013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SEO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Galih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· Reporting · AI Visibility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footprint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" y="3429000"/>
            <a:ext cx="1600200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429000"/>
            <a:ext cx="960120" cy="164592"/>
          </a:xfrm>
          <a:prstGeom prst="roundRect">
            <a:avLst>
              <a:gd name="adj" fmla="val 22222"/>
            </a:avLst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6301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977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workflows tracked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0" y="1508760"/>
            <a:ext cx="1965960" cy="2926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0" y="1508760"/>
            <a:ext cx="1965960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0" y="18013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ASST. MANAGER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0" y="20574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TBD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743200" y="24688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· Site Health · Schema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0" y="32004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footprint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0" y="3429000"/>
            <a:ext cx="1600200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0" y="3429000"/>
            <a:ext cx="1280160" cy="164592"/>
          </a:xfrm>
          <a:prstGeom prst="roundRect">
            <a:avLst>
              <a:gd name="adj" fmla="val 22222"/>
            </a:avLst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0" y="36301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0" y="3977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workflows tracked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508760"/>
            <a:ext cx="1965960" cy="2926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1508760"/>
            <a:ext cx="1965960" cy="1645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8013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SPECIALIST 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0" y="20574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TBD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846320" y="24688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· Briefs · Experiments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32004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footprint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846320" y="3429000"/>
            <a:ext cx="1600200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/>
        </p:spPr>
      </p:sp>
      <p:sp>
        <p:nvSpPr>
          <p:cNvPr id="31" name="Shape 29"/>
          <p:cNvSpPr/>
          <p:nvPr/>
        </p:nvSpPr>
        <p:spPr>
          <a:xfrm>
            <a:off x="4846320" y="3429000"/>
            <a:ext cx="1040130" cy="164592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36301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46320" y="3977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workflows tracked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66560" y="1508760"/>
            <a:ext cx="1965960" cy="2926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0" y="1508760"/>
            <a:ext cx="1965960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6" name="Text 34"/>
          <p:cNvSpPr/>
          <p:nvPr/>
        </p:nvSpPr>
        <p:spPr>
          <a:xfrm>
            <a:off x="6949440" y="18013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SPECIALIST 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949440" y="20574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TBD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949440" y="24688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Off-page · Backlinks · Outreach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49440" y="32004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footprint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949440" y="3429000"/>
            <a:ext cx="1600200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/>
        </p:spPr>
      </p:sp>
      <p:sp>
        <p:nvSpPr>
          <p:cNvPr id="41" name="Shape 39"/>
          <p:cNvSpPr/>
          <p:nvPr/>
        </p:nvSpPr>
        <p:spPr>
          <a:xfrm>
            <a:off x="6949440" y="3429000"/>
            <a:ext cx="880110" cy="164592"/>
          </a:xfrm>
          <a:prstGeom prst="roundRect">
            <a:avLst>
              <a:gd name="adj" fmla="val 22222"/>
            </a:avLst>
          </a:prstGeom>
          <a:solidFill>
            <a:srgbClr val="DC2626"/>
          </a:solidFill>
          <a:ln/>
        </p:spPr>
      </p:sp>
      <p:sp>
        <p:nvSpPr>
          <p:cNvPr id="42" name="Text 40"/>
          <p:cNvSpPr/>
          <p:nvPr/>
        </p:nvSpPr>
        <p:spPr>
          <a:xfrm>
            <a:off x="6949440" y="36301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949440" y="3977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workflows tracked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reflect the share of routine, recurring work the system now executes without a human pressing a button. Strategic and creative work remains human-led.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G2G + OffGamers · SEO Operations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this matters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0604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916936"/>
            <a:ext cx="26060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373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~20h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WEEK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team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46120" y="1554480"/>
            <a:ext cx="260604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2916936"/>
            <a:ext cx="26060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7373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brands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46120" y="24231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HEADCOUNT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46120" y="26974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G2G + OffGamers parallel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035040" y="1554480"/>
            <a:ext cx="260604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2916936"/>
            <a:ext cx="2606040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17373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035040" y="24231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TRACKED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35040" y="26974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mapped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4023360" cy="13716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246120"/>
            <a:ext cx="73152" cy="1371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3832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REACTIVE TO PROACTIVE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36576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used to come from manual GSC checks. Now agents surface ranking drops, keyword gaps, and trending opportunities before the team starts the day.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3246120"/>
            <a:ext cx="4023360" cy="13716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3246120"/>
            <a:ext cx="73152" cy="1371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3832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ON DECISIONS, NOT EXECUTION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36576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Drafts, snapshots, prospects, and reports arrive ready to review. Humans spend their time approving, refining, and choosing — not collecting data.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G2G + OffGamers · SEO Operations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1 OF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Head of SEO — Galih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· Monthly reporting · AI visibility · Cross-brand prioritisation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4023360" cy="24688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011680"/>
            <a:ext cx="73152" cy="24688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1488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tasks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468880"/>
            <a:ext cx="3703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performance report (G2G + OffGamers)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Cross-brand strategic prioritisation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visibility tracking (ChatGPT, Gemini, Perplexity)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kick-off + retro facilitation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Approving high-stakes Saga / KB rule changes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2011680"/>
            <a:ext cx="4023360" cy="24688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2011680"/>
            <a:ext cx="73152" cy="24688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21488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tools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2468880"/>
            <a:ext cx="3703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→ /reports/monthly viewer + PPTX export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Mimir Council → Q&amp;A + Promote-to-KB feedback loop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Visibility tracker → /ai-visibility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 → daily team / agent overview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Journey → cross-brand demand triage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workflows mapped in this section: Monthly report · Cross-brand decision · AI visibility tracking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G2G + OffGamers · SEO Operations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GALIH · WORKFLOW 1 OF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Monthly report production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56616" y="1828800"/>
            <a:ext cx="1554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" y="1828800"/>
            <a:ext cx="54864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493776" y="1920240"/>
            <a:ext cx="292608" cy="29260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" y="22402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triggers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" y="24871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of month, 04:00 UTC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252728" y="190195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D1FAE5"/>
          </a:solidFill>
          <a:ln/>
        </p:spPr>
      </p:sp>
      <p:sp>
        <p:nvSpPr>
          <p:cNvPr id="11" name="Text 9"/>
          <p:cNvSpPr/>
          <p:nvPr/>
        </p:nvSpPr>
        <p:spPr>
          <a:xfrm>
            <a:off x="1252728" y="19019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965960" y="2221992"/>
            <a:ext cx="128016" cy="91440"/>
          </a:xfrm>
          <a:prstGeom prst="rightTriangle">
            <a:avLst/>
          </a:prstGeom>
          <a:solidFill>
            <a:srgbClr val="94A3B8"/>
          </a:solidFill>
          <a:ln/>
        </p:spPr>
      </p:sp>
      <p:sp>
        <p:nvSpPr>
          <p:cNvPr id="13" name="Shape 11"/>
          <p:cNvSpPr/>
          <p:nvPr/>
        </p:nvSpPr>
        <p:spPr>
          <a:xfrm>
            <a:off x="1911096" y="2263140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75688" y="1828800"/>
            <a:ext cx="1554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75688" y="1828800"/>
            <a:ext cx="54864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2212848" y="1920240"/>
            <a:ext cx="292608" cy="29260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2212848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12848" y="22402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assembled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12848" y="24871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GSC · DataForSEO · agents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971800" y="190195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D1FAE5"/>
          </a:solidFill>
          <a:ln/>
        </p:spPr>
      </p:sp>
      <p:sp>
        <p:nvSpPr>
          <p:cNvPr id="21" name="Text 19"/>
          <p:cNvSpPr/>
          <p:nvPr/>
        </p:nvSpPr>
        <p:spPr>
          <a:xfrm>
            <a:off x="2971800" y="19019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85032" y="2221992"/>
            <a:ext cx="128016" cy="91440"/>
          </a:xfrm>
          <a:prstGeom prst="rightTriangle">
            <a:avLst/>
          </a:prstGeom>
          <a:solidFill>
            <a:srgbClr val="94A3B8"/>
          </a:solidFill>
          <a:ln/>
        </p:spPr>
      </p:sp>
      <p:sp>
        <p:nvSpPr>
          <p:cNvPr id="23" name="Shape 21"/>
          <p:cNvSpPr/>
          <p:nvPr/>
        </p:nvSpPr>
        <p:spPr>
          <a:xfrm>
            <a:off x="3630168" y="2263140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94760" y="1828800"/>
            <a:ext cx="1554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94760" y="1828800"/>
            <a:ext cx="54864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" name="Shape 24"/>
          <p:cNvSpPr/>
          <p:nvPr/>
        </p:nvSpPr>
        <p:spPr>
          <a:xfrm>
            <a:off x="3931920" y="1920240"/>
            <a:ext cx="292608" cy="29260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7" name="Text 25"/>
          <p:cNvSpPr/>
          <p:nvPr/>
        </p:nvSpPr>
        <p:spPr>
          <a:xfrm>
            <a:off x="3931920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31920" y="22402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narrative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931920" y="24871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drafts each section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90872" y="190195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D1FAE5"/>
          </a:solidFill>
          <a:ln/>
        </p:spPr>
      </p:sp>
      <p:sp>
        <p:nvSpPr>
          <p:cNvPr id="31" name="Text 29"/>
          <p:cNvSpPr/>
          <p:nvPr/>
        </p:nvSpPr>
        <p:spPr>
          <a:xfrm>
            <a:off x="4690872" y="19019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404104" y="2221992"/>
            <a:ext cx="128016" cy="91440"/>
          </a:xfrm>
          <a:prstGeom prst="rightTriangle">
            <a:avLst/>
          </a:prstGeom>
          <a:solidFill>
            <a:srgbClr val="94A3B8"/>
          </a:solidFill>
          <a:ln/>
        </p:spPr>
      </p:sp>
      <p:sp>
        <p:nvSpPr>
          <p:cNvPr id="33" name="Shape 31"/>
          <p:cNvSpPr/>
          <p:nvPr/>
        </p:nvSpPr>
        <p:spPr>
          <a:xfrm>
            <a:off x="5349240" y="2263140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13832" y="1828800"/>
            <a:ext cx="1554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13832" y="1828800"/>
            <a:ext cx="54864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6" name="Shape 34"/>
          <p:cNvSpPr/>
          <p:nvPr/>
        </p:nvSpPr>
        <p:spPr>
          <a:xfrm>
            <a:off x="5650992" y="1920240"/>
            <a:ext cx="292608" cy="29260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7" name="Text 35"/>
          <p:cNvSpPr/>
          <p:nvPr/>
        </p:nvSpPr>
        <p:spPr>
          <a:xfrm>
            <a:off x="5650992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650992" y="22402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+ commentary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650992" y="24871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notes per section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409944" y="190195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/>
        </p:spPr>
      </p:sp>
      <p:sp>
        <p:nvSpPr>
          <p:cNvPr id="41" name="Text 39"/>
          <p:cNvSpPr/>
          <p:nvPr/>
        </p:nvSpPr>
        <p:spPr>
          <a:xfrm>
            <a:off x="6409944" y="19019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123176" y="2221992"/>
            <a:ext cx="128016" cy="91440"/>
          </a:xfrm>
          <a:prstGeom prst="rightTriangle">
            <a:avLst/>
          </a:prstGeom>
          <a:solidFill>
            <a:srgbClr val="94A3B8"/>
          </a:solidFill>
          <a:ln/>
        </p:spPr>
      </p:sp>
      <p:sp>
        <p:nvSpPr>
          <p:cNvPr id="43" name="Shape 41"/>
          <p:cNvSpPr/>
          <p:nvPr/>
        </p:nvSpPr>
        <p:spPr>
          <a:xfrm>
            <a:off x="7068312" y="2263140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232904" y="1828800"/>
            <a:ext cx="1554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232904" y="1828800"/>
            <a:ext cx="54864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6" name="Shape 44"/>
          <p:cNvSpPr/>
          <p:nvPr/>
        </p:nvSpPr>
        <p:spPr>
          <a:xfrm>
            <a:off x="7370064" y="1920240"/>
            <a:ext cx="292608" cy="29260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7" name="Text 45"/>
          <p:cNvSpPr/>
          <p:nvPr/>
        </p:nvSpPr>
        <p:spPr>
          <a:xfrm>
            <a:off x="7370064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370064" y="22402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370064" y="24871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 export, share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129016" y="190195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E2E8F0"/>
          </a:solidFill>
          <a:ln/>
        </p:spPr>
      </p:sp>
      <p:sp>
        <p:nvSpPr>
          <p:cNvPr id="51" name="Text 49"/>
          <p:cNvSpPr/>
          <p:nvPr/>
        </p:nvSpPr>
        <p:spPr>
          <a:xfrm>
            <a:off x="8129016" y="19019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57200" y="3108960"/>
            <a:ext cx="8229600" cy="14630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40080" y="35204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take 2-3 days; now </a:t>
            </a:r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30-minute review window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1st of each month covers both brands.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754880" y="3246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removed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754880" y="35204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Mimir-generated section narratives + cross-channel charts arrive ready. Human time spent only on </a:t>
            </a:r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 and strategic framing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G2G + OffGamers · SEO Operations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GALIH · WORKFLOW 2 OF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Cross-brand prioritisation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9202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54864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920240"/>
            <a:ext cx="292608" cy="29260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2402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aggregates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48716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 groups signals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719072" y="190195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D1FAE5"/>
          </a:solidFill>
          <a:ln/>
        </p:spPr>
      </p:sp>
      <p:sp>
        <p:nvSpPr>
          <p:cNvPr id="11" name="Text 9"/>
          <p:cNvSpPr/>
          <p:nvPr/>
        </p:nvSpPr>
        <p:spPr>
          <a:xfrm>
            <a:off x="1719072" y="19019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50592" y="2221992"/>
            <a:ext cx="128016" cy="91440"/>
          </a:xfrm>
          <a:prstGeom prst="rightTriangle">
            <a:avLst/>
          </a:prstGeom>
          <a:solidFill>
            <a:srgbClr val="94A3B8"/>
          </a:solidFill>
          <a:ln/>
        </p:spPr>
      </p:sp>
      <p:sp>
        <p:nvSpPr>
          <p:cNvPr id="13" name="Shape 11"/>
          <p:cNvSpPr/>
          <p:nvPr/>
        </p:nvSpPr>
        <p:spPr>
          <a:xfrm>
            <a:off x="2377440" y="2263140"/>
            <a:ext cx="12801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0" y="1828800"/>
            <a:ext cx="19202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0" y="1828800"/>
            <a:ext cx="54864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2697480" y="1920240"/>
            <a:ext cx="292608" cy="29260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2697480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97480" y="22402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 rank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97480" y="248716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breakdown shown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822192" y="190195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D1FAE5"/>
          </a:solidFill>
          <a:ln/>
        </p:spPr>
      </p:sp>
      <p:sp>
        <p:nvSpPr>
          <p:cNvPr id="21" name="Text 19"/>
          <p:cNvSpPr/>
          <p:nvPr/>
        </p:nvSpPr>
        <p:spPr>
          <a:xfrm>
            <a:off x="3822192" y="19019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53712" y="2221992"/>
            <a:ext cx="128016" cy="91440"/>
          </a:xfrm>
          <a:prstGeom prst="rightTriangle">
            <a:avLst/>
          </a:prstGeom>
          <a:solidFill>
            <a:srgbClr val="94A3B8"/>
          </a:solidFill>
          <a:ln/>
        </p:spPr>
      </p:sp>
      <p:sp>
        <p:nvSpPr>
          <p:cNvPr id="23" name="Shape 21"/>
          <p:cNvSpPr/>
          <p:nvPr/>
        </p:nvSpPr>
        <p:spPr>
          <a:xfrm>
            <a:off x="4480560" y="2263140"/>
            <a:ext cx="12801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1828800"/>
            <a:ext cx="19202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1828800"/>
            <a:ext cx="54864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" name="Shape 24"/>
          <p:cNvSpPr/>
          <p:nvPr/>
        </p:nvSpPr>
        <p:spPr>
          <a:xfrm>
            <a:off x="4800600" y="1920240"/>
            <a:ext cx="292608" cy="29260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22402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brands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00600" y="248716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G2G vs OffGamers view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925312" y="190195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/>
        </p:spPr>
      </p:sp>
      <p:sp>
        <p:nvSpPr>
          <p:cNvPr id="31" name="Text 29"/>
          <p:cNvSpPr/>
          <p:nvPr/>
        </p:nvSpPr>
        <p:spPr>
          <a:xfrm>
            <a:off x="5925312" y="19019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656832" y="2221992"/>
            <a:ext cx="128016" cy="91440"/>
          </a:xfrm>
          <a:prstGeom prst="rightTriangle">
            <a:avLst/>
          </a:prstGeom>
          <a:solidFill>
            <a:srgbClr val="94A3B8"/>
          </a:solidFill>
          <a:ln/>
        </p:spPr>
      </p:sp>
      <p:sp>
        <p:nvSpPr>
          <p:cNvPr id="33" name="Shape 31"/>
          <p:cNvSpPr/>
          <p:nvPr/>
        </p:nvSpPr>
        <p:spPr>
          <a:xfrm>
            <a:off x="6583680" y="2263140"/>
            <a:ext cx="12801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66560" y="1828800"/>
            <a:ext cx="19202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0" y="1828800"/>
            <a:ext cx="54864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6" name="Shape 34"/>
          <p:cNvSpPr/>
          <p:nvPr/>
        </p:nvSpPr>
        <p:spPr>
          <a:xfrm>
            <a:off x="6903720" y="1920240"/>
            <a:ext cx="292608" cy="29260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7" name="Text 35"/>
          <p:cNvSpPr/>
          <p:nvPr/>
        </p:nvSpPr>
        <p:spPr>
          <a:xfrm>
            <a:off x="6903720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03720" y="22402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sprint slot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03720" y="248716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who works on what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8028432" y="190195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E2E8F0"/>
          </a:solidFill>
          <a:ln/>
        </p:spPr>
      </p:sp>
      <p:sp>
        <p:nvSpPr>
          <p:cNvPr id="41" name="Text 39"/>
          <p:cNvSpPr/>
          <p:nvPr/>
        </p:nvSpPr>
        <p:spPr>
          <a:xfrm>
            <a:off x="8028432" y="19019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57200" y="3108960"/>
            <a:ext cx="8229600" cy="14630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3246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made data-first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0080" y="35204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 breakdown panel shows </a:t>
            </a:r>
            <a:pPr indent="0" marL="0">
              <a:buNone/>
            </a:pPr>
            <a:r>
              <a:rPr lang="en-US" sz="1100" b="1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topic ranks where it does (signal corroboration, search volume, freshness, click-drop urgency). Galih chooses which brand and which PIC takes the slot — system supplies the evidence.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G2G + OffGamers · SEO Operations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GALIH · WORKFLOW 3 OF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visibility tracking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56616" y="1828800"/>
            <a:ext cx="1554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" y="1828800"/>
            <a:ext cx="54864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493776" y="1920240"/>
            <a:ext cx="292608" cy="29260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" y="22402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prompts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" y="24871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Buying-intent queries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252728" y="190195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1252728" y="19019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965960" y="2221992"/>
            <a:ext cx="128016" cy="91440"/>
          </a:xfrm>
          <a:prstGeom prst="rightTriangle">
            <a:avLst/>
          </a:prstGeom>
          <a:solidFill>
            <a:srgbClr val="94A3B8"/>
          </a:solidFill>
          <a:ln/>
        </p:spPr>
      </p:sp>
      <p:sp>
        <p:nvSpPr>
          <p:cNvPr id="13" name="Shape 11"/>
          <p:cNvSpPr/>
          <p:nvPr/>
        </p:nvSpPr>
        <p:spPr>
          <a:xfrm>
            <a:off x="1911096" y="2263140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75688" y="1828800"/>
            <a:ext cx="1554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75688" y="1828800"/>
            <a:ext cx="54864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2212848" y="1920240"/>
            <a:ext cx="292608" cy="29260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2212848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12848" y="22402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weekly poll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12848" y="24871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· Gemini · Perplexity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971800" y="190195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D1FAE5"/>
          </a:solidFill>
          <a:ln/>
        </p:spPr>
      </p:sp>
      <p:sp>
        <p:nvSpPr>
          <p:cNvPr id="21" name="Text 19"/>
          <p:cNvSpPr/>
          <p:nvPr/>
        </p:nvSpPr>
        <p:spPr>
          <a:xfrm>
            <a:off x="2971800" y="19019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85032" y="2221992"/>
            <a:ext cx="128016" cy="91440"/>
          </a:xfrm>
          <a:prstGeom prst="rightTriangle">
            <a:avLst/>
          </a:prstGeom>
          <a:solidFill>
            <a:srgbClr val="94A3B8"/>
          </a:solidFill>
          <a:ln/>
        </p:spPr>
      </p:sp>
      <p:sp>
        <p:nvSpPr>
          <p:cNvPr id="23" name="Shape 21"/>
          <p:cNvSpPr/>
          <p:nvPr/>
        </p:nvSpPr>
        <p:spPr>
          <a:xfrm>
            <a:off x="3630168" y="2263140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94760" y="1828800"/>
            <a:ext cx="1554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94760" y="1828800"/>
            <a:ext cx="54864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" name="Shape 24"/>
          <p:cNvSpPr/>
          <p:nvPr/>
        </p:nvSpPr>
        <p:spPr>
          <a:xfrm>
            <a:off x="3931920" y="1920240"/>
            <a:ext cx="292608" cy="29260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7" name="Text 25"/>
          <p:cNvSpPr/>
          <p:nvPr/>
        </p:nvSpPr>
        <p:spPr>
          <a:xfrm>
            <a:off x="3931920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31920" y="22402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mentions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931920" y="24871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&amp; competitor parsing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90872" y="190195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D1FAE5"/>
          </a:solidFill>
          <a:ln/>
        </p:spPr>
      </p:sp>
      <p:sp>
        <p:nvSpPr>
          <p:cNvPr id="31" name="Text 29"/>
          <p:cNvSpPr/>
          <p:nvPr/>
        </p:nvSpPr>
        <p:spPr>
          <a:xfrm>
            <a:off x="4690872" y="19019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404104" y="2221992"/>
            <a:ext cx="128016" cy="91440"/>
          </a:xfrm>
          <a:prstGeom prst="rightTriangle">
            <a:avLst/>
          </a:prstGeom>
          <a:solidFill>
            <a:srgbClr val="94A3B8"/>
          </a:solidFill>
          <a:ln/>
        </p:spPr>
      </p:sp>
      <p:sp>
        <p:nvSpPr>
          <p:cNvPr id="33" name="Shape 31"/>
          <p:cNvSpPr/>
          <p:nvPr/>
        </p:nvSpPr>
        <p:spPr>
          <a:xfrm>
            <a:off x="5349240" y="2263140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13832" y="1828800"/>
            <a:ext cx="1554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13832" y="1828800"/>
            <a:ext cx="54864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6" name="Shape 34"/>
          <p:cNvSpPr/>
          <p:nvPr/>
        </p:nvSpPr>
        <p:spPr>
          <a:xfrm>
            <a:off x="5650992" y="1920240"/>
            <a:ext cx="292608" cy="29260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7" name="Text 35"/>
          <p:cNvSpPr/>
          <p:nvPr/>
        </p:nvSpPr>
        <p:spPr>
          <a:xfrm>
            <a:off x="5650992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650992" y="22402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tracker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650992" y="24871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rate over time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409944" y="190195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D1FAE5"/>
          </a:solidFill>
          <a:ln/>
        </p:spPr>
      </p:sp>
      <p:sp>
        <p:nvSpPr>
          <p:cNvPr id="41" name="Text 39"/>
          <p:cNvSpPr/>
          <p:nvPr/>
        </p:nvSpPr>
        <p:spPr>
          <a:xfrm>
            <a:off x="6409944" y="19019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123176" y="2221992"/>
            <a:ext cx="128016" cy="91440"/>
          </a:xfrm>
          <a:prstGeom prst="rightTriangle">
            <a:avLst/>
          </a:prstGeom>
          <a:solidFill>
            <a:srgbClr val="94A3B8"/>
          </a:solidFill>
          <a:ln/>
        </p:spPr>
      </p:sp>
      <p:sp>
        <p:nvSpPr>
          <p:cNvPr id="43" name="Shape 41"/>
          <p:cNvSpPr/>
          <p:nvPr/>
        </p:nvSpPr>
        <p:spPr>
          <a:xfrm>
            <a:off x="7068312" y="2263140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232904" y="1828800"/>
            <a:ext cx="1554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232904" y="1828800"/>
            <a:ext cx="54864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6" name="Shape 44"/>
          <p:cNvSpPr/>
          <p:nvPr/>
        </p:nvSpPr>
        <p:spPr>
          <a:xfrm>
            <a:off x="7370064" y="1920240"/>
            <a:ext cx="292608" cy="29260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7" name="Text 45"/>
          <p:cNvSpPr/>
          <p:nvPr/>
        </p:nvSpPr>
        <p:spPr>
          <a:xfrm>
            <a:off x="7370064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370064" y="22402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response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370064" y="24871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push content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129016" y="190195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E2E8F0"/>
          </a:solidFill>
          <a:ln/>
        </p:spPr>
      </p:sp>
      <p:sp>
        <p:nvSpPr>
          <p:cNvPr id="51" name="Text 49"/>
          <p:cNvSpPr/>
          <p:nvPr/>
        </p:nvSpPr>
        <p:spPr>
          <a:xfrm>
            <a:off x="8129016" y="19019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57200" y="3108960"/>
            <a:ext cx="8229600" cy="14630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" y="3246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frontier of search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40080" y="35204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assistants increasingly answer "where to buy game gold" before users see Google. We track </a:t>
            </a:r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rate per prompt per LLM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 the team knows whether to invest in conventional SEO, structured-data signals, or content depth that the LLMs prefer to cite.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G2G + OffGamers · SEO Operations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2 OF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Asst. Manager — Technical SEO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· Schema · PageSpeed · Index coverage · Technical escalations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4023360" cy="24688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011680"/>
            <a:ext cx="73152" cy="24688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1488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tasks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468880"/>
            <a:ext cx="3703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site health monitoring (PSI · schema · index coverage)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schema validity audit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audit triage + severity classification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escalation routing to engineering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tech-summary in the report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2011680"/>
            <a:ext cx="4023360" cy="24688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2011680"/>
            <a:ext cx="73152" cy="24688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21488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tools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2468880"/>
            <a:ext cx="3703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/site-health — schema · PSI · open tech debt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Audit (DataForSEO) with severity classifier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Coverage delta tracker (new errors highlight)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tech-escalation cron — notifies engineering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/gsc/core-web-vitals — daily CrUX trends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workflows mapped in this section: Daily tech health · Site audit dispatch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G2G + OffGamers · SEO Operations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ASST. MANAGER · WORKFLOW 1 OF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Daily tech health monitoring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56616" y="1828800"/>
            <a:ext cx="1554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" y="1828800"/>
            <a:ext cx="54864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493776" y="1920240"/>
            <a:ext cx="292608" cy="29260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" y="22402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cron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" y="24871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+ CWV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252728" y="190195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D1FAE5"/>
          </a:solidFill>
          <a:ln/>
        </p:spPr>
      </p:sp>
      <p:sp>
        <p:nvSpPr>
          <p:cNvPr id="11" name="Text 9"/>
          <p:cNvSpPr/>
          <p:nvPr/>
        </p:nvSpPr>
        <p:spPr>
          <a:xfrm>
            <a:off x="1252728" y="19019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965960" y="2221992"/>
            <a:ext cx="128016" cy="91440"/>
          </a:xfrm>
          <a:prstGeom prst="rightTriangle">
            <a:avLst/>
          </a:prstGeom>
          <a:solidFill>
            <a:srgbClr val="94A3B8"/>
          </a:solidFill>
          <a:ln/>
        </p:spPr>
      </p:sp>
      <p:sp>
        <p:nvSpPr>
          <p:cNvPr id="13" name="Shape 11"/>
          <p:cNvSpPr/>
          <p:nvPr/>
        </p:nvSpPr>
        <p:spPr>
          <a:xfrm>
            <a:off x="1911096" y="2263140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75688" y="1828800"/>
            <a:ext cx="1554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75688" y="1828800"/>
            <a:ext cx="54864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Shape 14"/>
          <p:cNvSpPr/>
          <p:nvPr/>
        </p:nvSpPr>
        <p:spPr>
          <a:xfrm>
            <a:off x="2212848" y="1920240"/>
            <a:ext cx="292608" cy="29260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2212848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12848" y="22402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cron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12848" y="24871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JSON-LD validity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971800" y="190195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D1FAE5"/>
          </a:solidFill>
          <a:ln/>
        </p:spPr>
      </p:sp>
      <p:sp>
        <p:nvSpPr>
          <p:cNvPr id="21" name="Text 19"/>
          <p:cNvSpPr/>
          <p:nvPr/>
        </p:nvSpPr>
        <p:spPr>
          <a:xfrm>
            <a:off x="2971800" y="19019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85032" y="2221992"/>
            <a:ext cx="128016" cy="91440"/>
          </a:xfrm>
          <a:prstGeom prst="rightTriangle">
            <a:avLst/>
          </a:prstGeom>
          <a:solidFill>
            <a:srgbClr val="94A3B8"/>
          </a:solidFill>
          <a:ln/>
        </p:spPr>
      </p:sp>
      <p:sp>
        <p:nvSpPr>
          <p:cNvPr id="23" name="Shape 21"/>
          <p:cNvSpPr/>
          <p:nvPr/>
        </p:nvSpPr>
        <p:spPr>
          <a:xfrm>
            <a:off x="3630168" y="2263140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94760" y="1828800"/>
            <a:ext cx="1554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94760" y="1828800"/>
            <a:ext cx="54864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Shape 24"/>
          <p:cNvSpPr/>
          <p:nvPr/>
        </p:nvSpPr>
        <p:spPr>
          <a:xfrm>
            <a:off x="3931920" y="1920240"/>
            <a:ext cx="292608" cy="29260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7" name="Text 25"/>
          <p:cNvSpPr/>
          <p:nvPr/>
        </p:nvSpPr>
        <p:spPr>
          <a:xfrm>
            <a:off x="3931920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31920" y="22402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detection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931920" y="24871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"NEW since yesterday"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90872" y="190195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D1FAE5"/>
          </a:solidFill>
          <a:ln/>
        </p:spPr>
      </p:sp>
      <p:sp>
        <p:nvSpPr>
          <p:cNvPr id="31" name="Text 29"/>
          <p:cNvSpPr/>
          <p:nvPr/>
        </p:nvSpPr>
        <p:spPr>
          <a:xfrm>
            <a:off x="4690872" y="19019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404104" y="2221992"/>
            <a:ext cx="128016" cy="91440"/>
          </a:xfrm>
          <a:prstGeom prst="rightTriangle">
            <a:avLst/>
          </a:prstGeom>
          <a:solidFill>
            <a:srgbClr val="94A3B8"/>
          </a:solidFill>
          <a:ln/>
        </p:spPr>
      </p:sp>
      <p:sp>
        <p:nvSpPr>
          <p:cNvPr id="33" name="Shape 31"/>
          <p:cNvSpPr/>
          <p:nvPr/>
        </p:nvSpPr>
        <p:spPr>
          <a:xfrm>
            <a:off x="5349240" y="2263140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13832" y="1828800"/>
            <a:ext cx="1554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13832" y="1828800"/>
            <a:ext cx="54864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6" name="Shape 34"/>
          <p:cNvSpPr/>
          <p:nvPr/>
        </p:nvSpPr>
        <p:spPr>
          <a:xfrm>
            <a:off x="5650992" y="1920240"/>
            <a:ext cx="292608" cy="29260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7" name="Text 35"/>
          <p:cNvSpPr/>
          <p:nvPr/>
        </p:nvSpPr>
        <p:spPr>
          <a:xfrm>
            <a:off x="5650992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650992" y="22402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escalation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650992" y="24871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Threshold-based ping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409944" y="190195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D1FAE5"/>
          </a:solidFill>
          <a:ln/>
        </p:spPr>
      </p:sp>
      <p:sp>
        <p:nvSpPr>
          <p:cNvPr id="41" name="Text 39"/>
          <p:cNvSpPr/>
          <p:nvPr/>
        </p:nvSpPr>
        <p:spPr>
          <a:xfrm>
            <a:off x="6409944" y="19019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123176" y="2221992"/>
            <a:ext cx="128016" cy="91440"/>
          </a:xfrm>
          <a:prstGeom prst="rightTriangle">
            <a:avLst/>
          </a:prstGeom>
          <a:solidFill>
            <a:srgbClr val="94A3B8"/>
          </a:solidFill>
          <a:ln/>
        </p:spPr>
      </p:sp>
      <p:sp>
        <p:nvSpPr>
          <p:cNvPr id="43" name="Shape 41"/>
          <p:cNvSpPr/>
          <p:nvPr/>
        </p:nvSpPr>
        <p:spPr>
          <a:xfrm>
            <a:off x="7068312" y="2263140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232904" y="1828800"/>
            <a:ext cx="1554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232904" y="1828800"/>
            <a:ext cx="54864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6" name="Shape 44"/>
          <p:cNvSpPr/>
          <p:nvPr/>
        </p:nvSpPr>
        <p:spPr>
          <a:xfrm>
            <a:off x="7370064" y="1920240"/>
            <a:ext cx="292608" cy="29260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7" name="Text 45"/>
          <p:cNvSpPr/>
          <p:nvPr/>
        </p:nvSpPr>
        <p:spPr>
          <a:xfrm>
            <a:off x="7370064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370064" y="22402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+ assign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370064" y="24871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ticket if needed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129016" y="190195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/>
        </p:spPr>
      </p:sp>
      <p:sp>
        <p:nvSpPr>
          <p:cNvPr id="51" name="Text 49"/>
          <p:cNvSpPr/>
          <p:nvPr/>
        </p:nvSpPr>
        <p:spPr>
          <a:xfrm>
            <a:off x="8129016" y="19019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57200" y="3108960"/>
            <a:ext cx="8229600" cy="14630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" y="3246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"good" looks like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40080" y="35204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healthy day the Asst. Manager sees </a:t>
            </a:r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Slack pings and no new red badges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system runs silently. Action is only required when a delta crosses threshold (e.g. +20 crawl errors, schema validity drops &lt;90%, LCP regresses &gt;500ms).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G2G + OffGamers · SEO Operations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ASST. MANAGER · WORKFLOW 2 OF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Site audit dispatch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56616" y="1828800"/>
            <a:ext cx="1554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" y="1828800"/>
            <a:ext cx="54864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493776" y="1920240"/>
            <a:ext cx="292608" cy="29260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" y="22402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 request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" y="24871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DataForSEO On-Page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252728" y="190195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1252728" y="19019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965960" y="2221992"/>
            <a:ext cx="128016" cy="91440"/>
          </a:xfrm>
          <a:prstGeom prst="rightTriangle">
            <a:avLst/>
          </a:prstGeom>
          <a:solidFill>
            <a:srgbClr val="94A3B8"/>
          </a:solidFill>
          <a:ln/>
        </p:spPr>
      </p:sp>
      <p:sp>
        <p:nvSpPr>
          <p:cNvPr id="13" name="Shape 11"/>
          <p:cNvSpPr/>
          <p:nvPr/>
        </p:nvSpPr>
        <p:spPr>
          <a:xfrm>
            <a:off x="1911096" y="2263140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75688" y="1828800"/>
            <a:ext cx="1554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75688" y="1828800"/>
            <a:ext cx="54864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Shape 14"/>
          <p:cNvSpPr/>
          <p:nvPr/>
        </p:nvSpPr>
        <p:spPr>
          <a:xfrm>
            <a:off x="2212848" y="1920240"/>
            <a:ext cx="292608" cy="29260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2212848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12848" y="22402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collected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12848" y="24871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Per-page findings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971800" y="190195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D1FAE5"/>
          </a:solidFill>
          <a:ln/>
        </p:spPr>
      </p:sp>
      <p:sp>
        <p:nvSpPr>
          <p:cNvPr id="21" name="Text 19"/>
          <p:cNvSpPr/>
          <p:nvPr/>
        </p:nvSpPr>
        <p:spPr>
          <a:xfrm>
            <a:off x="2971800" y="19019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85032" y="2221992"/>
            <a:ext cx="128016" cy="91440"/>
          </a:xfrm>
          <a:prstGeom prst="rightTriangle">
            <a:avLst/>
          </a:prstGeom>
          <a:solidFill>
            <a:srgbClr val="94A3B8"/>
          </a:solidFill>
          <a:ln/>
        </p:spPr>
      </p:sp>
      <p:sp>
        <p:nvSpPr>
          <p:cNvPr id="23" name="Shape 21"/>
          <p:cNvSpPr/>
          <p:nvPr/>
        </p:nvSpPr>
        <p:spPr>
          <a:xfrm>
            <a:off x="3630168" y="2263140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94760" y="1828800"/>
            <a:ext cx="1554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94760" y="1828800"/>
            <a:ext cx="54864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Shape 24"/>
          <p:cNvSpPr/>
          <p:nvPr/>
        </p:nvSpPr>
        <p:spPr>
          <a:xfrm>
            <a:off x="3931920" y="1920240"/>
            <a:ext cx="292608" cy="29260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7" name="Text 25"/>
          <p:cNvSpPr/>
          <p:nvPr/>
        </p:nvSpPr>
        <p:spPr>
          <a:xfrm>
            <a:off x="3931920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31920" y="22402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classify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931920" y="24871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critical/important/minor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90872" y="190195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D1FAE5"/>
          </a:solidFill>
          <a:ln/>
        </p:spPr>
      </p:sp>
      <p:sp>
        <p:nvSpPr>
          <p:cNvPr id="31" name="Text 29"/>
          <p:cNvSpPr/>
          <p:nvPr/>
        </p:nvSpPr>
        <p:spPr>
          <a:xfrm>
            <a:off x="4690872" y="19019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404104" y="2221992"/>
            <a:ext cx="128016" cy="91440"/>
          </a:xfrm>
          <a:prstGeom prst="rightTriangle">
            <a:avLst/>
          </a:prstGeom>
          <a:solidFill>
            <a:srgbClr val="94A3B8"/>
          </a:solidFill>
          <a:ln/>
        </p:spPr>
      </p:sp>
      <p:sp>
        <p:nvSpPr>
          <p:cNvPr id="33" name="Shape 31"/>
          <p:cNvSpPr/>
          <p:nvPr/>
        </p:nvSpPr>
        <p:spPr>
          <a:xfrm>
            <a:off x="5349240" y="2263140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13832" y="1828800"/>
            <a:ext cx="1554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13832" y="1828800"/>
            <a:ext cx="54864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6" name="Shape 34"/>
          <p:cNvSpPr/>
          <p:nvPr/>
        </p:nvSpPr>
        <p:spPr>
          <a:xfrm>
            <a:off x="5650992" y="1920240"/>
            <a:ext cx="292608" cy="29260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7" name="Text 35"/>
          <p:cNvSpPr/>
          <p:nvPr/>
        </p:nvSpPr>
        <p:spPr>
          <a:xfrm>
            <a:off x="5650992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650992" y="22402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+ select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650992" y="24871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Asst. Mgr review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409944" y="190195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/>
        </p:spPr>
      </p:sp>
      <p:sp>
        <p:nvSpPr>
          <p:cNvPr id="41" name="Text 39"/>
          <p:cNvSpPr/>
          <p:nvPr/>
        </p:nvSpPr>
        <p:spPr>
          <a:xfrm>
            <a:off x="6409944" y="19019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123176" y="2221992"/>
            <a:ext cx="128016" cy="91440"/>
          </a:xfrm>
          <a:prstGeom prst="rightTriangle">
            <a:avLst/>
          </a:prstGeom>
          <a:solidFill>
            <a:srgbClr val="94A3B8"/>
          </a:solidFill>
          <a:ln/>
        </p:spPr>
      </p:sp>
      <p:sp>
        <p:nvSpPr>
          <p:cNvPr id="43" name="Shape 41"/>
          <p:cNvSpPr/>
          <p:nvPr/>
        </p:nvSpPr>
        <p:spPr>
          <a:xfrm>
            <a:off x="7068312" y="2263140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232904" y="1828800"/>
            <a:ext cx="1554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232904" y="1828800"/>
            <a:ext cx="54864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6" name="Shape 44"/>
          <p:cNvSpPr/>
          <p:nvPr/>
        </p:nvSpPr>
        <p:spPr>
          <a:xfrm>
            <a:off x="7370064" y="1920240"/>
            <a:ext cx="292608" cy="29260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7" name="Text 45"/>
          <p:cNvSpPr/>
          <p:nvPr/>
        </p:nvSpPr>
        <p:spPr>
          <a:xfrm>
            <a:off x="7370064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370064" y="22402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370064" y="24871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 + assign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129016" y="190195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/>
        </p:spPr>
      </p:sp>
      <p:sp>
        <p:nvSpPr>
          <p:cNvPr id="51" name="Text 49"/>
          <p:cNvSpPr/>
          <p:nvPr/>
        </p:nvSpPr>
        <p:spPr>
          <a:xfrm>
            <a:off x="8129016" y="19019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57200" y="3108960"/>
            <a:ext cx="8229600" cy="14630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" y="3246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= leverage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40080" y="35204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hundreds of crawl findings, the classifier tags only </a:t>
            </a:r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~5-10 as critical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(broken indexing, missing titles, redirect loops). Important and minor still appear, but the team focuses where it counts.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G2G + OffGamers · SEO Operations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3 OF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SEO Specialist 1 — Content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· Briefs · Cannibalization · Experiments · Keyword universe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4023360" cy="24688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011680"/>
            <a:ext cx="73152" cy="2468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1488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tasks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468880"/>
            <a:ext cx="3703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daily opportunities (Heimdall + Loki + Odin signals)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+ review content briefs (Tyr quality gate)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cannibalization (consolidate / canonical / 301)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experiments + monitor 30-day outcomes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keyword universe (Saga clusters)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2011680"/>
            <a:ext cx="4023360" cy="24688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2011680"/>
            <a:ext cx="73152" cy="24688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21488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tools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2468880"/>
            <a:ext cx="3703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Journey — every opp from detection to publish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Library + Editor — Tyr-scored quality reviews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/clusters — brand → sub-product Saga hierarchy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/content/cannibalization + history timeline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/experiments — propose · run · measure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workflows mapped: Opportunity → Brief → Publish · Cannibalization · Experiment lifecycle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G2G + OffGamers · SEO Operations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1 · WORKFLOW 1 OF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Opportunity → Brief → Publish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34340" y="1691640"/>
            <a:ext cx="12801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4340" y="1691640"/>
            <a:ext cx="54864" cy="960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1783080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571500" y="1783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1500" y="21031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signal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1500" y="235000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Heimdall · Loki · Odin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056132" y="176479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D1FAE5"/>
          </a:solidFill>
          <a:ln/>
        </p:spPr>
      </p:sp>
      <p:sp>
        <p:nvSpPr>
          <p:cNvPr id="11" name="Text 9"/>
          <p:cNvSpPr/>
          <p:nvPr/>
        </p:nvSpPr>
        <p:spPr>
          <a:xfrm>
            <a:off x="1056132" y="17647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723644" y="2107692"/>
            <a:ext cx="128016" cy="91440"/>
          </a:xfrm>
          <a:prstGeom prst="rightTriangle">
            <a:avLst/>
          </a:prstGeom>
          <a:solidFill>
            <a:srgbClr val="94A3B8"/>
          </a:solidFill>
          <a:ln/>
        </p:spPr>
      </p:sp>
      <p:sp>
        <p:nvSpPr>
          <p:cNvPr id="13" name="Shape 11"/>
          <p:cNvSpPr/>
          <p:nvPr/>
        </p:nvSpPr>
        <p:spPr>
          <a:xfrm>
            <a:off x="1714500" y="2148840"/>
            <a:ext cx="6400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33372" y="1691640"/>
            <a:ext cx="12801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33372" y="1691640"/>
            <a:ext cx="54864" cy="960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Shape 14"/>
          <p:cNvSpPr/>
          <p:nvPr/>
        </p:nvSpPr>
        <p:spPr>
          <a:xfrm>
            <a:off x="1970532" y="1783080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1970532" y="1783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70532" y="21031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as opp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70532" y="235000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 aggregates topic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455164" y="176479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D1FAE5"/>
          </a:solidFill>
          <a:ln/>
        </p:spPr>
      </p:sp>
      <p:sp>
        <p:nvSpPr>
          <p:cNvPr id="21" name="Text 19"/>
          <p:cNvSpPr/>
          <p:nvPr/>
        </p:nvSpPr>
        <p:spPr>
          <a:xfrm>
            <a:off x="2455164" y="17647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122676" y="2107692"/>
            <a:ext cx="128016" cy="91440"/>
          </a:xfrm>
          <a:prstGeom prst="rightTriangle">
            <a:avLst/>
          </a:prstGeom>
          <a:solidFill>
            <a:srgbClr val="94A3B8"/>
          </a:solidFill>
          <a:ln/>
        </p:spPr>
      </p:sp>
      <p:sp>
        <p:nvSpPr>
          <p:cNvPr id="23" name="Shape 21"/>
          <p:cNvSpPr/>
          <p:nvPr/>
        </p:nvSpPr>
        <p:spPr>
          <a:xfrm>
            <a:off x="3113532" y="2148840"/>
            <a:ext cx="6400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32404" y="1691640"/>
            <a:ext cx="12801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32404" y="1691640"/>
            <a:ext cx="54864" cy="960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Shape 24"/>
          <p:cNvSpPr/>
          <p:nvPr/>
        </p:nvSpPr>
        <p:spPr>
          <a:xfrm>
            <a:off x="3369564" y="1783080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3369564" y="1783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69564" y="21031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+ approve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69564" y="235000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Sibling/dedup checks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854196" y="176479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/>
        </p:spPr>
      </p:sp>
      <p:sp>
        <p:nvSpPr>
          <p:cNvPr id="31" name="Text 29"/>
          <p:cNvSpPr/>
          <p:nvPr/>
        </p:nvSpPr>
        <p:spPr>
          <a:xfrm>
            <a:off x="3854196" y="17647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21708" y="2107692"/>
            <a:ext cx="128016" cy="91440"/>
          </a:xfrm>
          <a:prstGeom prst="rightTriangle">
            <a:avLst/>
          </a:prstGeom>
          <a:solidFill>
            <a:srgbClr val="94A3B8"/>
          </a:solidFill>
          <a:ln/>
        </p:spPr>
      </p:sp>
      <p:sp>
        <p:nvSpPr>
          <p:cNvPr id="33" name="Shape 31"/>
          <p:cNvSpPr/>
          <p:nvPr/>
        </p:nvSpPr>
        <p:spPr>
          <a:xfrm>
            <a:off x="4512564" y="2148840"/>
            <a:ext cx="6400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31436" y="1691640"/>
            <a:ext cx="12801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31436" y="1691640"/>
            <a:ext cx="54864" cy="960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6" name="Shape 34"/>
          <p:cNvSpPr/>
          <p:nvPr/>
        </p:nvSpPr>
        <p:spPr>
          <a:xfrm>
            <a:off x="4768596" y="1783080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4768596" y="1783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68596" y="21031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draft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68596" y="235000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Bragi AI draft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253228" y="176479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/>
        </p:spPr>
      </p:sp>
      <p:sp>
        <p:nvSpPr>
          <p:cNvPr id="41" name="Text 39"/>
          <p:cNvSpPr/>
          <p:nvPr/>
        </p:nvSpPr>
        <p:spPr>
          <a:xfrm>
            <a:off x="5253228" y="17647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920740" y="2107692"/>
            <a:ext cx="128016" cy="91440"/>
          </a:xfrm>
          <a:prstGeom prst="rightTriangle">
            <a:avLst/>
          </a:prstGeom>
          <a:solidFill>
            <a:srgbClr val="94A3B8"/>
          </a:solidFill>
          <a:ln/>
        </p:spPr>
      </p:sp>
      <p:sp>
        <p:nvSpPr>
          <p:cNvPr id="43" name="Shape 41"/>
          <p:cNvSpPr/>
          <p:nvPr/>
        </p:nvSpPr>
        <p:spPr>
          <a:xfrm>
            <a:off x="5911596" y="2148840"/>
            <a:ext cx="6400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30468" y="1691640"/>
            <a:ext cx="12801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0468" y="1691640"/>
            <a:ext cx="54864" cy="960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6" name="Shape 44"/>
          <p:cNvSpPr/>
          <p:nvPr/>
        </p:nvSpPr>
        <p:spPr>
          <a:xfrm>
            <a:off x="6167628" y="1783080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7" name="Text 45"/>
          <p:cNvSpPr/>
          <p:nvPr/>
        </p:nvSpPr>
        <p:spPr>
          <a:xfrm>
            <a:off x="6167628" y="1783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167628" y="21031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 review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167628" y="235000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 gate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652260" y="176479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D1FAE5"/>
          </a:solidFill>
          <a:ln/>
        </p:spPr>
      </p:sp>
      <p:sp>
        <p:nvSpPr>
          <p:cNvPr id="51" name="Text 49"/>
          <p:cNvSpPr/>
          <p:nvPr/>
        </p:nvSpPr>
        <p:spPr>
          <a:xfrm>
            <a:off x="6652260" y="17647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319772" y="2107692"/>
            <a:ext cx="128016" cy="91440"/>
          </a:xfrm>
          <a:prstGeom prst="rightTriangle">
            <a:avLst/>
          </a:prstGeom>
          <a:solidFill>
            <a:srgbClr val="94A3B8"/>
          </a:solidFill>
          <a:ln/>
        </p:spPr>
      </p:sp>
      <p:sp>
        <p:nvSpPr>
          <p:cNvPr id="53" name="Shape 51"/>
          <p:cNvSpPr/>
          <p:nvPr/>
        </p:nvSpPr>
        <p:spPr>
          <a:xfrm>
            <a:off x="7310628" y="2148840"/>
            <a:ext cx="6400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429500" y="1691640"/>
            <a:ext cx="12801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429500" y="1691640"/>
            <a:ext cx="54864" cy="960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6" name="Shape 54"/>
          <p:cNvSpPr/>
          <p:nvPr/>
        </p:nvSpPr>
        <p:spPr>
          <a:xfrm>
            <a:off x="7566660" y="1783080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7" name="Text 55"/>
          <p:cNvSpPr/>
          <p:nvPr/>
        </p:nvSpPr>
        <p:spPr>
          <a:xfrm>
            <a:off x="7566660" y="1783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566660" y="21031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566660" y="235000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+ notify writers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8051292" y="176479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E2E8F0"/>
          </a:solidFill>
          <a:ln/>
        </p:spPr>
      </p:sp>
      <p:sp>
        <p:nvSpPr>
          <p:cNvPr id="61" name="Text 59"/>
          <p:cNvSpPr/>
          <p:nvPr/>
        </p:nvSpPr>
        <p:spPr>
          <a:xfrm>
            <a:off x="8051292" y="17647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57200" y="2971800"/>
            <a:ext cx="8229600" cy="1600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008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feedback loop — 30 days post-publish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40080" y="33832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cron auto-classifies each published brief as </a:t>
            </a:r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· loser · flat · no-data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based on GSC position + clicks delta vs baseline. Winners feed the KB rule extractor, which proposes patterns ("e.g., 'Buy {game} {currency}' titles outperform 1.5×"). Specialist 1 reviews and promotes the rule. The next brief generator uses the new rule.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G2G + OffGamers · SEO Operations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1 · WORKFLOW 2 OF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Cannibalization resolution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56616" y="1828800"/>
            <a:ext cx="1554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" y="1828800"/>
            <a:ext cx="54864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493776" y="1920240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" y="22402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snapshot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" y="24871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GSC query/page pairs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252728" y="190195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D1FAE5"/>
          </a:solidFill>
          <a:ln/>
        </p:spPr>
      </p:sp>
      <p:sp>
        <p:nvSpPr>
          <p:cNvPr id="11" name="Text 9"/>
          <p:cNvSpPr/>
          <p:nvPr/>
        </p:nvSpPr>
        <p:spPr>
          <a:xfrm>
            <a:off x="1252728" y="19019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965960" y="2221992"/>
            <a:ext cx="128016" cy="91440"/>
          </a:xfrm>
          <a:prstGeom prst="rightTriangle">
            <a:avLst/>
          </a:prstGeom>
          <a:solidFill>
            <a:srgbClr val="94A3B8"/>
          </a:solidFill>
          <a:ln/>
        </p:spPr>
      </p:sp>
      <p:sp>
        <p:nvSpPr>
          <p:cNvPr id="13" name="Shape 11"/>
          <p:cNvSpPr/>
          <p:nvPr/>
        </p:nvSpPr>
        <p:spPr>
          <a:xfrm>
            <a:off x="1911096" y="2263140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75688" y="1828800"/>
            <a:ext cx="1554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75688" y="1828800"/>
            <a:ext cx="54864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Shape 14"/>
          <p:cNvSpPr/>
          <p:nvPr/>
        </p:nvSpPr>
        <p:spPr>
          <a:xfrm>
            <a:off x="2212848" y="1920240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2212848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12848" y="22402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splits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12848" y="24871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/ position skew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971800" y="190195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D1FAE5"/>
          </a:solidFill>
          <a:ln/>
        </p:spPr>
      </p:sp>
      <p:sp>
        <p:nvSpPr>
          <p:cNvPr id="21" name="Text 19"/>
          <p:cNvSpPr/>
          <p:nvPr/>
        </p:nvSpPr>
        <p:spPr>
          <a:xfrm>
            <a:off x="2971800" y="19019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85032" y="2221992"/>
            <a:ext cx="128016" cy="91440"/>
          </a:xfrm>
          <a:prstGeom prst="rightTriangle">
            <a:avLst/>
          </a:prstGeom>
          <a:solidFill>
            <a:srgbClr val="94A3B8"/>
          </a:solidFill>
          <a:ln/>
        </p:spPr>
      </p:sp>
      <p:sp>
        <p:nvSpPr>
          <p:cNvPr id="23" name="Shape 21"/>
          <p:cNvSpPr/>
          <p:nvPr/>
        </p:nvSpPr>
        <p:spPr>
          <a:xfrm>
            <a:off x="3630168" y="2263140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94760" y="1828800"/>
            <a:ext cx="1554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94760" y="1828800"/>
            <a:ext cx="54864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Shape 24"/>
          <p:cNvSpPr/>
          <p:nvPr/>
        </p:nvSpPr>
        <p:spPr>
          <a:xfrm>
            <a:off x="3931920" y="1920240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3931920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31920" y="22402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classify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931920" y="24871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worsening / stable / resolved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90872" y="190195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D1FAE5"/>
          </a:solidFill>
          <a:ln/>
        </p:spPr>
      </p:sp>
      <p:sp>
        <p:nvSpPr>
          <p:cNvPr id="31" name="Text 29"/>
          <p:cNvSpPr/>
          <p:nvPr/>
        </p:nvSpPr>
        <p:spPr>
          <a:xfrm>
            <a:off x="4690872" y="19019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404104" y="2221992"/>
            <a:ext cx="128016" cy="91440"/>
          </a:xfrm>
          <a:prstGeom prst="rightTriangle">
            <a:avLst/>
          </a:prstGeom>
          <a:solidFill>
            <a:srgbClr val="94A3B8"/>
          </a:solidFill>
          <a:ln/>
        </p:spPr>
      </p:sp>
      <p:sp>
        <p:nvSpPr>
          <p:cNvPr id="33" name="Shape 31"/>
          <p:cNvSpPr/>
          <p:nvPr/>
        </p:nvSpPr>
        <p:spPr>
          <a:xfrm>
            <a:off x="5349240" y="2263140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13832" y="1828800"/>
            <a:ext cx="1554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13832" y="1828800"/>
            <a:ext cx="54864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6" name="Shape 34"/>
          <p:cNvSpPr/>
          <p:nvPr/>
        </p:nvSpPr>
        <p:spPr>
          <a:xfrm>
            <a:off x="5650992" y="1920240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5650992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650992" y="22402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action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650992" y="24871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· canonical · 301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409944" y="190195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E2E8F0"/>
          </a:solidFill>
          <a:ln/>
        </p:spPr>
      </p:sp>
      <p:sp>
        <p:nvSpPr>
          <p:cNvPr id="41" name="Text 39"/>
          <p:cNvSpPr/>
          <p:nvPr/>
        </p:nvSpPr>
        <p:spPr>
          <a:xfrm>
            <a:off x="6409944" y="19019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123176" y="2221992"/>
            <a:ext cx="128016" cy="91440"/>
          </a:xfrm>
          <a:prstGeom prst="rightTriangle">
            <a:avLst/>
          </a:prstGeom>
          <a:solidFill>
            <a:srgbClr val="94A3B8"/>
          </a:solidFill>
          <a:ln/>
        </p:spPr>
      </p:sp>
      <p:sp>
        <p:nvSpPr>
          <p:cNvPr id="43" name="Shape 41"/>
          <p:cNvSpPr/>
          <p:nvPr/>
        </p:nvSpPr>
        <p:spPr>
          <a:xfrm>
            <a:off x="7068312" y="2263140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232904" y="1828800"/>
            <a:ext cx="1554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232904" y="1828800"/>
            <a:ext cx="54864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6" name="Shape 44"/>
          <p:cNvSpPr/>
          <p:nvPr/>
        </p:nvSpPr>
        <p:spPr>
          <a:xfrm>
            <a:off x="7370064" y="1920240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7" name="Text 45"/>
          <p:cNvSpPr/>
          <p:nvPr/>
        </p:nvSpPr>
        <p:spPr>
          <a:xfrm>
            <a:off x="7370064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370064" y="22402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resolution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370064" y="24871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trend reverses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129016" y="190195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D1FAE5"/>
          </a:solidFill>
          <a:ln/>
        </p:spPr>
      </p:sp>
      <p:sp>
        <p:nvSpPr>
          <p:cNvPr id="51" name="Text 49"/>
          <p:cNvSpPr/>
          <p:nvPr/>
        </p:nvSpPr>
        <p:spPr>
          <a:xfrm>
            <a:off x="8129016" y="19019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57200" y="3108960"/>
            <a:ext cx="8229600" cy="14630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" y="3246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timeline answers "did the fix work?"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40080" y="35204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are taken weekly so each cannibalization issue carries a </a:t>
            </a:r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12-week trend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same panel that flagged the issue tells the team whether their canonical or 301 actually solved it. No more guessing.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G2G + OffGamers · SEO Operations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1 · WORKFLOW 3 OF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Experiment lifecycle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56616" y="1828800"/>
            <a:ext cx="1554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" y="1828800"/>
            <a:ext cx="54864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493776" y="1920240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" y="22402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Mimir Council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" y="24871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 ideas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252728" y="190195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/>
        </p:spPr>
      </p:sp>
      <p:sp>
        <p:nvSpPr>
          <p:cNvPr id="11" name="Text 9"/>
          <p:cNvSpPr/>
          <p:nvPr/>
        </p:nvSpPr>
        <p:spPr>
          <a:xfrm>
            <a:off x="1252728" y="19019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965960" y="2221992"/>
            <a:ext cx="128016" cy="91440"/>
          </a:xfrm>
          <a:prstGeom prst="rightTriangle">
            <a:avLst/>
          </a:prstGeom>
          <a:solidFill>
            <a:srgbClr val="94A3B8"/>
          </a:solidFill>
          <a:ln/>
        </p:spPr>
      </p:sp>
      <p:sp>
        <p:nvSpPr>
          <p:cNvPr id="13" name="Shape 11"/>
          <p:cNvSpPr/>
          <p:nvPr/>
        </p:nvSpPr>
        <p:spPr>
          <a:xfrm>
            <a:off x="1911096" y="2263140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75688" y="1828800"/>
            <a:ext cx="1554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75688" y="1828800"/>
            <a:ext cx="54864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Shape 14"/>
          <p:cNvSpPr/>
          <p:nvPr/>
        </p:nvSpPr>
        <p:spPr>
          <a:xfrm>
            <a:off x="2212848" y="1920240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2212848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12848" y="22402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+ ship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12848" y="24871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what to try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971800" y="190195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2971800" y="19019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85032" y="2221992"/>
            <a:ext cx="128016" cy="91440"/>
          </a:xfrm>
          <a:prstGeom prst="rightTriangle">
            <a:avLst/>
          </a:prstGeom>
          <a:solidFill>
            <a:srgbClr val="94A3B8"/>
          </a:solidFill>
          <a:ln/>
        </p:spPr>
      </p:sp>
      <p:sp>
        <p:nvSpPr>
          <p:cNvPr id="23" name="Shape 21"/>
          <p:cNvSpPr/>
          <p:nvPr/>
        </p:nvSpPr>
        <p:spPr>
          <a:xfrm>
            <a:off x="3630168" y="2263140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94760" y="1828800"/>
            <a:ext cx="1554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94760" y="1828800"/>
            <a:ext cx="54864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Shape 24"/>
          <p:cNvSpPr/>
          <p:nvPr/>
        </p:nvSpPr>
        <p:spPr>
          <a:xfrm>
            <a:off x="3931920" y="1920240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3931920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31920" y="22402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baseline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931920" y="24871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Pre-experiment snapshot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90872" y="190195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D1FAE5"/>
          </a:solidFill>
          <a:ln/>
        </p:spPr>
      </p:sp>
      <p:sp>
        <p:nvSpPr>
          <p:cNvPr id="31" name="Text 29"/>
          <p:cNvSpPr/>
          <p:nvPr/>
        </p:nvSpPr>
        <p:spPr>
          <a:xfrm>
            <a:off x="4690872" y="19019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404104" y="2221992"/>
            <a:ext cx="128016" cy="91440"/>
          </a:xfrm>
          <a:prstGeom prst="rightTriangle">
            <a:avLst/>
          </a:prstGeom>
          <a:solidFill>
            <a:srgbClr val="94A3B8"/>
          </a:solidFill>
          <a:ln/>
        </p:spPr>
      </p:sp>
      <p:sp>
        <p:nvSpPr>
          <p:cNvPr id="33" name="Shape 31"/>
          <p:cNvSpPr/>
          <p:nvPr/>
        </p:nvSpPr>
        <p:spPr>
          <a:xfrm>
            <a:off x="5349240" y="2263140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13832" y="1828800"/>
            <a:ext cx="1554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13832" y="1828800"/>
            <a:ext cx="54864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6" name="Shape 34"/>
          <p:cNvSpPr/>
          <p:nvPr/>
        </p:nvSpPr>
        <p:spPr>
          <a:xfrm>
            <a:off x="5650992" y="1920240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5650992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650992" y="22402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weekly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650992" y="24871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Auto-update current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409944" y="190195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D1FAE5"/>
          </a:solidFill>
          <a:ln/>
        </p:spPr>
      </p:sp>
      <p:sp>
        <p:nvSpPr>
          <p:cNvPr id="41" name="Text 39"/>
          <p:cNvSpPr/>
          <p:nvPr/>
        </p:nvSpPr>
        <p:spPr>
          <a:xfrm>
            <a:off x="6409944" y="19019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123176" y="2221992"/>
            <a:ext cx="128016" cy="91440"/>
          </a:xfrm>
          <a:prstGeom prst="rightTriangle">
            <a:avLst/>
          </a:prstGeom>
          <a:solidFill>
            <a:srgbClr val="94A3B8"/>
          </a:solidFill>
          <a:ln/>
        </p:spPr>
      </p:sp>
      <p:sp>
        <p:nvSpPr>
          <p:cNvPr id="43" name="Shape 41"/>
          <p:cNvSpPr/>
          <p:nvPr/>
        </p:nvSpPr>
        <p:spPr>
          <a:xfrm>
            <a:off x="7068312" y="2263140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232904" y="1828800"/>
            <a:ext cx="1554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232904" y="1828800"/>
            <a:ext cx="54864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6" name="Shape 44"/>
          <p:cNvSpPr/>
          <p:nvPr/>
        </p:nvSpPr>
        <p:spPr>
          <a:xfrm>
            <a:off x="7370064" y="1920240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7" name="Text 45"/>
          <p:cNvSpPr/>
          <p:nvPr/>
        </p:nvSpPr>
        <p:spPr>
          <a:xfrm>
            <a:off x="7370064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370064" y="22402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Conclude + learn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370064" y="24871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to KB if win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129016" y="190195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/>
        </p:spPr>
      </p:sp>
      <p:sp>
        <p:nvSpPr>
          <p:cNvPr id="51" name="Text 49"/>
          <p:cNvSpPr/>
          <p:nvPr/>
        </p:nvSpPr>
        <p:spPr>
          <a:xfrm>
            <a:off x="8129016" y="19019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57200" y="3108960"/>
            <a:ext cx="8229600" cy="14630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" y="3246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to start, expensive not to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40080" y="35204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Mimir surfaces </a:t>
            </a:r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experiment ideas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hypothesis + estimated lift. Tracking is automatic — no spreadsheets to maintain. Wins promote to a KB rule that future brief generators inherit. Failed experiments stay in the log so the team doesn't repeat them.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G2G + OffGamers · SEO Operations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4 OF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SEO Specialist 2 — Off-page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· Backlinks · Newsjacking · Domain prospecting · Reply tracking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4023360" cy="24688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011680"/>
            <a:ext cx="73152" cy="2468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1488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tasks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468880"/>
            <a:ext cx="3703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outreach prospect triage (Hermod queue)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personalised outreach (newsjack hooks)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inbound replies + sentiment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live backlinks weekly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Reactivate broken / lost backlinks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2011680"/>
            <a:ext cx="4023360" cy="24688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2011680"/>
            <a:ext cx="73152" cy="24688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21488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tools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2468880"/>
            <a:ext cx="3703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Hermod outreach pipeline (full prospect list)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/competitive/backlink-gap (DataForSEO intersection)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reply log + funnel chart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Bifrost newsjacking tag — "fresh hook" badge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Backlinks portfolio + cost-per-position widget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workflows mapped: Outreach prospect pipeline · Backlink monitoring &amp; retention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G2G + OffGamers · SEO Operations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25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2 · WORKFLOW 1 OF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Outreach prospect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34340" y="1691640"/>
            <a:ext cx="12801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4340" y="1691640"/>
            <a:ext cx="54864" cy="9601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17830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571500" y="1783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1500" y="21031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Hermod scans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1500" y="235000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 + DataForSEO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056132" y="176479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D1FAE5"/>
          </a:solidFill>
          <a:ln/>
        </p:spPr>
      </p:sp>
      <p:sp>
        <p:nvSpPr>
          <p:cNvPr id="11" name="Text 9"/>
          <p:cNvSpPr/>
          <p:nvPr/>
        </p:nvSpPr>
        <p:spPr>
          <a:xfrm>
            <a:off x="1056132" y="17647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723644" y="2107692"/>
            <a:ext cx="128016" cy="91440"/>
          </a:xfrm>
          <a:prstGeom prst="rightTriangle">
            <a:avLst/>
          </a:prstGeom>
          <a:solidFill>
            <a:srgbClr val="94A3B8"/>
          </a:solidFill>
          <a:ln/>
        </p:spPr>
      </p:sp>
      <p:sp>
        <p:nvSpPr>
          <p:cNvPr id="13" name="Shape 11"/>
          <p:cNvSpPr/>
          <p:nvPr/>
        </p:nvSpPr>
        <p:spPr>
          <a:xfrm>
            <a:off x="1714500" y="2148840"/>
            <a:ext cx="6400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33372" y="1691640"/>
            <a:ext cx="12801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33372" y="1691640"/>
            <a:ext cx="54864" cy="9601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Shape 14"/>
          <p:cNvSpPr/>
          <p:nvPr/>
        </p:nvSpPr>
        <p:spPr>
          <a:xfrm>
            <a:off x="1970532" y="17830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1970532" y="1783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70532" y="21031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filter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70532" y="235000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quality, exclusion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455164" y="176479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D1FAE5"/>
          </a:solidFill>
          <a:ln/>
        </p:spPr>
      </p:sp>
      <p:sp>
        <p:nvSpPr>
          <p:cNvPr id="21" name="Text 19"/>
          <p:cNvSpPr/>
          <p:nvPr/>
        </p:nvSpPr>
        <p:spPr>
          <a:xfrm>
            <a:off x="2455164" y="17647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122676" y="2107692"/>
            <a:ext cx="128016" cy="91440"/>
          </a:xfrm>
          <a:prstGeom prst="rightTriangle">
            <a:avLst/>
          </a:prstGeom>
          <a:solidFill>
            <a:srgbClr val="94A3B8"/>
          </a:solidFill>
          <a:ln/>
        </p:spPr>
      </p:sp>
      <p:sp>
        <p:nvSpPr>
          <p:cNvPr id="23" name="Shape 21"/>
          <p:cNvSpPr/>
          <p:nvPr/>
        </p:nvSpPr>
        <p:spPr>
          <a:xfrm>
            <a:off x="3113532" y="2148840"/>
            <a:ext cx="6400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32404" y="1691640"/>
            <a:ext cx="12801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32404" y="1691640"/>
            <a:ext cx="54864" cy="9601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Shape 24"/>
          <p:cNvSpPr/>
          <p:nvPr/>
        </p:nvSpPr>
        <p:spPr>
          <a:xfrm>
            <a:off x="3369564" y="17830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3369564" y="1783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69564" y="21031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Newsjack hook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69564" y="235000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Bifrost tags fresh angle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854196" y="176479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D1FAE5"/>
          </a:solidFill>
          <a:ln/>
        </p:spPr>
      </p:sp>
      <p:sp>
        <p:nvSpPr>
          <p:cNvPr id="31" name="Text 29"/>
          <p:cNvSpPr/>
          <p:nvPr/>
        </p:nvSpPr>
        <p:spPr>
          <a:xfrm>
            <a:off x="3854196" y="17647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21708" y="2107692"/>
            <a:ext cx="128016" cy="91440"/>
          </a:xfrm>
          <a:prstGeom prst="rightTriangle">
            <a:avLst/>
          </a:prstGeom>
          <a:solidFill>
            <a:srgbClr val="94A3B8"/>
          </a:solidFill>
          <a:ln/>
        </p:spPr>
      </p:sp>
      <p:sp>
        <p:nvSpPr>
          <p:cNvPr id="33" name="Shape 31"/>
          <p:cNvSpPr/>
          <p:nvPr/>
        </p:nvSpPr>
        <p:spPr>
          <a:xfrm>
            <a:off x="4512564" y="2148840"/>
            <a:ext cx="6400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31436" y="1691640"/>
            <a:ext cx="12801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31436" y="1691640"/>
            <a:ext cx="54864" cy="9601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6" name="Shape 34"/>
          <p:cNvSpPr/>
          <p:nvPr/>
        </p:nvSpPr>
        <p:spPr>
          <a:xfrm>
            <a:off x="4768596" y="17830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7" name="Text 35"/>
          <p:cNvSpPr/>
          <p:nvPr/>
        </p:nvSpPr>
        <p:spPr>
          <a:xfrm>
            <a:off x="4768596" y="1783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68596" y="21031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+ send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68596" y="235000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draft, human polish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253228" y="176479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/>
        </p:spPr>
      </p:sp>
      <p:sp>
        <p:nvSpPr>
          <p:cNvPr id="41" name="Text 39"/>
          <p:cNvSpPr/>
          <p:nvPr/>
        </p:nvSpPr>
        <p:spPr>
          <a:xfrm>
            <a:off x="5253228" y="17647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920740" y="2107692"/>
            <a:ext cx="128016" cy="91440"/>
          </a:xfrm>
          <a:prstGeom prst="rightTriangle">
            <a:avLst/>
          </a:prstGeom>
          <a:solidFill>
            <a:srgbClr val="94A3B8"/>
          </a:solidFill>
          <a:ln/>
        </p:spPr>
      </p:sp>
      <p:sp>
        <p:nvSpPr>
          <p:cNvPr id="43" name="Shape 41"/>
          <p:cNvSpPr/>
          <p:nvPr/>
        </p:nvSpPr>
        <p:spPr>
          <a:xfrm>
            <a:off x="5911596" y="2148840"/>
            <a:ext cx="6400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30468" y="1691640"/>
            <a:ext cx="12801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0468" y="1691640"/>
            <a:ext cx="54864" cy="9601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Shape 44"/>
          <p:cNvSpPr/>
          <p:nvPr/>
        </p:nvSpPr>
        <p:spPr>
          <a:xfrm>
            <a:off x="6167628" y="17830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7" name="Text 45"/>
          <p:cNvSpPr/>
          <p:nvPr/>
        </p:nvSpPr>
        <p:spPr>
          <a:xfrm>
            <a:off x="6167628" y="1783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167628" y="21031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reply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167628" y="235000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+ status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652260" y="176479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E2E8F0"/>
          </a:solidFill>
          <a:ln/>
        </p:spPr>
      </p:sp>
      <p:sp>
        <p:nvSpPr>
          <p:cNvPr id="51" name="Text 49"/>
          <p:cNvSpPr/>
          <p:nvPr/>
        </p:nvSpPr>
        <p:spPr>
          <a:xfrm>
            <a:off x="6652260" y="17647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319772" y="2107692"/>
            <a:ext cx="128016" cy="91440"/>
          </a:xfrm>
          <a:prstGeom prst="rightTriangle">
            <a:avLst/>
          </a:prstGeom>
          <a:solidFill>
            <a:srgbClr val="94A3B8"/>
          </a:solidFill>
          <a:ln/>
        </p:spPr>
      </p:sp>
      <p:sp>
        <p:nvSpPr>
          <p:cNvPr id="53" name="Shape 51"/>
          <p:cNvSpPr/>
          <p:nvPr/>
        </p:nvSpPr>
        <p:spPr>
          <a:xfrm>
            <a:off x="7310628" y="2148840"/>
            <a:ext cx="6400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429500" y="1691640"/>
            <a:ext cx="12801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429500" y="1691640"/>
            <a:ext cx="54864" cy="9601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6" name="Shape 54"/>
          <p:cNvSpPr/>
          <p:nvPr/>
        </p:nvSpPr>
        <p:spPr>
          <a:xfrm>
            <a:off x="7566660" y="17830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7" name="Text 55"/>
          <p:cNvSpPr/>
          <p:nvPr/>
        </p:nvSpPr>
        <p:spPr>
          <a:xfrm>
            <a:off x="7566660" y="1783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566660" y="21031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backlink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566660" y="235000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Auto-verify cron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8051292" y="176479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D1FAE5"/>
          </a:solidFill>
          <a:ln/>
        </p:spPr>
      </p:sp>
      <p:sp>
        <p:nvSpPr>
          <p:cNvPr id="61" name="Text 59"/>
          <p:cNvSpPr/>
          <p:nvPr/>
        </p:nvSpPr>
        <p:spPr>
          <a:xfrm>
            <a:off x="8051292" y="17647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57200" y="2971800"/>
            <a:ext cx="8229600" cy="1600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008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changed how outreach gets done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40080" y="33832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way: manual SERP-trawling + cold templates with low reply rates. New way: </a:t>
            </a:r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pre-scored prospects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arrive with a fresh-hook one-liner (e.g. "New WoW patch dropped — players hunting gold faster"). Specialist 2 personalises and sends. Replies are logged with sentiment so the funnel chart shows exactly where the drop-off happens.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G2G + OffGamers · SEO Operations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25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2 · WORKFLOW 2 OF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Backlink monitoring &amp; retention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56616" y="1828800"/>
            <a:ext cx="1554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" y="1828800"/>
            <a:ext cx="54864" cy="9144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Shape 4"/>
          <p:cNvSpPr/>
          <p:nvPr/>
        </p:nvSpPr>
        <p:spPr>
          <a:xfrm>
            <a:off x="493776" y="192024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" y="22402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cron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" y="24871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live-status check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252728" y="190195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D1FAE5"/>
          </a:solidFill>
          <a:ln/>
        </p:spPr>
      </p:sp>
      <p:sp>
        <p:nvSpPr>
          <p:cNvPr id="11" name="Text 9"/>
          <p:cNvSpPr/>
          <p:nvPr/>
        </p:nvSpPr>
        <p:spPr>
          <a:xfrm>
            <a:off x="1252728" y="19019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965960" y="2221992"/>
            <a:ext cx="128016" cy="91440"/>
          </a:xfrm>
          <a:prstGeom prst="rightTriangle">
            <a:avLst/>
          </a:prstGeom>
          <a:solidFill>
            <a:srgbClr val="94A3B8"/>
          </a:solidFill>
          <a:ln/>
        </p:spPr>
      </p:sp>
      <p:sp>
        <p:nvSpPr>
          <p:cNvPr id="13" name="Shape 11"/>
          <p:cNvSpPr/>
          <p:nvPr/>
        </p:nvSpPr>
        <p:spPr>
          <a:xfrm>
            <a:off x="1911096" y="2263140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75688" y="1828800"/>
            <a:ext cx="1554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75688" y="1828800"/>
            <a:ext cx="54864" cy="9144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Shape 14"/>
          <p:cNvSpPr/>
          <p:nvPr/>
        </p:nvSpPr>
        <p:spPr>
          <a:xfrm>
            <a:off x="2212848" y="192024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2212848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12848" y="22402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broken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12848" y="24871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→ broken/active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971800" y="190195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D1FAE5"/>
          </a:solidFill>
          <a:ln/>
        </p:spPr>
      </p:sp>
      <p:sp>
        <p:nvSpPr>
          <p:cNvPr id="21" name="Text 19"/>
          <p:cNvSpPr/>
          <p:nvPr/>
        </p:nvSpPr>
        <p:spPr>
          <a:xfrm>
            <a:off x="2971800" y="19019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85032" y="2221992"/>
            <a:ext cx="128016" cy="91440"/>
          </a:xfrm>
          <a:prstGeom prst="rightTriangle">
            <a:avLst/>
          </a:prstGeom>
          <a:solidFill>
            <a:srgbClr val="94A3B8"/>
          </a:solidFill>
          <a:ln/>
        </p:spPr>
      </p:sp>
      <p:sp>
        <p:nvSpPr>
          <p:cNvPr id="23" name="Shape 21"/>
          <p:cNvSpPr/>
          <p:nvPr/>
        </p:nvSpPr>
        <p:spPr>
          <a:xfrm>
            <a:off x="3630168" y="2263140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94760" y="1828800"/>
            <a:ext cx="1554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94760" y="1828800"/>
            <a:ext cx="54864" cy="9144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Shape 24"/>
          <p:cNvSpPr/>
          <p:nvPr/>
        </p:nvSpPr>
        <p:spPr>
          <a:xfrm>
            <a:off x="3931920" y="192024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3931920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31920" y="22402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alert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931920" y="24871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notified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90872" y="190195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D1FAE5"/>
          </a:solidFill>
          <a:ln/>
        </p:spPr>
      </p:sp>
      <p:sp>
        <p:nvSpPr>
          <p:cNvPr id="31" name="Text 29"/>
          <p:cNvSpPr/>
          <p:nvPr/>
        </p:nvSpPr>
        <p:spPr>
          <a:xfrm>
            <a:off x="4690872" y="19019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404104" y="2221992"/>
            <a:ext cx="128016" cy="91440"/>
          </a:xfrm>
          <a:prstGeom prst="rightTriangle">
            <a:avLst/>
          </a:prstGeom>
          <a:solidFill>
            <a:srgbClr val="94A3B8"/>
          </a:solidFill>
          <a:ln/>
        </p:spPr>
      </p:sp>
      <p:sp>
        <p:nvSpPr>
          <p:cNvPr id="33" name="Shape 31"/>
          <p:cNvSpPr/>
          <p:nvPr/>
        </p:nvSpPr>
        <p:spPr>
          <a:xfrm>
            <a:off x="5349240" y="2263140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13832" y="1828800"/>
            <a:ext cx="1554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13832" y="1828800"/>
            <a:ext cx="54864" cy="9144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6" name="Shape 34"/>
          <p:cNvSpPr/>
          <p:nvPr/>
        </p:nvSpPr>
        <p:spPr>
          <a:xfrm>
            <a:off x="5650992" y="192024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7" name="Text 35"/>
          <p:cNvSpPr/>
          <p:nvPr/>
        </p:nvSpPr>
        <p:spPr>
          <a:xfrm>
            <a:off x="5650992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650992" y="22402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Reactivate outreach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650992" y="24871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Re-pitch with new hook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409944" y="190195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/>
        </p:spPr>
      </p:sp>
      <p:sp>
        <p:nvSpPr>
          <p:cNvPr id="41" name="Text 39"/>
          <p:cNvSpPr/>
          <p:nvPr/>
        </p:nvSpPr>
        <p:spPr>
          <a:xfrm>
            <a:off x="6409944" y="19019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123176" y="2221992"/>
            <a:ext cx="128016" cy="91440"/>
          </a:xfrm>
          <a:prstGeom prst="rightTriangle">
            <a:avLst/>
          </a:prstGeom>
          <a:solidFill>
            <a:srgbClr val="94A3B8"/>
          </a:solidFill>
          <a:ln/>
        </p:spPr>
      </p:sp>
      <p:sp>
        <p:nvSpPr>
          <p:cNvPr id="43" name="Shape 41"/>
          <p:cNvSpPr/>
          <p:nvPr/>
        </p:nvSpPr>
        <p:spPr>
          <a:xfrm>
            <a:off x="7068312" y="2263140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232904" y="1828800"/>
            <a:ext cx="1554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232904" y="1828800"/>
            <a:ext cx="54864" cy="9144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Shape 44"/>
          <p:cNvSpPr/>
          <p:nvPr/>
        </p:nvSpPr>
        <p:spPr>
          <a:xfrm>
            <a:off x="7370064" y="192024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7" name="Text 45"/>
          <p:cNvSpPr/>
          <p:nvPr/>
        </p:nvSpPr>
        <p:spPr>
          <a:xfrm>
            <a:off x="7370064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370064" y="22402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portfolio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370064" y="24871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Cost-per-position recalc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129016" y="1901952"/>
            <a:ext cx="566928" cy="201168"/>
          </a:xfrm>
          <a:prstGeom prst="roundRect">
            <a:avLst>
              <a:gd name="adj" fmla="val 18182"/>
            </a:avLst>
          </a:prstGeom>
          <a:solidFill>
            <a:srgbClr val="D1FAE5"/>
          </a:solidFill>
          <a:ln/>
        </p:spPr>
      </p:sp>
      <p:sp>
        <p:nvSpPr>
          <p:cNvPr id="51" name="Text 49"/>
          <p:cNvSpPr/>
          <p:nvPr/>
        </p:nvSpPr>
        <p:spPr>
          <a:xfrm>
            <a:off x="8129016" y="19019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57200" y="3108960"/>
            <a:ext cx="8229600" cy="14630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" y="3246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Backlinks are an asset — and they decay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40080" y="35204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backlink we paid 3 months ago can quietly disappear when the host editor swaps the article. The auto-verify cron catches that within 24 hours, and the </a:t>
            </a:r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cost-per-position widget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shows ROI per investment so future spend is allocated to the publishers that retain links the longest.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G2G + OffGamers · SEO Operations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25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Automation footprint summary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Galih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011680" y="1783080"/>
            <a:ext cx="566928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1783080"/>
            <a:ext cx="2551176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Shape 5"/>
          <p:cNvSpPr/>
          <p:nvPr/>
        </p:nvSpPr>
        <p:spPr>
          <a:xfrm>
            <a:off x="4562856" y="1783080"/>
            <a:ext cx="1700784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6263640" y="1783080"/>
            <a:ext cx="1417320" cy="5029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0" y="1783080"/>
            <a:ext cx="2551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62856" y="178308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63640" y="17830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5603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Asst. Manager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011680" y="2514600"/>
            <a:ext cx="566928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0" y="2514600"/>
            <a:ext cx="425196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Shape 13"/>
          <p:cNvSpPr/>
          <p:nvPr/>
        </p:nvSpPr>
        <p:spPr>
          <a:xfrm>
            <a:off x="6263640" y="2514600"/>
            <a:ext cx="1133856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Shape 14"/>
          <p:cNvSpPr/>
          <p:nvPr/>
        </p:nvSpPr>
        <p:spPr>
          <a:xfrm>
            <a:off x="7397496" y="2514600"/>
            <a:ext cx="283464" cy="5029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7" name="Text 15"/>
          <p:cNvSpPr/>
          <p:nvPr/>
        </p:nvSpPr>
        <p:spPr>
          <a:xfrm>
            <a:off x="2011680" y="251460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63640" y="2514600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291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011680" y="3246120"/>
            <a:ext cx="566928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11680" y="3246120"/>
            <a:ext cx="3118104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Shape 20"/>
          <p:cNvSpPr/>
          <p:nvPr/>
        </p:nvSpPr>
        <p:spPr>
          <a:xfrm>
            <a:off x="5129784" y="3246120"/>
            <a:ext cx="1700784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Shape 21"/>
          <p:cNvSpPr/>
          <p:nvPr/>
        </p:nvSpPr>
        <p:spPr>
          <a:xfrm>
            <a:off x="6830568" y="3246120"/>
            <a:ext cx="850392" cy="5029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4" name="Text 22"/>
          <p:cNvSpPr/>
          <p:nvPr/>
        </p:nvSpPr>
        <p:spPr>
          <a:xfrm>
            <a:off x="2011680" y="3246120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29784" y="324612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30568" y="3246120"/>
            <a:ext cx="850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0233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011680" y="3977640"/>
            <a:ext cx="566928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11680" y="3977640"/>
            <a:ext cx="283464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Shape 28"/>
          <p:cNvSpPr/>
          <p:nvPr/>
        </p:nvSpPr>
        <p:spPr>
          <a:xfrm>
            <a:off x="4846320" y="3977640"/>
            <a:ext cx="1700784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Shape 29"/>
          <p:cNvSpPr/>
          <p:nvPr/>
        </p:nvSpPr>
        <p:spPr>
          <a:xfrm>
            <a:off x="6547104" y="3977640"/>
            <a:ext cx="1133856" cy="5029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2" name="Text 30"/>
          <p:cNvSpPr/>
          <p:nvPr/>
        </p:nvSpPr>
        <p:spPr>
          <a:xfrm>
            <a:off x="2011680" y="3977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397764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47104" y="3977640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955280" y="1920240"/>
            <a:ext cx="228600" cy="228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8275320" y="1920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955280" y="2286000"/>
            <a:ext cx="22860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8275320" y="2286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955280" y="2651760"/>
            <a:ext cx="228600" cy="2286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0" name="Text 38"/>
          <p:cNvSpPr/>
          <p:nvPr/>
        </p:nvSpPr>
        <p:spPr>
          <a:xfrm>
            <a:off x="8275320" y="2651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are estimates based on current sprint coverage. Refine after Sprint 13 audit.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G2G + OffGamers · SEO Operations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25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· 1 OF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Backlog — what stays manual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965960" cy="30175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1965960" cy="16459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013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GALIH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16459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visibility prompt definition (manual curation)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brand-trade-off decisions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 facilitation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508760"/>
            <a:ext cx="1965960" cy="30175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1508760"/>
            <a:ext cx="1965960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8013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ASST. MANAGER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0" y="2148840"/>
            <a:ext cx="16459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root-cause investigation deep-dives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ticket prioritisation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authoring for new content types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1965960" cy="30175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508760"/>
            <a:ext cx="1965960" cy="1645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8013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148840"/>
            <a:ext cx="16459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brief sign-off + tone polish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Cannibalization resolution choice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hypothesis selection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1508760"/>
            <a:ext cx="1965960" cy="30175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1508760"/>
            <a:ext cx="1965960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18013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949440" y="2148840"/>
            <a:ext cx="16459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triage + relationship building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personalisation tone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newsjack hooks for niche prospects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of these are intentional — strategic and creative work should stay human. Others are next-to-automate (see roadmap).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G2G + OffGamers · SEO Operations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25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· 2 OF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Roadmap — next to automate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06040" cy="2926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260604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· 0-2 weeks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Quick wins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Auto-snooze stale opportunities (&gt;21d)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Coverage delta highlight (NEW badge)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Audit severity classifier UI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Cannibalization weekly snapshots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508760"/>
            <a:ext cx="2606040" cy="2926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508760"/>
            <a:ext cx="260604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508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· 2-6 weeks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29000" y="2057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Feedback loops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29000" y="256032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brief outcome auto-classifier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report inline commentary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reminder auto-flag (&gt;5d no reply)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Bifrost newsjacking classifier per prospect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508760"/>
            <a:ext cx="2606040" cy="2926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508760"/>
            <a:ext cx="260604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508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· 1-3 months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0" y="2057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Mimir Level 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17920" y="256032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AI companion (page-aware)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memory across sessions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 actions (queue brief, mark publish)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visibility expansion: more LLMs, prompt suggestions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ends with an audit pass that re-measures the automation footprint chart on the previous slide.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G2G + OffGamers · SEO Operations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25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· 3 OF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visibility — backlog &amp; bets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023360" cy="30175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73152" cy="3017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we track now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mention rate per prompt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ChatGPT, Gemini, Perplexity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poll cadence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chart per prompt × LLM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co-mention detection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508760"/>
            <a:ext cx="4023360" cy="30175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508760"/>
            <a:ext cx="73152" cy="3017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645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1874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What's coming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233172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prompt suggestions from GSC top queries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source extraction (which pages get cited)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Schema-coverage &lt;&gt; AI mention correlation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Claude.ai, Bing Copilot, Grok to poll set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recommendation: "what to publish to get cited"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visibility is a moving target. Plan adapts every quarter as LLMs change how they pick sources.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G2G + OffGamers · SEO Operations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25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NEXT 3 MONTHS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Future development — bigger bets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73152" cy="1417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Mimir Level 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0574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AI companion that follows the user across pages, remembers conversations, and executes actions on demand (queue a brief, mark a status, draft a reply).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17720" y="1554480"/>
            <a:ext cx="402336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1554480"/>
            <a:ext cx="73152" cy="1417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Self-improving rules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20574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rules auto-rotate based on freshest 30-day outcome data. Stale rules deprecate themselves. Brief generator stays current without manual review.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402336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108960"/>
            <a:ext cx="73152" cy="1417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Cross-brand expansion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6118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agent + workflow stack onboards a third brand in days, not weeks. Site_configs row + one OAuth = ready.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3108960"/>
            <a:ext cx="402336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3108960"/>
            <a:ext cx="73152" cy="1417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reply autonomy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36118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Hermod drafts FULL reply emails (not just openers) given context + reply tone. Specialist 2 reviews &amp; sends — drops cycle time per prospect by 70%.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G2G + OffGamers · SEO Operations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25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HONEST DISCUSSION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Risks &amp; dependencies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6858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73152" cy="685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276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cost ceiling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0" y="160020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+ DataForSEO + PSI scale linearly with sites tracked. Need a quarterly review of monthly spend per brand.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8229600" cy="6858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331720"/>
            <a:ext cx="73152" cy="685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048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Single-source dependency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237744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GSC outage breaks ranking detection. PSI quota exhaustion blocks tech health. Need fallback signals or graceful degradation.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8229600" cy="6858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108960"/>
            <a:ext cx="73152" cy="685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8211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over-confidence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17520" y="315468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narratives, briefs, and rules can be plausibly wrong. Human review gates remain essential — not optional.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8229600" cy="6858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886200"/>
            <a:ext cx="73152" cy="685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9593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concentration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17520" y="393192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workflow knowledge currently lives in Galih's head + the codebase. Need runbooks for each PIC so onboarding doesn't depend on tribal knowledge.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G2G + OffGamers · SEO Operations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25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team of four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running the work of eight.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handles detection, aggregation, scoring, drafting, monitoring,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closing of feedback loops. Humans own the strategy, taste, and trust.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52628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434840"/>
            <a:ext cx="32004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40690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13 quick-wins · Sprint 14 feedback loops · Mimir Level C scoping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G2G · OffGamers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SEO Operations — Workflows &amp; Automation Footprint</dc:title>
  <dc:subject>PptxGenJS Presentation</dc:subject>
  <dc:creator>Galih Priambodo</dc:creator>
  <cp:lastModifiedBy>Galih Priambodo</cp:lastModifiedBy>
  <cp:revision>1</cp:revision>
  <dcterms:created xsi:type="dcterms:W3CDTF">2026-05-08T00:13:39Z</dcterms:created>
  <dcterms:modified xsi:type="dcterms:W3CDTF">2026-05-08T00:13:39Z</dcterms:modified>
</cp:coreProperties>
</file>