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Title):
Open with energy. This is not "another SEO update." This is a strategic positioning move.
Suggested narration:
"Today I want to walk you through where SEO is heading, what we've already built that puts us ahead of most marketplaces, and what we're rolling out next to widen the gap. By the end you'll see that we're not just chasing keywords anymore — we're building topical authority, which is what actually wins in the AI search era."
Pause briefly before moving 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The Shift):
Frame this as the BACKDROP, not the news. Boss should leave this slide knowing the industry has moved.
Suggested narration:
"For roughly a decade, SEO meant two things — stuff the right keywords on a page, and build as many backlinks as possible. That game is over. Google's algorithm now reads pages the way a human does — looking for entity coverage, topical depth, and trust signals. AI Overviews and ChatGPT-style search assistants are taking over the click. If your page isn't comprehensive enough to be cited by AI, you're invisible to a growing share of search traffic. Backlinks still matter, keywords still matter — but they're table stakes now. The winning strategy is depth, not breadth."
Pause. Let it land. The next slide proves this matters for G2G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Why This Matters):
This is the data slide. Boss likes vision backed by data — give him both.
Suggested narration:
"Here's where we stand internally. We're tracking 552 keywords across 159 priority products. Of those, 461 are cluster winners — these are the most competitive keywords, the ones we've identified as most worth defending and growing. In the last 30 days alone, Hugin — our long-tail discovery system — has surfaced 247 new queries from Google Search Console, 84 of which are growing 50% month-over-month or faster.
The point isn't just the numbers. The point is the SHAPE of the trend: people are searching in longer, more conversational ways, and they're trusting AI-generated answers more. Our competitors are catching on. The marketplaces that deepen their product pages now will own this next wave."
Move to the next slide where we show what we've already built to capture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What We've Built):
Build credibility — boss should feel proud, then primed for the gap.
Suggested narration:
"This is what we've quietly built over the last several months. Eight specialized agents, each handling a piece of the SEO operation. Bragi writes content, Mimir remembers what works, Hugin discovers long-tail opportunities from Search Console, Forseti monitors community sentiment on Reddit, Saga clusters keywords, Freyja tracks AI visibility — meaning where ChatGPT and Gemini are citing us, Loki watches competitors, Heimdall alerts us in real-time when something moves.
The stat strip at the bottom answers the question I know you've been asking — where do our most competitive keywords actually rank? Right now: 312 are in the top 3, 89 are in positions 4 to 10, 42 are still beyond position 10, and 18 are not yet measured. That's the picture today. The next slide explains why the picture isn't where it could be — and what's slowing us down."
This naturally leads into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The Gap):
Frame as honest reality, not a complaint. We've been doing the right thing — just slower than the market moves.
Suggested narration:
"We're already upgrading content the right way — research the SERP, pull PAA questions, study competitors, write structured briefs, deploy. The team is doing it well. The problem isn't quality. It's velocity.
A single product page upgrade takes 4 to 8 hours of manual research. At realistic team capacity, that's roughly 10 to 15 pages per month. We have 461 winners that deserve this treatment. At that pace, it takes 39 months or more to get through them all.
In the meantime, the search landscape changes every quarter. AI Overview citations get decided right now. Competitors that deepen their pages this quarter, not next year, will own the next phase of growth. Our approach is right — we just need to compress 4-8 hours into 30-45 minutes per page."
Pause. Move to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Content Kit Builder):
This is the WHAT. Keep it simple — flow diagram tells the story.
Suggested narration:
"The Content Kit Builder is the solution. From the Keyword Master page, you click one button on any cluster winner. The system automatically does six things in roughly 45 seconds:
It scrapes the SERP for the primary keyword, pulling People Also Ask questions and related searches. It expands semantically using DataForSEO Labs. It pulls relevant long-tail queries from Hugin. It classifies the intent of every candidate keyword, filtering out anything that would dilute the transactional intent of our product page. It generates AI Overview-style sub-queries using Haiku. And it analyzes content gaps versus the top 10 competitors on the SERP.
The output is everything we need to upgrade that product page comprehensively — a section blueprint mapping H2 headers to supporting keywords, an FAQ section in English and Indonesian side-by-side, a library of short passages optimized for LLM citation, a keyword placement map, cross-link suggestions to related products, and schema markup. All of this feeds into Bragi, our existing content generator, in the same review flow we use today."
Move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 Demo Workflow):
This is where the boss will picture using it. Walk through concretely.
Suggested narration:
"Let me walk you through a real example using one of our actual winners — 'cheap poe 2 item' on Path of Exile 2, Tier 1, English market, currently ranked #2.
Step one: I click Build Content Kit on that row in Keyword Master.
Step two: the system analyzes for about 45 seconds — scraping the SERP, classifying intent on every candidate keyword, generating fan-out queries.
Step three: a preview appears showing me five H2 sections, ten FAQ questions, and eight short passages — all pre-filtered for commercial intent. I can see at the bottom of the slide what it generated: section by section, all five H2s passed the intent filter as commercial-supportive. No fluff.
Step four: I review, maybe remove one section I don't want, tweak phrasing on a FAQ.
Step five: I click Send to Bragi. The brief enters our existing content generation pipeline.
Step six: I review the generated draft, approve, upload via the CMS pipeline we already have.
Total time from click to live page: 25 to 45 minutes. Versus 4 to 8 hours today. That's a 10x velocity gain on quality work we're already doing."
Move to the cost and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 Cost &amp; Ask):
Close strong. The numbers are tiny vs the upside.
Suggested narration:
"The cost breakdown is straightforward. Each Content Kit costs about 3.7 cents to generate — that's DataForSEO calls for SERP analysis and intent classification, plus two Haiku calls for fan-out and content gap analysis.
In practical terms: one-shot building kits for all 461 cluster winners costs roughly $17 total. Monthly refreshing the top 20 most strategic ones — about $9 per year. Even an aggressive weekly refresh of the top 50 only costs us $96 a year.
Engineering is roughly 2 weeks, 3 to 4 sprints. The content team adds zero additional cost because we're using Bragi which we already built. Risk is low because we're not replacing anything — we're enriching the input to the brief pipeline. If the kit produces garbage on some keyword, we just don't send it to Bragi. Existing workflow is fully intact.
What I'm asking for is approval to roll this out. We'll start the Sprint chain this cycle. Mimir learning loop stays active so we polish the output continuously. And we'll measure impact via the Friday KPI digest — AI Visibility, ranking distribution, long-tail capture, dwell time. If the numbers don't move in 90 days, we kill it. They will move."
End on the tagline.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640080" y="2103120"/>
            <a:ext cx="10972800" cy="548640"/>
          </a:xfrm>
          <a:prstGeom prst="rect">
            <a:avLst/>
          </a:prstGeom>
          <a:noFill/>
          <a:ln/>
        </p:spPr>
        <p:txBody>
          <a:bodyPr wrap="square" rtlCol="0" anchor="ctr"/>
          <a:lstStyle/>
          <a:p>
            <a:pPr indent="0" marL="0">
              <a:buNone/>
            </a:pPr>
            <a:r>
              <a:rPr lang="en-US" sz="1800" b="1" spc="800" kern="0" dirty="0">
                <a:solidFill>
                  <a:srgbClr val="F96167"/>
                </a:solidFill>
                <a:latin typeface="Calibri" pitchFamily="34" charset="0"/>
                <a:ea typeface="Calibri" pitchFamily="34" charset="-122"/>
                <a:cs typeface="Calibri" pitchFamily="34" charset="-120"/>
              </a:rPr>
              <a:t>BEYOND KEYWORDS</a:t>
            </a:r>
            <a:endParaRPr lang="en-US" sz="1800" dirty="0"/>
          </a:p>
        </p:txBody>
      </p:sp>
      <p:sp>
        <p:nvSpPr>
          <p:cNvPr id="3" name="Text 1"/>
          <p:cNvSpPr/>
          <p:nvPr/>
        </p:nvSpPr>
        <p:spPr>
          <a:xfrm>
            <a:off x="640080" y="2697480"/>
            <a:ext cx="10972800" cy="1371600"/>
          </a:xfrm>
          <a:prstGeom prst="rect">
            <a:avLst/>
          </a:prstGeom>
          <a:noFill/>
          <a:ln/>
        </p:spPr>
        <p:txBody>
          <a:bodyPr wrap="square" rtlCol="0" anchor="ctr"/>
          <a:lstStyle/>
          <a:p>
            <a:pPr indent="0" marL="0">
              <a:buNone/>
            </a:pPr>
            <a:r>
              <a:rPr lang="en-US" sz="6000" b="1" dirty="0">
                <a:solidFill>
                  <a:srgbClr val="F5F5F7"/>
                </a:solidFill>
                <a:latin typeface="Georgia" pitchFamily="34" charset="0"/>
                <a:ea typeface="Georgia" pitchFamily="34" charset="-122"/>
                <a:cs typeface="Georgia" pitchFamily="34" charset="-120"/>
              </a:rPr>
              <a:t>G2G's Next SEO Era</a:t>
            </a:r>
            <a:endParaRPr lang="en-US" sz="6000" dirty="0"/>
          </a:p>
        </p:txBody>
      </p:sp>
      <p:sp>
        <p:nvSpPr>
          <p:cNvPr id="4" name="Shape 2"/>
          <p:cNvSpPr/>
          <p:nvPr/>
        </p:nvSpPr>
        <p:spPr>
          <a:xfrm>
            <a:off x="640080" y="4206240"/>
            <a:ext cx="548640" cy="36576"/>
          </a:xfrm>
          <a:prstGeom prst="rect">
            <a:avLst/>
          </a:prstGeom>
          <a:solidFill>
            <a:srgbClr val="F96167"/>
          </a:solidFill>
          <a:ln w="12700">
            <a:solidFill>
              <a:srgbClr val="F96167"/>
            </a:solidFill>
            <a:prstDash val="solid"/>
          </a:ln>
        </p:spPr>
      </p:sp>
      <p:sp>
        <p:nvSpPr>
          <p:cNvPr id="5" name="Text 3"/>
          <p:cNvSpPr/>
          <p:nvPr/>
        </p:nvSpPr>
        <p:spPr>
          <a:xfrm>
            <a:off x="640080" y="4297680"/>
            <a:ext cx="10972800" cy="457200"/>
          </a:xfrm>
          <a:prstGeom prst="rect">
            <a:avLst/>
          </a:prstGeom>
          <a:noFill/>
          <a:ln/>
        </p:spPr>
        <p:txBody>
          <a:bodyPr wrap="square" rtlCol="0" anchor="ctr"/>
          <a:lstStyle/>
          <a:p>
            <a:pPr indent="0" marL="0">
              <a:buNone/>
            </a:pPr>
            <a:r>
              <a:rPr lang="en-US" sz="2000" i="1" dirty="0">
                <a:solidFill>
                  <a:srgbClr val="8B91A0"/>
                </a:solidFill>
                <a:latin typeface="Georgia" pitchFamily="34" charset="0"/>
                <a:ea typeface="Georgia" pitchFamily="34" charset="-122"/>
                <a:cs typeface="Georgia" pitchFamily="34" charset="-120"/>
              </a:rPr>
              <a:t>From keyword hunting to topical authority</a:t>
            </a:r>
            <a:endParaRPr lang="en-US" sz="2000" dirty="0"/>
          </a:p>
        </p:txBody>
      </p:sp>
      <p:sp>
        <p:nvSpPr>
          <p:cNvPr id="6" name="Text 4"/>
          <p:cNvSpPr/>
          <p:nvPr/>
        </p:nvSpPr>
        <p:spPr>
          <a:xfrm>
            <a:off x="640080" y="6309360"/>
            <a:ext cx="10972800" cy="274320"/>
          </a:xfrm>
          <a:prstGeom prst="rect">
            <a:avLst/>
          </a:prstGeom>
          <a:noFill/>
          <a:ln/>
        </p:spPr>
        <p:txBody>
          <a:bodyPr wrap="square" rtlCol="0" anchor="ctr"/>
          <a:lstStyle/>
          <a:p>
            <a:pPr indent="0" marL="0">
              <a:buNone/>
            </a:pPr>
            <a:r>
              <a:rPr lang="en-US" sz="1000" spc="300" kern="0" dirty="0">
                <a:solidFill>
                  <a:srgbClr val="8B91A0"/>
                </a:solidFill>
                <a:latin typeface="Calibri" pitchFamily="34" charset="0"/>
                <a:ea typeface="Calibri" pitchFamily="34" charset="-122"/>
                <a:cs typeface="Calibri" pitchFamily="34" charset="-120"/>
              </a:rPr>
              <a:t>G2G SEO  ·  Internal Briefing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411480"/>
            <a:ext cx="731520" cy="457200"/>
          </a:xfrm>
          <a:prstGeom prst="rect">
            <a:avLst/>
          </a:prstGeom>
          <a:noFill/>
          <a:ln/>
        </p:spPr>
        <p:txBody>
          <a:bodyPr wrap="square" rtlCol="0" anchor="ctr"/>
          <a:lstStyle/>
          <a:p>
            <a:pPr indent="0" marL="0">
              <a:buNone/>
            </a:pPr>
            <a:r>
              <a:rPr lang="en-US" sz="1400" b="1" spc="400" kern="0" dirty="0">
                <a:solidFill>
                  <a:srgbClr val="F96167"/>
                </a:solidFill>
                <a:latin typeface="Calibri" pitchFamily="34" charset="0"/>
                <a:ea typeface="Calibri" pitchFamily="34" charset="-122"/>
                <a:cs typeface="Calibri" pitchFamily="34" charset="-120"/>
              </a:rPr>
              <a:t>02</a:t>
            </a:r>
            <a:endParaRPr lang="en-US" sz="1400" dirty="0"/>
          </a:p>
        </p:txBody>
      </p:sp>
      <p:sp>
        <p:nvSpPr>
          <p:cNvPr id="3" name="Text 1"/>
          <p:cNvSpPr/>
          <p:nvPr/>
        </p:nvSpPr>
        <p:spPr>
          <a:xfrm>
            <a:off x="1143000" y="411480"/>
            <a:ext cx="10515600" cy="457200"/>
          </a:xfrm>
          <a:prstGeom prst="rect">
            <a:avLst/>
          </a:prstGeom>
          <a:noFill/>
          <a:ln/>
        </p:spPr>
        <p:txBody>
          <a:bodyPr wrap="square" rtlCol="0" anchor="ctr"/>
          <a:lstStyle/>
          <a:p>
            <a:pPr indent="0" marL="0">
              <a:buNone/>
            </a:pPr>
            <a:r>
              <a:rPr lang="en-US" sz="1400" spc="400" kern="0" dirty="0">
                <a:solidFill>
                  <a:srgbClr val="8B91A0"/>
                </a:solidFill>
                <a:latin typeface="Calibri" pitchFamily="34" charset="0"/>
                <a:ea typeface="Calibri" pitchFamily="34" charset="-122"/>
                <a:cs typeface="Calibri" pitchFamily="34" charset="-120"/>
              </a:rPr>
              <a:t>THE SHIFT</a:t>
            </a:r>
            <a:endParaRPr lang="en-US" sz="1400" dirty="0"/>
          </a:p>
        </p:txBody>
      </p:sp>
      <p:sp>
        <p:nvSpPr>
          <p:cNvPr id="4" name="Shape 2"/>
          <p:cNvSpPr/>
          <p:nvPr/>
        </p:nvSpPr>
        <p:spPr>
          <a:xfrm>
            <a:off x="457200" y="6400800"/>
            <a:ext cx="11247120" cy="0"/>
          </a:xfrm>
          <a:prstGeom prst="line">
            <a:avLst/>
          </a:prstGeom>
          <a:noFill/>
          <a:ln w="6350">
            <a:solidFill>
              <a:srgbClr val="2B2F3A"/>
            </a:solidFill>
            <a:prstDash val="solid"/>
          </a:ln>
        </p:spPr>
      </p:sp>
      <p:sp>
        <p:nvSpPr>
          <p:cNvPr id="5" name="Text 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8B91A0"/>
                </a:solidFill>
                <a:latin typeface="Calibri" pitchFamily="34" charset="0"/>
                <a:ea typeface="Calibri" pitchFamily="34" charset="-122"/>
                <a:cs typeface="Calibri" pitchFamily="34" charset="-120"/>
              </a:rPr>
              <a:t>G2G SEO  ·  Confidential</a:t>
            </a:r>
            <a:endParaRPr lang="en-US" sz="900" dirty="0"/>
          </a:p>
        </p:txBody>
      </p:sp>
      <p:sp>
        <p:nvSpPr>
          <p:cNvPr id="6" name="Text 4"/>
          <p:cNvSpPr/>
          <p:nvPr/>
        </p:nvSpPr>
        <p:spPr>
          <a:xfrm>
            <a:off x="457200" y="1005840"/>
            <a:ext cx="11247120" cy="640080"/>
          </a:xfrm>
          <a:prstGeom prst="rect">
            <a:avLst/>
          </a:prstGeom>
          <a:noFill/>
          <a:ln/>
        </p:spPr>
        <p:txBody>
          <a:bodyPr wrap="square" rtlCol="0" anchor="ctr"/>
          <a:lstStyle/>
          <a:p>
            <a:pPr indent="0" marL="0">
              <a:buNone/>
            </a:pPr>
            <a:r>
              <a:rPr lang="en-US" sz="3200" b="1" dirty="0">
                <a:solidFill>
                  <a:srgbClr val="F5F5F7"/>
                </a:solidFill>
                <a:latin typeface="Georgia" pitchFamily="34" charset="0"/>
                <a:ea typeface="Georgia" pitchFamily="34" charset="-122"/>
                <a:cs typeface="Georgia" pitchFamily="34" charset="-120"/>
              </a:rPr>
              <a:t>SEO is no longer a keyword game.</a:t>
            </a:r>
            <a:endParaRPr lang="en-US" sz="3200" dirty="0"/>
          </a:p>
        </p:txBody>
      </p:sp>
      <p:sp>
        <p:nvSpPr>
          <p:cNvPr id="7" name="Text 5"/>
          <p:cNvSpPr/>
          <p:nvPr/>
        </p:nvSpPr>
        <p:spPr>
          <a:xfrm>
            <a:off x="457200" y="1554480"/>
            <a:ext cx="11247120" cy="640080"/>
          </a:xfrm>
          <a:prstGeom prst="rect">
            <a:avLst/>
          </a:prstGeom>
          <a:noFill/>
          <a:ln/>
        </p:spPr>
        <p:txBody>
          <a:bodyPr wrap="square" rtlCol="0" anchor="ctr"/>
          <a:lstStyle/>
          <a:p>
            <a:pPr indent="0" marL="0">
              <a:buNone/>
            </a:pPr>
            <a:r>
              <a:rPr lang="en-US" sz="3200" i="1" dirty="0">
                <a:solidFill>
                  <a:srgbClr val="F96167"/>
                </a:solidFill>
                <a:latin typeface="Georgia" pitchFamily="34" charset="0"/>
                <a:ea typeface="Georgia" pitchFamily="34" charset="-122"/>
                <a:cs typeface="Georgia" pitchFamily="34" charset="-120"/>
              </a:rPr>
              <a:t>It's a topical authority game.</a:t>
            </a:r>
            <a:endParaRPr lang="en-US" sz="3200" dirty="0"/>
          </a:p>
        </p:txBody>
      </p:sp>
      <p:sp>
        <p:nvSpPr>
          <p:cNvPr id="8" name="Shape 6"/>
          <p:cNvSpPr/>
          <p:nvPr/>
        </p:nvSpPr>
        <p:spPr>
          <a:xfrm>
            <a:off x="457200" y="2468880"/>
            <a:ext cx="5486400" cy="457200"/>
          </a:xfrm>
          <a:prstGeom prst="rect">
            <a:avLst/>
          </a:prstGeom>
          <a:solidFill>
            <a:srgbClr val="262A35"/>
          </a:solidFill>
          <a:ln w="12700">
            <a:solidFill>
              <a:srgbClr val="2B2F3A"/>
            </a:solidFill>
            <a:prstDash val="solid"/>
          </a:ln>
        </p:spPr>
      </p:sp>
      <p:sp>
        <p:nvSpPr>
          <p:cNvPr id="9" name="Text 7"/>
          <p:cNvSpPr/>
          <p:nvPr/>
        </p:nvSpPr>
        <p:spPr>
          <a:xfrm>
            <a:off x="457200" y="2468880"/>
            <a:ext cx="5486400" cy="457200"/>
          </a:xfrm>
          <a:prstGeom prst="rect">
            <a:avLst/>
          </a:prstGeom>
          <a:noFill/>
          <a:ln/>
        </p:spPr>
        <p:txBody>
          <a:bodyPr wrap="square" lIns="0" tIns="0" rIns="0" bIns="0" rtlCol="0" anchor="ctr"/>
          <a:lstStyle/>
          <a:p>
            <a:pPr algn="ctr" indent="0" marL="0">
              <a:buNone/>
            </a:pPr>
            <a:r>
              <a:rPr lang="en-US" sz="1400" b="1" spc="300" kern="0" dirty="0">
                <a:solidFill>
                  <a:srgbClr val="8B91A0"/>
                </a:solidFill>
                <a:latin typeface="Calibri" pitchFamily="34" charset="0"/>
                <a:ea typeface="Calibri" pitchFamily="34" charset="-122"/>
                <a:cs typeface="Calibri" pitchFamily="34" charset="-120"/>
              </a:rPr>
              <a:t>SEO 2010-2020</a:t>
            </a:r>
            <a:endParaRPr lang="en-US" sz="1400" dirty="0"/>
          </a:p>
        </p:txBody>
      </p:sp>
      <p:sp>
        <p:nvSpPr>
          <p:cNvPr id="10" name="Shape 8"/>
          <p:cNvSpPr/>
          <p:nvPr/>
        </p:nvSpPr>
        <p:spPr>
          <a:xfrm>
            <a:off x="6309360" y="2468880"/>
            <a:ext cx="5486400" cy="457200"/>
          </a:xfrm>
          <a:prstGeom prst="rect">
            <a:avLst/>
          </a:prstGeom>
          <a:solidFill>
            <a:srgbClr val="2D1B1E"/>
          </a:solidFill>
          <a:ln w="12700">
            <a:solidFill>
              <a:srgbClr val="F96167"/>
            </a:solidFill>
            <a:prstDash val="solid"/>
          </a:ln>
        </p:spPr>
      </p:sp>
      <p:sp>
        <p:nvSpPr>
          <p:cNvPr id="11" name="Text 9"/>
          <p:cNvSpPr/>
          <p:nvPr/>
        </p:nvSpPr>
        <p:spPr>
          <a:xfrm>
            <a:off x="6309360" y="2468880"/>
            <a:ext cx="5486400" cy="457200"/>
          </a:xfrm>
          <a:prstGeom prst="rect">
            <a:avLst/>
          </a:prstGeom>
          <a:noFill/>
          <a:ln/>
        </p:spPr>
        <p:txBody>
          <a:bodyPr wrap="square" lIns="0" tIns="0" rIns="0" bIns="0" rtlCol="0" anchor="ctr"/>
          <a:lstStyle/>
          <a:p>
            <a:pPr algn="ctr" indent="0" marL="0">
              <a:buNone/>
            </a:pPr>
            <a:r>
              <a:rPr lang="en-US" sz="1400" b="1" spc="300" kern="0" dirty="0">
                <a:solidFill>
                  <a:srgbClr val="F96167"/>
                </a:solidFill>
                <a:latin typeface="Calibri" pitchFamily="34" charset="0"/>
                <a:ea typeface="Calibri" pitchFamily="34" charset="-122"/>
                <a:cs typeface="Calibri" pitchFamily="34" charset="-120"/>
              </a:rPr>
              <a:t>SEO 2024-2026</a:t>
            </a:r>
            <a:endParaRPr lang="en-US" sz="1400" dirty="0"/>
          </a:p>
        </p:txBody>
      </p:sp>
      <p:sp>
        <p:nvSpPr>
          <p:cNvPr id="12" name="Shape 10"/>
          <p:cNvSpPr/>
          <p:nvPr/>
        </p:nvSpPr>
        <p:spPr>
          <a:xfrm>
            <a:off x="457200" y="3017520"/>
            <a:ext cx="5486400" cy="411480"/>
          </a:xfrm>
          <a:prstGeom prst="rect">
            <a:avLst/>
          </a:prstGeom>
          <a:solidFill>
            <a:srgbClr val="1A1D26"/>
          </a:solidFill>
          <a:ln w="6350">
            <a:solidFill>
              <a:srgbClr val="2B2F3A"/>
            </a:solidFill>
            <a:prstDash val="solid"/>
          </a:ln>
        </p:spPr>
      </p:sp>
      <p:sp>
        <p:nvSpPr>
          <p:cNvPr id="13" name="Text 11"/>
          <p:cNvSpPr/>
          <p:nvPr/>
        </p:nvSpPr>
        <p:spPr>
          <a:xfrm>
            <a:off x="640080" y="3017520"/>
            <a:ext cx="5120640" cy="411480"/>
          </a:xfrm>
          <a:prstGeom prst="rect">
            <a:avLst/>
          </a:prstGeom>
          <a:noFill/>
          <a:ln/>
        </p:spPr>
        <p:txBody>
          <a:bodyPr wrap="square" lIns="0" tIns="0" rIns="0" bIns="0" rtlCol="0" anchor="ctr"/>
          <a:lstStyle/>
          <a:p>
            <a:pPr indent="0" marL="0">
              <a:buNone/>
            </a:pPr>
            <a:r>
              <a:rPr lang="en-US" sz="1300" dirty="0">
                <a:solidFill>
                  <a:srgbClr val="8B91A0"/>
                </a:solidFill>
                <a:latin typeface="Calibri" pitchFamily="34" charset="0"/>
                <a:ea typeface="Calibri" pitchFamily="34" charset="-122"/>
                <a:cs typeface="Calibri" pitchFamily="34" charset="-120"/>
              </a:rPr>
              <a:t>Keyword stuffing</a:t>
            </a:r>
            <a:endParaRPr lang="en-US" sz="1300" dirty="0"/>
          </a:p>
        </p:txBody>
      </p:sp>
      <p:sp>
        <p:nvSpPr>
          <p:cNvPr id="14" name="Shape 12"/>
          <p:cNvSpPr/>
          <p:nvPr/>
        </p:nvSpPr>
        <p:spPr>
          <a:xfrm>
            <a:off x="6309360" y="3017520"/>
            <a:ext cx="5486400" cy="411480"/>
          </a:xfrm>
          <a:prstGeom prst="rect">
            <a:avLst/>
          </a:prstGeom>
          <a:solidFill>
            <a:srgbClr val="1A1D26"/>
          </a:solidFill>
          <a:ln w="6350">
            <a:solidFill>
              <a:srgbClr val="2B2F3A"/>
            </a:solidFill>
            <a:prstDash val="solid"/>
          </a:ln>
        </p:spPr>
      </p:sp>
      <p:sp>
        <p:nvSpPr>
          <p:cNvPr id="15" name="Text 13"/>
          <p:cNvSpPr/>
          <p:nvPr/>
        </p:nvSpPr>
        <p:spPr>
          <a:xfrm>
            <a:off x="6492240" y="3017520"/>
            <a:ext cx="5120640" cy="41148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Topical authority</a:t>
            </a:r>
            <a:endParaRPr lang="en-US" sz="1300" dirty="0"/>
          </a:p>
        </p:txBody>
      </p:sp>
      <p:sp>
        <p:nvSpPr>
          <p:cNvPr id="16" name="Shape 14"/>
          <p:cNvSpPr/>
          <p:nvPr/>
        </p:nvSpPr>
        <p:spPr>
          <a:xfrm>
            <a:off x="457200" y="3474720"/>
            <a:ext cx="5486400" cy="411480"/>
          </a:xfrm>
          <a:prstGeom prst="rect">
            <a:avLst/>
          </a:prstGeom>
          <a:solidFill>
            <a:srgbClr val="1A1D26"/>
          </a:solidFill>
          <a:ln w="6350">
            <a:solidFill>
              <a:srgbClr val="2B2F3A"/>
            </a:solidFill>
            <a:prstDash val="solid"/>
          </a:ln>
        </p:spPr>
      </p:sp>
      <p:sp>
        <p:nvSpPr>
          <p:cNvPr id="17" name="Text 15"/>
          <p:cNvSpPr/>
          <p:nvPr/>
        </p:nvSpPr>
        <p:spPr>
          <a:xfrm>
            <a:off x="640080" y="3474720"/>
            <a:ext cx="5120640" cy="411480"/>
          </a:xfrm>
          <a:prstGeom prst="rect">
            <a:avLst/>
          </a:prstGeom>
          <a:noFill/>
          <a:ln/>
        </p:spPr>
        <p:txBody>
          <a:bodyPr wrap="square" lIns="0" tIns="0" rIns="0" bIns="0" rtlCol="0" anchor="ctr"/>
          <a:lstStyle/>
          <a:p>
            <a:pPr indent="0" marL="0">
              <a:buNone/>
            </a:pPr>
            <a:r>
              <a:rPr lang="en-US" sz="1300" dirty="0">
                <a:solidFill>
                  <a:srgbClr val="8B91A0"/>
                </a:solidFill>
                <a:latin typeface="Calibri" pitchFamily="34" charset="0"/>
                <a:ea typeface="Calibri" pitchFamily="34" charset="-122"/>
                <a:cs typeface="Calibri" pitchFamily="34" charset="-120"/>
              </a:rPr>
              <a:t>Backlink volume</a:t>
            </a:r>
            <a:endParaRPr lang="en-US" sz="1300" dirty="0"/>
          </a:p>
        </p:txBody>
      </p:sp>
      <p:sp>
        <p:nvSpPr>
          <p:cNvPr id="18" name="Shape 16"/>
          <p:cNvSpPr/>
          <p:nvPr/>
        </p:nvSpPr>
        <p:spPr>
          <a:xfrm>
            <a:off x="6309360" y="3474720"/>
            <a:ext cx="5486400" cy="411480"/>
          </a:xfrm>
          <a:prstGeom prst="rect">
            <a:avLst/>
          </a:prstGeom>
          <a:solidFill>
            <a:srgbClr val="1A1D26"/>
          </a:solidFill>
          <a:ln w="6350">
            <a:solidFill>
              <a:srgbClr val="2B2F3A"/>
            </a:solidFill>
            <a:prstDash val="solid"/>
          </a:ln>
        </p:spPr>
      </p:sp>
      <p:sp>
        <p:nvSpPr>
          <p:cNvPr id="19" name="Text 17"/>
          <p:cNvSpPr/>
          <p:nvPr/>
        </p:nvSpPr>
        <p:spPr>
          <a:xfrm>
            <a:off x="6492240" y="3474720"/>
            <a:ext cx="5120640" cy="41148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E-E-A-T signals</a:t>
            </a:r>
            <a:endParaRPr lang="en-US" sz="1300" dirty="0"/>
          </a:p>
        </p:txBody>
      </p:sp>
      <p:sp>
        <p:nvSpPr>
          <p:cNvPr id="20" name="Shape 18"/>
          <p:cNvSpPr/>
          <p:nvPr/>
        </p:nvSpPr>
        <p:spPr>
          <a:xfrm>
            <a:off x="457200" y="3931920"/>
            <a:ext cx="5486400" cy="411480"/>
          </a:xfrm>
          <a:prstGeom prst="rect">
            <a:avLst/>
          </a:prstGeom>
          <a:solidFill>
            <a:srgbClr val="1A1D26"/>
          </a:solidFill>
          <a:ln w="6350">
            <a:solidFill>
              <a:srgbClr val="2B2F3A"/>
            </a:solidFill>
            <a:prstDash val="solid"/>
          </a:ln>
        </p:spPr>
      </p:sp>
      <p:sp>
        <p:nvSpPr>
          <p:cNvPr id="21" name="Text 19"/>
          <p:cNvSpPr/>
          <p:nvPr/>
        </p:nvSpPr>
        <p:spPr>
          <a:xfrm>
            <a:off x="640080" y="3931920"/>
            <a:ext cx="5120640" cy="411480"/>
          </a:xfrm>
          <a:prstGeom prst="rect">
            <a:avLst/>
          </a:prstGeom>
          <a:noFill/>
          <a:ln/>
        </p:spPr>
        <p:txBody>
          <a:bodyPr wrap="square" lIns="0" tIns="0" rIns="0" bIns="0" rtlCol="0" anchor="ctr"/>
          <a:lstStyle/>
          <a:p>
            <a:pPr indent="0" marL="0">
              <a:buNone/>
            </a:pPr>
            <a:r>
              <a:rPr lang="en-US" sz="1300" dirty="0">
                <a:solidFill>
                  <a:srgbClr val="8B91A0"/>
                </a:solidFill>
                <a:latin typeface="Calibri" pitchFamily="34" charset="0"/>
                <a:ea typeface="Calibri" pitchFamily="34" charset="-122"/>
                <a:cs typeface="Calibri" pitchFamily="34" charset="-120"/>
              </a:rPr>
              <a:t>Exact-match anchors</a:t>
            </a:r>
            <a:endParaRPr lang="en-US" sz="1300" dirty="0"/>
          </a:p>
        </p:txBody>
      </p:sp>
      <p:sp>
        <p:nvSpPr>
          <p:cNvPr id="22" name="Shape 20"/>
          <p:cNvSpPr/>
          <p:nvPr/>
        </p:nvSpPr>
        <p:spPr>
          <a:xfrm>
            <a:off x="6309360" y="3931920"/>
            <a:ext cx="5486400" cy="411480"/>
          </a:xfrm>
          <a:prstGeom prst="rect">
            <a:avLst/>
          </a:prstGeom>
          <a:solidFill>
            <a:srgbClr val="1A1D26"/>
          </a:solidFill>
          <a:ln w="6350">
            <a:solidFill>
              <a:srgbClr val="2B2F3A"/>
            </a:solidFill>
            <a:prstDash val="solid"/>
          </a:ln>
        </p:spPr>
      </p:sp>
      <p:sp>
        <p:nvSpPr>
          <p:cNvPr id="23" name="Text 21"/>
          <p:cNvSpPr/>
          <p:nvPr/>
        </p:nvSpPr>
        <p:spPr>
          <a:xfrm>
            <a:off x="6492240" y="3931920"/>
            <a:ext cx="5120640" cy="41148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Entity-based semantic search</a:t>
            </a:r>
            <a:endParaRPr lang="en-US" sz="1300" dirty="0"/>
          </a:p>
        </p:txBody>
      </p:sp>
      <p:sp>
        <p:nvSpPr>
          <p:cNvPr id="24" name="Shape 22"/>
          <p:cNvSpPr/>
          <p:nvPr/>
        </p:nvSpPr>
        <p:spPr>
          <a:xfrm>
            <a:off x="457200" y="4389120"/>
            <a:ext cx="5486400" cy="411480"/>
          </a:xfrm>
          <a:prstGeom prst="rect">
            <a:avLst/>
          </a:prstGeom>
          <a:solidFill>
            <a:srgbClr val="1A1D26"/>
          </a:solidFill>
          <a:ln w="6350">
            <a:solidFill>
              <a:srgbClr val="2B2F3A"/>
            </a:solidFill>
            <a:prstDash val="solid"/>
          </a:ln>
        </p:spPr>
      </p:sp>
      <p:sp>
        <p:nvSpPr>
          <p:cNvPr id="25" name="Text 23"/>
          <p:cNvSpPr/>
          <p:nvPr/>
        </p:nvSpPr>
        <p:spPr>
          <a:xfrm>
            <a:off x="640080" y="4389120"/>
            <a:ext cx="5120640" cy="411480"/>
          </a:xfrm>
          <a:prstGeom prst="rect">
            <a:avLst/>
          </a:prstGeom>
          <a:noFill/>
          <a:ln/>
        </p:spPr>
        <p:txBody>
          <a:bodyPr wrap="square" lIns="0" tIns="0" rIns="0" bIns="0" rtlCol="0" anchor="ctr"/>
          <a:lstStyle/>
          <a:p>
            <a:pPr indent="0" marL="0">
              <a:buNone/>
            </a:pPr>
            <a:r>
              <a:rPr lang="en-US" sz="1300" dirty="0">
                <a:solidFill>
                  <a:srgbClr val="8B91A0"/>
                </a:solidFill>
                <a:latin typeface="Calibri" pitchFamily="34" charset="0"/>
                <a:ea typeface="Calibri" pitchFamily="34" charset="-122"/>
                <a:cs typeface="Calibri" pitchFamily="34" charset="-120"/>
              </a:rPr>
              <a:t>One keyword → one page</a:t>
            </a:r>
            <a:endParaRPr lang="en-US" sz="1300" dirty="0"/>
          </a:p>
        </p:txBody>
      </p:sp>
      <p:sp>
        <p:nvSpPr>
          <p:cNvPr id="26" name="Shape 24"/>
          <p:cNvSpPr/>
          <p:nvPr/>
        </p:nvSpPr>
        <p:spPr>
          <a:xfrm>
            <a:off x="6309360" y="4389120"/>
            <a:ext cx="5486400" cy="411480"/>
          </a:xfrm>
          <a:prstGeom prst="rect">
            <a:avLst/>
          </a:prstGeom>
          <a:solidFill>
            <a:srgbClr val="1A1D26"/>
          </a:solidFill>
          <a:ln w="6350">
            <a:solidFill>
              <a:srgbClr val="2B2F3A"/>
            </a:solidFill>
            <a:prstDash val="solid"/>
          </a:ln>
        </p:spPr>
      </p:sp>
      <p:sp>
        <p:nvSpPr>
          <p:cNvPr id="27" name="Text 25"/>
          <p:cNvSpPr/>
          <p:nvPr/>
        </p:nvSpPr>
        <p:spPr>
          <a:xfrm>
            <a:off x="6492240" y="4389120"/>
            <a:ext cx="5120640" cy="41148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One page → one topic cluster</a:t>
            </a:r>
            <a:endParaRPr lang="en-US" sz="1300" dirty="0"/>
          </a:p>
        </p:txBody>
      </p:sp>
      <p:sp>
        <p:nvSpPr>
          <p:cNvPr id="28" name="Shape 26"/>
          <p:cNvSpPr/>
          <p:nvPr/>
        </p:nvSpPr>
        <p:spPr>
          <a:xfrm>
            <a:off x="457200" y="4846320"/>
            <a:ext cx="5486400" cy="411480"/>
          </a:xfrm>
          <a:prstGeom prst="rect">
            <a:avLst/>
          </a:prstGeom>
          <a:solidFill>
            <a:srgbClr val="1A1D26"/>
          </a:solidFill>
          <a:ln w="6350">
            <a:solidFill>
              <a:srgbClr val="2B2F3A"/>
            </a:solidFill>
            <a:prstDash val="solid"/>
          </a:ln>
        </p:spPr>
      </p:sp>
      <p:sp>
        <p:nvSpPr>
          <p:cNvPr id="29" name="Text 27"/>
          <p:cNvSpPr/>
          <p:nvPr/>
        </p:nvSpPr>
        <p:spPr>
          <a:xfrm>
            <a:off x="640080" y="4846320"/>
            <a:ext cx="5120640" cy="411480"/>
          </a:xfrm>
          <a:prstGeom prst="rect">
            <a:avLst/>
          </a:prstGeom>
          <a:noFill/>
          <a:ln/>
        </p:spPr>
        <p:txBody>
          <a:bodyPr wrap="square" lIns="0" tIns="0" rIns="0" bIns="0" rtlCol="0" anchor="ctr"/>
          <a:lstStyle/>
          <a:p>
            <a:pPr indent="0" marL="0">
              <a:buNone/>
            </a:pPr>
            <a:r>
              <a:rPr lang="en-US" sz="1300" dirty="0">
                <a:solidFill>
                  <a:srgbClr val="8B91A0"/>
                </a:solidFill>
                <a:latin typeface="Calibri" pitchFamily="34" charset="0"/>
                <a:ea typeface="Calibri" pitchFamily="34" charset="-122"/>
                <a:cs typeface="Calibri" pitchFamily="34" charset="-120"/>
              </a:rPr>
              <a:t>SERP ranking = goal</a:t>
            </a:r>
            <a:endParaRPr lang="en-US" sz="1300" dirty="0"/>
          </a:p>
        </p:txBody>
      </p:sp>
      <p:sp>
        <p:nvSpPr>
          <p:cNvPr id="30" name="Shape 28"/>
          <p:cNvSpPr/>
          <p:nvPr/>
        </p:nvSpPr>
        <p:spPr>
          <a:xfrm>
            <a:off x="6309360" y="4846320"/>
            <a:ext cx="5486400" cy="411480"/>
          </a:xfrm>
          <a:prstGeom prst="rect">
            <a:avLst/>
          </a:prstGeom>
          <a:solidFill>
            <a:srgbClr val="1A1D26"/>
          </a:solidFill>
          <a:ln w="6350">
            <a:solidFill>
              <a:srgbClr val="2B2F3A"/>
            </a:solidFill>
            <a:prstDash val="solid"/>
          </a:ln>
        </p:spPr>
      </p:sp>
      <p:sp>
        <p:nvSpPr>
          <p:cNvPr id="31" name="Text 29"/>
          <p:cNvSpPr/>
          <p:nvPr/>
        </p:nvSpPr>
        <p:spPr>
          <a:xfrm>
            <a:off x="6492240" y="4846320"/>
            <a:ext cx="5120640" cy="41148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SERP + AI Overview + LLM citation = goal</a:t>
            </a:r>
            <a:endParaRPr lang="en-US" sz="1300" dirty="0"/>
          </a:p>
        </p:txBody>
      </p:sp>
      <p:sp>
        <p:nvSpPr>
          <p:cNvPr id="32" name="Shape 30"/>
          <p:cNvSpPr/>
          <p:nvPr/>
        </p:nvSpPr>
        <p:spPr>
          <a:xfrm>
            <a:off x="457200" y="5303520"/>
            <a:ext cx="5486400" cy="411480"/>
          </a:xfrm>
          <a:prstGeom prst="rect">
            <a:avLst/>
          </a:prstGeom>
          <a:solidFill>
            <a:srgbClr val="1A1D26"/>
          </a:solidFill>
          <a:ln w="6350">
            <a:solidFill>
              <a:srgbClr val="2B2F3A"/>
            </a:solidFill>
            <a:prstDash val="solid"/>
          </a:ln>
        </p:spPr>
      </p:sp>
      <p:sp>
        <p:nvSpPr>
          <p:cNvPr id="33" name="Text 31"/>
          <p:cNvSpPr/>
          <p:nvPr/>
        </p:nvSpPr>
        <p:spPr>
          <a:xfrm>
            <a:off x="640080" y="5303520"/>
            <a:ext cx="5120640" cy="411480"/>
          </a:xfrm>
          <a:prstGeom prst="rect">
            <a:avLst/>
          </a:prstGeom>
          <a:noFill/>
          <a:ln/>
        </p:spPr>
        <p:txBody>
          <a:bodyPr wrap="square" lIns="0" tIns="0" rIns="0" bIns="0" rtlCol="0" anchor="ctr"/>
          <a:lstStyle/>
          <a:p>
            <a:pPr indent="0" marL="0">
              <a:buNone/>
            </a:pPr>
            <a:r>
              <a:rPr lang="en-US" sz="1300" dirty="0">
                <a:solidFill>
                  <a:srgbClr val="8B91A0"/>
                </a:solidFill>
                <a:latin typeface="Calibri" pitchFamily="34" charset="0"/>
                <a:ea typeface="Calibri" pitchFamily="34" charset="-122"/>
                <a:cs typeface="Calibri" pitchFamily="34" charset="-120"/>
              </a:rPr>
              <a:t>Game the algorithm</a:t>
            </a:r>
            <a:endParaRPr lang="en-US" sz="1300" dirty="0"/>
          </a:p>
        </p:txBody>
      </p:sp>
      <p:sp>
        <p:nvSpPr>
          <p:cNvPr id="34" name="Shape 32"/>
          <p:cNvSpPr/>
          <p:nvPr/>
        </p:nvSpPr>
        <p:spPr>
          <a:xfrm>
            <a:off x="6309360" y="5303520"/>
            <a:ext cx="5486400" cy="411480"/>
          </a:xfrm>
          <a:prstGeom prst="rect">
            <a:avLst/>
          </a:prstGeom>
          <a:solidFill>
            <a:srgbClr val="1A1D26"/>
          </a:solidFill>
          <a:ln w="6350">
            <a:solidFill>
              <a:srgbClr val="2B2F3A"/>
            </a:solidFill>
            <a:prstDash val="solid"/>
          </a:ln>
        </p:spPr>
      </p:sp>
      <p:sp>
        <p:nvSpPr>
          <p:cNvPr id="35" name="Text 33"/>
          <p:cNvSpPr/>
          <p:nvPr/>
        </p:nvSpPr>
        <p:spPr>
          <a:xfrm>
            <a:off x="6492240" y="5303520"/>
            <a:ext cx="5120640" cy="41148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Satisfy intent + be cite-able by AI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457200" y="411480"/>
            <a:ext cx="731520" cy="457200"/>
          </a:xfrm>
          <a:prstGeom prst="rect">
            <a:avLst/>
          </a:prstGeom>
          <a:noFill/>
          <a:ln/>
        </p:spPr>
        <p:txBody>
          <a:bodyPr wrap="square" rtlCol="0" anchor="ctr"/>
          <a:lstStyle/>
          <a:p>
            <a:pPr indent="0" marL="0">
              <a:buNone/>
            </a:pPr>
            <a:r>
              <a:rPr lang="en-US" sz="1400" b="1" spc="400" kern="0" dirty="0">
                <a:solidFill>
                  <a:srgbClr val="F96167"/>
                </a:solidFill>
                <a:latin typeface="Calibri" pitchFamily="34" charset="0"/>
                <a:ea typeface="Calibri" pitchFamily="34" charset="-122"/>
                <a:cs typeface="Calibri" pitchFamily="34" charset="-120"/>
              </a:rPr>
              <a:t>03</a:t>
            </a:r>
            <a:endParaRPr lang="en-US" sz="1400" dirty="0"/>
          </a:p>
        </p:txBody>
      </p:sp>
      <p:sp>
        <p:nvSpPr>
          <p:cNvPr id="3" name="Text 1"/>
          <p:cNvSpPr/>
          <p:nvPr/>
        </p:nvSpPr>
        <p:spPr>
          <a:xfrm>
            <a:off x="1143000" y="411480"/>
            <a:ext cx="10515600" cy="457200"/>
          </a:xfrm>
          <a:prstGeom prst="rect">
            <a:avLst/>
          </a:prstGeom>
          <a:noFill/>
          <a:ln/>
        </p:spPr>
        <p:txBody>
          <a:bodyPr wrap="square" rtlCol="0" anchor="ctr"/>
          <a:lstStyle/>
          <a:p>
            <a:pPr indent="0" marL="0">
              <a:buNone/>
            </a:pPr>
            <a:r>
              <a:rPr lang="en-US" sz="1400" spc="400" kern="0" dirty="0">
                <a:solidFill>
                  <a:srgbClr val="8B91A0"/>
                </a:solidFill>
                <a:latin typeface="Calibri" pitchFamily="34" charset="0"/>
                <a:ea typeface="Calibri" pitchFamily="34" charset="-122"/>
                <a:cs typeface="Calibri" pitchFamily="34" charset="-120"/>
              </a:rPr>
              <a:t>WHY THIS MATTERS FOR G2G</a:t>
            </a:r>
            <a:endParaRPr lang="en-US" sz="1400" dirty="0"/>
          </a:p>
        </p:txBody>
      </p:sp>
      <p:sp>
        <p:nvSpPr>
          <p:cNvPr id="4" name="Shape 2"/>
          <p:cNvSpPr/>
          <p:nvPr/>
        </p:nvSpPr>
        <p:spPr>
          <a:xfrm>
            <a:off x="457200" y="6400800"/>
            <a:ext cx="11247120" cy="0"/>
          </a:xfrm>
          <a:prstGeom prst="line">
            <a:avLst/>
          </a:prstGeom>
          <a:noFill/>
          <a:ln w="6350">
            <a:solidFill>
              <a:srgbClr val="2B2F3A"/>
            </a:solidFill>
            <a:prstDash val="solid"/>
          </a:ln>
        </p:spPr>
      </p:sp>
      <p:sp>
        <p:nvSpPr>
          <p:cNvPr id="5" name="Text 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8B91A0"/>
                </a:solidFill>
                <a:latin typeface="Calibri" pitchFamily="34" charset="0"/>
                <a:ea typeface="Calibri" pitchFamily="34" charset="-122"/>
                <a:cs typeface="Calibri" pitchFamily="34" charset="-120"/>
              </a:rPr>
              <a:t>G2G SEO  ·  Confidential</a:t>
            </a:r>
            <a:endParaRPr lang="en-US" sz="900" dirty="0"/>
          </a:p>
        </p:txBody>
      </p:sp>
      <p:sp>
        <p:nvSpPr>
          <p:cNvPr id="6" name="Shape 4"/>
          <p:cNvSpPr/>
          <p:nvPr/>
        </p:nvSpPr>
        <p:spPr>
          <a:xfrm>
            <a:off x="0" y="6400800"/>
            <a:ext cx="12161520" cy="457200"/>
          </a:xfrm>
          <a:prstGeom prst="rect">
            <a:avLst/>
          </a:prstGeom>
          <a:solidFill>
            <a:srgbClr val="F7F7F5"/>
          </a:solidFill>
          <a:ln w="12700">
            <a:solidFill>
              <a:srgbClr val="FFFFFF"/>
            </a:solidFill>
            <a:prstDash val="solid"/>
          </a:ln>
        </p:spPr>
      </p:sp>
      <p:sp>
        <p:nvSpPr>
          <p:cNvPr id="7" name="Shape 5"/>
          <p:cNvSpPr/>
          <p:nvPr/>
        </p:nvSpPr>
        <p:spPr>
          <a:xfrm>
            <a:off x="457200" y="6400800"/>
            <a:ext cx="11247120" cy="0"/>
          </a:xfrm>
          <a:prstGeom prst="line">
            <a:avLst/>
          </a:prstGeom>
          <a:noFill/>
          <a:ln w="6350">
            <a:solidFill>
              <a:srgbClr val="E5E5E0"/>
            </a:solidFill>
            <a:prstDash val="solid"/>
          </a:ln>
        </p:spPr>
      </p:sp>
      <p:sp>
        <p:nvSpPr>
          <p:cNvPr id="8" name="Text 6"/>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5A6275"/>
                </a:solidFill>
                <a:latin typeface="Calibri" pitchFamily="34" charset="0"/>
                <a:ea typeface="Calibri" pitchFamily="34" charset="-122"/>
                <a:cs typeface="Calibri" pitchFamily="34" charset="-120"/>
              </a:rPr>
              <a:t>G2G SEO  ·  Confidential</a:t>
            </a:r>
            <a:endParaRPr lang="en-US" sz="900" dirty="0"/>
          </a:p>
        </p:txBody>
      </p:sp>
      <p:sp>
        <p:nvSpPr>
          <p:cNvPr id="9" name="Text 7"/>
          <p:cNvSpPr/>
          <p:nvPr/>
        </p:nvSpPr>
        <p:spPr>
          <a:xfrm>
            <a:off x="457200" y="1005840"/>
            <a:ext cx="11247120" cy="548640"/>
          </a:xfrm>
          <a:prstGeom prst="rect">
            <a:avLst/>
          </a:prstGeom>
          <a:noFill/>
          <a:ln/>
        </p:spPr>
        <p:txBody>
          <a:bodyPr wrap="square" rtlCol="0" anchor="ctr"/>
          <a:lstStyle/>
          <a:p>
            <a:pPr indent="0" marL="0">
              <a:buNone/>
            </a:pPr>
            <a:r>
              <a:rPr lang="en-US" sz="2800" b="1" dirty="0">
                <a:solidFill>
                  <a:srgbClr val="1A1D26"/>
                </a:solidFill>
                <a:latin typeface="Georgia" pitchFamily="34" charset="0"/>
                <a:ea typeface="Georgia" pitchFamily="34" charset="-122"/>
                <a:cs typeface="Georgia" pitchFamily="34" charset="-120"/>
              </a:rPr>
              <a:t>We are already in this game.</a:t>
            </a:r>
            <a:endParaRPr lang="en-US" sz="2800" dirty="0"/>
          </a:p>
        </p:txBody>
      </p:sp>
      <p:sp>
        <p:nvSpPr>
          <p:cNvPr id="10" name="Text 8"/>
          <p:cNvSpPr/>
          <p:nvPr/>
        </p:nvSpPr>
        <p:spPr>
          <a:xfrm>
            <a:off x="457200" y="1508760"/>
            <a:ext cx="11247120" cy="457200"/>
          </a:xfrm>
          <a:prstGeom prst="rect">
            <a:avLst/>
          </a:prstGeom>
          <a:noFill/>
          <a:ln/>
        </p:spPr>
        <p:txBody>
          <a:bodyPr wrap="square" rtlCol="0" anchor="ctr"/>
          <a:lstStyle/>
          <a:p>
            <a:pPr indent="0" marL="0">
              <a:buNone/>
            </a:pPr>
            <a:r>
              <a:rPr lang="en-US" sz="1800" i="1" dirty="0">
                <a:solidFill>
                  <a:srgbClr val="5A6275"/>
                </a:solidFill>
                <a:latin typeface="Georgia" pitchFamily="34" charset="0"/>
                <a:ea typeface="Georgia" pitchFamily="34" charset="-122"/>
                <a:cs typeface="Georgia" pitchFamily="34" charset="-120"/>
              </a:rPr>
              <a:t>The data shows where we stand.</a:t>
            </a:r>
            <a:endParaRPr lang="en-US" sz="1800" dirty="0"/>
          </a:p>
        </p:txBody>
      </p:sp>
      <p:sp>
        <p:nvSpPr>
          <p:cNvPr id="11" name="Shape 9"/>
          <p:cNvSpPr/>
          <p:nvPr/>
        </p:nvSpPr>
        <p:spPr>
          <a:xfrm>
            <a:off x="457200" y="2377440"/>
            <a:ext cx="2640330" cy="1371600"/>
          </a:xfrm>
          <a:prstGeom prst="rect">
            <a:avLst/>
          </a:prstGeom>
          <a:solidFill>
            <a:srgbClr val="FFFFFF"/>
          </a:solidFill>
          <a:ln w="12700">
            <a:solidFill>
              <a:srgbClr val="E5E5E0"/>
            </a:solidFill>
            <a:prstDash val="solid"/>
          </a:ln>
        </p:spPr>
      </p:sp>
      <p:sp>
        <p:nvSpPr>
          <p:cNvPr id="12" name="Shape 10"/>
          <p:cNvSpPr/>
          <p:nvPr/>
        </p:nvSpPr>
        <p:spPr>
          <a:xfrm>
            <a:off x="457200" y="2377440"/>
            <a:ext cx="54864" cy="1371600"/>
          </a:xfrm>
          <a:prstGeom prst="rect">
            <a:avLst/>
          </a:prstGeom>
          <a:solidFill>
            <a:srgbClr val="F96167"/>
          </a:solidFill>
          <a:ln w="12700">
            <a:solidFill>
              <a:srgbClr val="F96167"/>
            </a:solidFill>
            <a:prstDash val="solid"/>
          </a:ln>
        </p:spPr>
      </p:sp>
      <p:sp>
        <p:nvSpPr>
          <p:cNvPr id="13" name="Text 11"/>
          <p:cNvSpPr/>
          <p:nvPr/>
        </p:nvSpPr>
        <p:spPr>
          <a:xfrm>
            <a:off x="685800" y="2514600"/>
            <a:ext cx="2274570" cy="640080"/>
          </a:xfrm>
          <a:prstGeom prst="rect">
            <a:avLst/>
          </a:prstGeom>
          <a:noFill/>
          <a:ln/>
        </p:spPr>
        <p:txBody>
          <a:bodyPr wrap="square" lIns="0" tIns="0" rIns="0" bIns="0" rtlCol="0" anchor="t"/>
          <a:lstStyle/>
          <a:p>
            <a:pPr indent="0" marL="0">
              <a:buNone/>
            </a:pPr>
            <a:r>
              <a:rPr lang="en-US" sz="3600" b="1" dirty="0">
                <a:solidFill>
                  <a:srgbClr val="1A1D26"/>
                </a:solidFill>
                <a:latin typeface="Georgia" pitchFamily="34" charset="0"/>
                <a:ea typeface="Georgia" pitchFamily="34" charset="-122"/>
                <a:cs typeface="Georgia" pitchFamily="34" charset="-120"/>
              </a:rPr>
              <a:t>552</a:t>
            </a:r>
            <a:endParaRPr lang="en-US" sz="3600" dirty="0"/>
          </a:p>
        </p:txBody>
      </p:sp>
      <p:sp>
        <p:nvSpPr>
          <p:cNvPr id="14" name="Text 12"/>
          <p:cNvSpPr/>
          <p:nvPr/>
        </p:nvSpPr>
        <p:spPr>
          <a:xfrm>
            <a:off x="685800" y="3154680"/>
            <a:ext cx="2274570" cy="274320"/>
          </a:xfrm>
          <a:prstGeom prst="rect">
            <a:avLst/>
          </a:prstGeom>
          <a:noFill/>
          <a:ln/>
        </p:spPr>
        <p:txBody>
          <a:bodyPr wrap="square" lIns="0" tIns="0" rIns="0" bIns="0" rtlCol="0" anchor="ctr"/>
          <a:lstStyle/>
          <a:p>
            <a:pPr indent="0" marL="0">
              <a:buNone/>
            </a:pPr>
            <a:r>
              <a:rPr lang="en-US" sz="1100" b="1" spc="200" kern="0" dirty="0">
                <a:solidFill>
                  <a:srgbClr val="1A1D26"/>
                </a:solidFill>
                <a:latin typeface="Calibri" pitchFamily="34" charset="0"/>
                <a:ea typeface="Calibri" pitchFamily="34" charset="-122"/>
                <a:cs typeface="Calibri" pitchFamily="34" charset="-120"/>
              </a:rPr>
              <a:t>Keywords tracked</a:t>
            </a:r>
            <a:endParaRPr lang="en-US" sz="1100" dirty="0"/>
          </a:p>
        </p:txBody>
      </p:sp>
      <p:sp>
        <p:nvSpPr>
          <p:cNvPr id="15" name="Text 13"/>
          <p:cNvSpPr/>
          <p:nvPr/>
        </p:nvSpPr>
        <p:spPr>
          <a:xfrm>
            <a:off x="685800" y="3429000"/>
            <a:ext cx="2274570" cy="274320"/>
          </a:xfrm>
          <a:prstGeom prst="rect">
            <a:avLst/>
          </a:prstGeom>
          <a:noFill/>
          <a:ln/>
        </p:spPr>
        <p:txBody>
          <a:bodyPr wrap="square" lIns="0" tIns="0" rIns="0" bIns="0" rtlCol="0" anchor="ctr"/>
          <a:lstStyle/>
          <a:p>
            <a:pPr indent="0" marL="0">
              <a:buNone/>
            </a:pPr>
            <a:r>
              <a:rPr lang="en-US" sz="900" i="1" dirty="0">
                <a:solidFill>
                  <a:srgbClr val="5A6275"/>
                </a:solidFill>
                <a:latin typeface="Calibri" pitchFamily="34" charset="0"/>
                <a:ea typeface="Calibri" pitchFamily="34" charset="-122"/>
                <a:cs typeface="Calibri" pitchFamily="34" charset="-120"/>
              </a:rPr>
              <a:t>across 159 priority products</a:t>
            </a:r>
            <a:endParaRPr lang="en-US" sz="900" dirty="0"/>
          </a:p>
        </p:txBody>
      </p:sp>
      <p:sp>
        <p:nvSpPr>
          <p:cNvPr id="16" name="Shape 14"/>
          <p:cNvSpPr/>
          <p:nvPr/>
        </p:nvSpPr>
        <p:spPr>
          <a:xfrm>
            <a:off x="3326130" y="2377440"/>
            <a:ext cx="2640330" cy="1371600"/>
          </a:xfrm>
          <a:prstGeom prst="rect">
            <a:avLst/>
          </a:prstGeom>
          <a:solidFill>
            <a:srgbClr val="FFFFFF"/>
          </a:solidFill>
          <a:ln w="12700">
            <a:solidFill>
              <a:srgbClr val="E5E5E0"/>
            </a:solidFill>
            <a:prstDash val="solid"/>
          </a:ln>
        </p:spPr>
      </p:sp>
      <p:sp>
        <p:nvSpPr>
          <p:cNvPr id="17" name="Shape 15"/>
          <p:cNvSpPr/>
          <p:nvPr/>
        </p:nvSpPr>
        <p:spPr>
          <a:xfrm>
            <a:off x="3326130" y="2377440"/>
            <a:ext cx="54864" cy="1371600"/>
          </a:xfrm>
          <a:prstGeom prst="rect">
            <a:avLst/>
          </a:prstGeom>
          <a:solidFill>
            <a:srgbClr val="F96167"/>
          </a:solidFill>
          <a:ln w="12700">
            <a:solidFill>
              <a:srgbClr val="F96167"/>
            </a:solidFill>
            <a:prstDash val="solid"/>
          </a:ln>
        </p:spPr>
      </p:sp>
      <p:sp>
        <p:nvSpPr>
          <p:cNvPr id="18" name="Text 16"/>
          <p:cNvSpPr/>
          <p:nvPr/>
        </p:nvSpPr>
        <p:spPr>
          <a:xfrm>
            <a:off x="3554730" y="2514600"/>
            <a:ext cx="2274570" cy="640080"/>
          </a:xfrm>
          <a:prstGeom prst="rect">
            <a:avLst/>
          </a:prstGeom>
          <a:noFill/>
          <a:ln/>
        </p:spPr>
        <p:txBody>
          <a:bodyPr wrap="square" lIns="0" tIns="0" rIns="0" bIns="0" rtlCol="0" anchor="t"/>
          <a:lstStyle/>
          <a:p>
            <a:pPr indent="0" marL="0">
              <a:buNone/>
            </a:pPr>
            <a:r>
              <a:rPr lang="en-US" sz="3600" b="1" dirty="0">
                <a:solidFill>
                  <a:srgbClr val="1A1D26"/>
                </a:solidFill>
                <a:latin typeface="Georgia" pitchFamily="34" charset="0"/>
                <a:ea typeface="Georgia" pitchFamily="34" charset="-122"/>
                <a:cs typeface="Georgia" pitchFamily="34" charset="-120"/>
              </a:rPr>
              <a:t>461</a:t>
            </a:r>
            <a:endParaRPr lang="en-US" sz="3600" dirty="0"/>
          </a:p>
        </p:txBody>
      </p:sp>
      <p:sp>
        <p:nvSpPr>
          <p:cNvPr id="19" name="Text 17"/>
          <p:cNvSpPr/>
          <p:nvPr/>
        </p:nvSpPr>
        <p:spPr>
          <a:xfrm>
            <a:off x="3554730" y="3154680"/>
            <a:ext cx="2274570" cy="274320"/>
          </a:xfrm>
          <a:prstGeom prst="rect">
            <a:avLst/>
          </a:prstGeom>
          <a:noFill/>
          <a:ln/>
        </p:spPr>
        <p:txBody>
          <a:bodyPr wrap="square" lIns="0" tIns="0" rIns="0" bIns="0" rtlCol="0" anchor="ctr"/>
          <a:lstStyle/>
          <a:p>
            <a:pPr indent="0" marL="0">
              <a:buNone/>
            </a:pPr>
            <a:r>
              <a:rPr lang="en-US" sz="1100" b="1" spc="200" kern="0" dirty="0">
                <a:solidFill>
                  <a:srgbClr val="1A1D26"/>
                </a:solidFill>
                <a:latin typeface="Calibri" pitchFamily="34" charset="0"/>
                <a:ea typeface="Calibri" pitchFamily="34" charset="-122"/>
                <a:cs typeface="Calibri" pitchFamily="34" charset="-120"/>
              </a:rPr>
              <a:t>Cluster winners</a:t>
            </a:r>
            <a:endParaRPr lang="en-US" sz="1100" dirty="0"/>
          </a:p>
        </p:txBody>
      </p:sp>
      <p:sp>
        <p:nvSpPr>
          <p:cNvPr id="20" name="Text 18"/>
          <p:cNvSpPr/>
          <p:nvPr/>
        </p:nvSpPr>
        <p:spPr>
          <a:xfrm>
            <a:off x="3554730" y="3429000"/>
            <a:ext cx="2274570" cy="274320"/>
          </a:xfrm>
          <a:prstGeom prst="rect">
            <a:avLst/>
          </a:prstGeom>
          <a:noFill/>
          <a:ln/>
        </p:spPr>
        <p:txBody>
          <a:bodyPr wrap="square" lIns="0" tIns="0" rIns="0" bIns="0" rtlCol="0" anchor="ctr"/>
          <a:lstStyle/>
          <a:p>
            <a:pPr indent="0" marL="0">
              <a:buNone/>
            </a:pPr>
            <a:r>
              <a:rPr lang="en-US" sz="900" i="1" dirty="0">
                <a:solidFill>
                  <a:srgbClr val="5A6275"/>
                </a:solidFill>
                <a:latin typeface="Calibri" pitchFamily="34" charset="0"/>
                <a:ea typeface="Calibri" pitchFamily="34" charset="-122"/>
                <a:cs typeface="Calibri" pitchFamily="34" charset="-120"/>
              </a:rPr>
              <a:t>top 3 per cluster, scored &amp; ranked</a:t>
            </a:r>
            <a:endParaRPr lang="en-US" sz="900" dirty="0"/>
          </a:p>
        </p:txBody>
      </p:sp>
      <p:sp>
        <p:nvSpPr>
          <p:cNvPr id="21" name="Shape 19"/>
          <p:cNvSpPr/>
          <p:nvPr/>
        </p:nvSpPr>
        <p:spPr>
          <a:xfrm>
            <a:off x="6195060" y="2377440"/>
            <a:ext cx="2640330" cy="1371600"/>
          </a:xfrm>
          <a:prstGeom prst="rect">
            <a:avLst/>
          </a:prstGeom>
          <a:solidFill>
            <a:srgbClr val="FFFFFF"/>
          </a:solidFill>
          <a:ln w="12700">
            <a:solidFill>
              <a:srgbClr val="E5E5E0"/>
            </a:solidFill>
            <a:prstDash val="solid"/>
          </a:ln>
        </p:spPr>
      </p:sp>
      <p:sp>
        <p:nvSpPr>
          <p:cNvPr id="22" name="Shape 20"/>
          <p:cNvSpPr/>
          <p:nvPr/>
        </p:nvSpPr>
        <p:spPr>
          <a:xfrm>
            <a:off x="6195060" y="2377440"/>
            <a:ext cx="54864" cy="1371600"/>
          </a:xfrm>
          <a:prstGeom prst="rect">
            <a:avLst/>
          </a:prstGeom>
          <a:solidFill>
            <a:srgbClr val="F96167"/>
          </a:solidFill>
          <a:ln w="12700">
            <a:solidFill>
              <a:srgbClr val="F96167"/>
            </a:solidFill>
            <a:prstDash val="solid"/>
          </a:ln>
        </p:spPr>
      </p:sp>
      <p:sp>
        <p:nvSpPr>
          <p:cNvPr id="23" name="Text 21"/>
          <p:cNvSpPr/>
          <p:nvPr/>
        </p:nvSpPr>
        <p:spPr>
          <a:xfrm>
            <a:off x="6423660" y="2514600"/>
            <a:ext cx="2274570" cy="640080"/>
          </a:xfrm>
          <a:prstGeom prst="rect">
            <a:avLst/>
          </a:prstGeom>
          <a:noFill/>
          <a:ln/>
        </p:spPr>
        <p:txBody>
          <a:bodyPr wrap="square" lIns="0" tIns="0" rIns="0" bIns="0" rtlCol="0" anchor="t"/>
          <a:lstStyle/>
          <a:p>
            <a:pPr indent="0" marL="0">
              <a:buNone/>
            </a:pPr>
            <a:r>
              <a:rPr lang="en-US" sz="3600" b="1" dirty="0">
                <a:solidFill>
                  <a:srgbClr val="1A1D26"/>
                </a:solidFill>
                <a:latin typeface="Georgia" pitchFamily="34" charset="0"/>
                <a:ea typeface="Georgia" pitchFamily="34" charset="-122"/>
                <a:cs typeface="Georgia" pitchFamily="34" charset="-120"/>
              </a:rPr>
              <a:t>247</a:t>
            </a:r>
            <a:endParaRPr lang="en-US" sz="3600" dirty="0"/>
          </a:p>
        </p:txBody>
      </p:sp>
      <p:sp>
        <p:nvSpPr>
          <p:cNvPr id="24" name="Text 22"/>
          <p:cNvSpPr/>
          <p:nvPr/>
        </p:nvSpPr>
        <p:spPr>
          <a:xfrm>
            <a:off x="6423660" y="3154680"/>
            <a:ext cx="2274570" cy="274320"/>
          </a:xfrm>
          <a:prstGeom prst="rect">
            <a:avLst/>
          </a:prstGeom>
          <a:noFill/>
          <a:ln/>
        </p:spPr>
        <p:txBody>
          <a:bodyPr wrap="square" lIns="0" tIns="0" rIns="0" bIns="0" rtlCol="0" anchor="ctr"/>
          <a:lstStyle/>
          <a:p>
            <a:pPr indent="0" marL="0">
              <a:buNone/>
            </a:pPr>
            <a:r>
              <a:rPr lang="en-US" sz="1100" b="1" spc="200" kern="0" dirty="0">
                <a:solidFill>
                  <a:srgbClr val="1A1D26"/>
                </a:solidFill>
                <a:latin typeface="Calibri" pitchFamily="34" charset="0"/>
                <a:ea typeface="Calibri" pitchFamily="34" charset="-122"/>
                <a:cs typeface="Calibri" pitchFamily="34" charset="-120"/>
              </a:rPr>
              <a:t>Long-tail discoveries</a:t>
            </a:r>
            <a:endParaRPr lang="en-US" sz="1100" dirty="0"/>
          </a:p>
        </p:txBody>
      </p:sp>
      <p:sp>
        <p:nvSpPr>
          <p:cNvPr id="25" name="Text 23"/>
          <p:cNvSpPr/>
          <p:nvPr/>
        </p:nvSpPr>
        <p:spPr>
          <a:xfrm>
            <a:off x="6423660" y="3429000"/>
            <a:ext cx="2274570" cy="274320"/>
          </a:xfrm>
          <a:prstGeom prst="rect">
            <a:avLst/>
          </a:prstGeom>
          <a:noFill/>
          <a:ln/>
        </p:spPr>
        <p:txBody>
          <a:bodyPr wrap="square" lIns="0" tIns="0" rIns="0" bIns="0" rtlCol="0" anchor="ctr"/>
          <a:lstStyle/>
          <a:p>
            <a:pPr indent="0" marL="0">
              <a:buNone/>
            </a:pPr>
            <a:r>
              <a:rPr lang="en-US" sz="900" i="1" dirty="0">
                <a:solidFill>
                  <a:srgbClr val="5A6275"/>
                </a:solidFill>
                <a:latin typeface="Calibri" pitchFamily="34" charset="0"/>
                <a:ea typeface="Calibri" pitchFamily="34" charset="-122"/>
                <a:cs typeface="Calibri" pitchFamily="34" charset="-120"/>
              </a:rPr>
              <a:t>from GSC in last 30 days</a:t>
            </a:r>
            <a:endParaRPr lang="en-US" sz="900" dirty="0"/>
          </a:p>
        </p:txBody>
      </p:sp>
      <p:sp>
        <p:nvSpPr>
          <p:cNvPr id="26" name="Shape 24"/>
          <p:cNvSpPr/>
          <p:nvPr/>
        </p:nvSpPr>
        <p:spPr>
          <a:xfrm>
            <a:off x="9063990" y="2377440"/>
            <a:ext cx="2640330" cy="1371600"/>
          </a:xfrm>
          <a:prstGeom prst="rect">
            <a:avLst/>
          </a:prstGeom>
          <a:solidFill>
            <a:srgbClr val="FFFFFF"/>
          </a:solidFill>
          <a:ln w="12700">
            <a:solidFill>
              <a:srgbClr val="E5E5E0"/>
            </a:solidFill>
            <a:prstDash val="solid"/>
          </a:ln>
        </p:spPr>
      </p:sp>
      <p:sp>
        <p:nvSpPr>
          <p:cNvPr id="27" name="Shape 25"/>
          <p:cNvSpPr/>
          <p:nvPr/>
        </p:nvSpPr>
        <p:spPr>
          <a:xfrm>
            <a:off x="9063990" y="2377440"/>
            <a:ext cx="54864" cy="1371600"/>
          </a:xfrm>
          <a:prstGeom prst="rect">
            <a:avLst/>
          </a:prstGeom>
          <a:solidFill>
            <a:srgbClr val="F96167"/>
          </a:solidFill>
          <a:ln w="12700">
            <a:solidFill>
              <a:srgbClr val="F96167"/>
            </a:solidFill>
            <a:prstDash val="solid"/>
          </a:ln>
        </p:spPr>
      </p:sp>
      <p:sp>
        <p:nvSpPr>
          <p:cNvPr id="28" name="Text 26"/>
          <p:cNvSpPr/>
          <p:nvPr/>
        </p:nvSpPr>
        <p:spPr>
          <a:xfrm>
            <a:off x="9292590" y="2514600"/>
            <a:ext cx="2274570" cy="640080"/>
          </a:xfrm>
          <a:prstGeom prst="rect">
            <a:avLst/>
          </a:prstGeom>
          <a:noFill/>
          <a:ln/>
        </p:spPr>
        <p:txBody>
          <a:bodyPr wrap="square" lIns="0" tIns="0" rIns="0" bIns="0" rtlCol="0" anchor="t"/>
          <a:lstStyle/>
          <a:p>
            <a:pPr indent="0" marL="0">
              <a:buNone/>
            </a:pPr>
            <a:r>
              <a:rPr lang="en-US" sz="3600" b="1" dirty="0">
                <a:solidFill>
                  <a:srgbClr val="1A1D26"/>
                </a:solidFill>
                <a:latin typeface="Georgia" pitchFamily="34" charset="0"/>
                <a:ea typeface="Georgia" pitchFamily="34" charset="-122"/>
                <a:cs typeface="Georgia" pitchFamily="34" charset="-120"/>
              </a:rPr>
              <a:t>84</a:t>
            </a:r>
            <a:endParaRPr lang="en-US" sz="3600" dirty="0"/>
          </a:p>
        </p:txBody>
      </p:sp>
      <p:sp>
        <p:nvSpPr>
          <p:cNvPr id="29" name="Text 27"/>
          <p:cNvSpPr/>
          <p:nvPr/>
        </p:nvSpPr>
        <p:spPr>
          <a:xfrm>
            <a:off x="9292590" y="3154680"/>
            <a:ext cx="2274570" cy="274320"/>
          </a:xfrm>
          <a:prstGeom prst="rect">
            <a:avLst/>
          </a:prstGeom>
          <a:noFill/>
          <a:ln/>
        </p:spPr>
        <p:txBody>
          <a:bodyPr wrap="square" lIns="0" tIns="0" rIns="0" bIns="0" rtlCol="0" anchor="ctr"/>
          <a:lstStyle/>
          <a:p>
            <a:pPr indent="0" marL="0">
              <a:buNone/>
            </a:pPr>
            <a:r>
              <a:rPr lang="en-US" sz="1100" b="1" spc="200" kern="0" dirty="0">
                <a:solidFill>
                  <a:srgbClr val="1A1D26"/>
                </a:solidFill>
                <a:latin typeface="Calibri" pitchFamily="34" charset="0"/>
                <a:ea typeface="Calibri" pitchFamily="34" charset="-122"/>
                <a:cs typeface="Calibri" pitchFamily="34" charset="-120"/>
              </a:rPr>
              <a:t>High-growth queries</a:t>
            </a:r>
            <a:endParaRPr lang="en-US" sz="1100" dirty="0"/>
          </a:p>
        </p:txBody>
      </p:sp>
      <p:sp>
        <p:nvSpPr>
          <p:cNvPr id="30" name="Text 28"/>
          <p:cNvSpPr/>
          <p:nvPr/>
        </p:nvSpPr>
        <p:spPr>
          <a:xfrm>
            <a:off x="9292590" y="3429000"/>
            <a:ext cx="2274570" cy="274320"/>
          </a:xfrm>
          <a:prstGeom prst="rect">
            <a:avLst/>
          </a:prstGeom>
          <a:noFill/>
          <a:ln/>
        </p:spPr>
        <p:txBody>
          <a:bodyPr wrap="square" lIns="0" tIns="0" rIns="0" bIns="0" rtlCol="0" anchor="ctr"/>
          <a:lstStyle/>
          <a:p>
            <a:pPr indent="0" marL="0">
              <a:buNone/>
            </a:pPr>
            <a:r>
              <a:rPr lang="en-US" sz="900" i="1" dirty="0">
                <a:solidFill>
                  <a:srgbClr val="5A6275"/>
                </a:solidFill>
                <a:latin typeface="Calibri" pitchFamily="34" charset="0"/>
                <a:ea typeface="Calibri" pitchFamily="34" charset="-122"/>
                <a:cs typeface="Calibri" pitchFamily="34" charset="-120"/>
              </a:rPr>
              <a:t>growing 50%+ month-over-month</a:t>
            </a:r>
            <a:endParaRPr lang="en-US" sz="900" dirty="0"/>
          </a:p>
        </p:txBody>
      </p:sp>
      <p:sp>
        <p:nvSpPr>
          <p:cNvPr id="31" name="Shape 29"/>
          <p:cNvSpPr/>
          <p:nvPr/>
        </p:nvSpPr>
        <p:spPr>
          <a:xfrm>
            <a:off x="457200" y="4206240"/>
            <a:ext cx="11247120" cy="1371600"/>
          </a:xfrm>
          <a:prstGeom prst="rect">
            <a:avLst/>
          </a:prstGeom>
          <a:solidFill>
            <a:srgbClr val="2D1B1E"/>
          </a:solidFill>
          <a:ln w="12700">
            <a:solidFill>
              <a:srgbClr val="2D1B1E"/>
            </a:solidFill>
            <a:prstDash val="solid"/>
          </a:ln>
        </p:spPr>
      </p:sp>
      <p:sp>
        <p:nvSpPr>
          <p:cNvPr id="32" name="Text 30"/>
          <p:cNvSpPr/>
          <p:nvPr/>
        </p:nvSpPr>
        <p:spPr>
          <a:xfrm>
            <a:off x="731520" y="4389120"/>
            <a:ext cx="10698480" cy="457200"/>
          </a:xfrm>
          <a:prstGeom prst="rect">
            <a:avLst/>
          </a:prstGeom>
          <a:noFill/>
          <a:ln/>
        </p:spPr>
        <p:txBody>
          <a:bodyPr wrap="square" rtlCol="0" anchor="ctr"/>
          <a:lstStyle/>
          <a:p>
            <a:pPr indent="0" marL="0">
              <a:buNone/>
            </a:pPr>
            <a:r>
              <a:rPr lang="en-US" sz="2000" i="1" dirty="0">
                <a:solidFill>
                  <a:srgbClr val="F5F5F7"/>
                </a:solidFill>
                <a:latin typeface="Georgia" pitchFamily="34" charset="0"/>
                <a:ea typeface="Georgia" pitchFamily="34" charset="-122"/>
                <a:cs typeface="Georgia" pitchFamily="34" charset="-120"/>
              </a:rPr>
              <a:t>Long-tail conversational search is growing fast.</a:t>
            </a:r>
            <a:endParaRPr lang="en-US" sz="2000" dirty="0"/>
          </a:p>
        </p:txBody>
      </p:sp>
      <p:sp>
        <p:nvSpPr>
          <p:cNvPr id="33" name="Text 31"/>
          <p:cNvSpPr/>
          <p:nvPr/>
        </p:nvSpPr>
        <p:spPr>
          <a:xfrm>
            <a:off x="731520" y="4937760"/>
            <a:ext cx="10698480" cy="640080"/>
          </a:xfrm>
          <a:prstGeom prst="rect">
            <a:avLst/>
          </a:prstGeom>
          <a:noFill/>
          <a:ln/>
        </p:spPr>
        <p:txBody>
          <a:bodyPr wrap="square" rtlCol="0" anchor="ctr"/>
          <a:lstStyle/>
          <a:p>
            <a:pPr indent="0" marL="0">
              <a:buNone/>
            </a:pPr>
            <a:r>
              <a:rPr lang="en-US" sz="1300" dirty="0">
                <a:solidFill>
                  <a:srgbClr val="8B91A0"/>
                </a:solidFill>
                <a:latin typeface="Calibri" pitchFamily="34" charset="0"/>
                <a:ea typeface="Calibri" pitchFamily="34" charset="-122"/>
                <a:cs typeface="Calibri" pitchFamily="34" charset="-120"/>
              </a:rPr>
              <a:t>Hugin tracks an average of 68.4% growth across discovered queries.</a:t>
            </a:r>
            <a:endParaRPr lang="en-US" sz="1300" dirty="0"/>
          </a:p>
          <a:p>
            <a:pPr indent="0" marL="0">
              <a:buNone/>
            </a:pPr>
            <a:r>
              <a:rPr lang="en-US" sz="1300" dirty="0">
                <a:solidFill>
                  <a:srgbClr val="8B91A0"/>
                </a:solidFill>
                <a:latin typeface="Calibri" pitchFamily="34" charset="0"/>
                <a:ea typeface="Calibri" pitchFamily="34" charset="-122"/>
                <a:cs typeface="Calibri" pitchFamily="34" charset="-120"/>
              </a:rPr>
              <a:t>Marketplaces that don't deepen their pages now will be leapfrogged by competitors that do.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411480"/>
            <a:ext cx="731520" cy="457200"/>
          </a:xfrm>
          <a:prstGeom prst="rect">
            <a:avLst/>
          </a:prstGeom>
          <a:noFill/>
          <a:ln/>
        </p:spPr>
        <p:txBody>
          <a:bodyPr wrap="square" rtlCol="0" anchor="ctr"/>
          <a:lstStyle/>
          <a:p>
            <a:pPr indent="0" marL="0">
              <a:buNone/>
            </a:pPr>
            <a:r>
              <a:rPr lang="en-US" sz="1400" b="1" spc="400" kern="0" dirty="0">
                <a:solidFill>
                  <a:srgbClr val="F96167"/>
                </a:solidFill>
                <a:latin typeface="Calibri" pitchFamily="34" charset="0"/>
                <a:ea typeface="Calibri" pitchFamily="34" charset="-122"/>
                <a:cs typeface="Calibri" pitchFamily="34" charset="-120"/>
              </a:rPr>
              <a:t>04</a:t>
            </a:r>
            <a:endParaRPr lang="en-US" sz="1400" dirty="0"/>
          </a:p>
        </p:txBody>
      </p:sp>
      <p:sp>
        <p:nvSpPr>
          <p:cNvPr id="3" name="Text 1"/>
          <p:cNvSpPr/>
          <p:nvPr/>
        </p:nvSpPr>
        <p:spPr>
          <a:xfrm>
            <a:off x="1143000" y="411480"/>
            <a:ext cx="10515600" cy="457200"/>
          </a:xfrm>
          <a:prstGeom prst="rect">
            <a:avLst/>
          </a:prstGeom>
          <a:noFill/>
          <a:ln/>
        </p:spPr>
        <p:txBody>
          <a:bodyPr wrap="square" rtlCol="0" anchor="ctr"/>
          <a:lstStyle/>
          <a:p>
            <a:pPr indent="0" marL="0">
              <a:buNone/>
            </a:pPr>
            <a:r>
              <a:rPr lang="en-US" sz="1400" spc="400" kern="0" dirty="0">
                <a:solidFill>
                  <a:srgbClr val="8B91A0"/>
                </a:solidFill>
                <a:latin typeface="Calibri" pitchFamily="34" charset="0"/>
                <a:ea typeface="Calibri" pitchFamily="34" charset="-122"/>
                <a:cs typeface="Calibri" pitchFamily="34" charset="-120"/>
              </a:rPr>
              <a:t>WHAT WE HAVE BUILT</a:t>
            </a:r>
            <a:endParaRPr lang="en-US" sz="1400" dirty="0"/>
          </a:p>
        </p:txBody>
      </p:sp>
      <p:sp>
        <p:nvSpPr>
          <p:cNvPr id="4" name="Shape 2"/>
          <p:cNvSpPr/>
          <p:nvPr/>
        </p:nvSpPr>
        <p:spPr>
          <a:xfrm>
            <a:off x="457200" y="6400800"/>
            <a:ext cx="11247120" cy="0"/>
          </a:xfrm>
          <a:prstGeom prst="line">
            <a:avLst/>
          </a:prstGeom>
          <a:noFill/>
          <a:ln w="6350">
            <a:solidFill>
              <a:srgbClr val="2B2F3A"/>
            </a:solidFill>
            <a:prstDash val="solid"/>
          </a:ln>
        </p:spPr>
      </p:sp>
      <p:sp>
        <p:nvSpPr>
          <p:cNvPr id="5" name="Text 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8B91A0"/>
                </a:solidFill>
                <a:latin typeface="Calibri" pitchFamily="34" charset="0"/>
                <a:ea typeface="Calibri" pitchFamily="34" charset="-122"/>
                <a:cs typeface="Calibri" pitchFamily="34" charset="-120"/>
              </a:rPr>
              <a:t>G2G SEO  ·  Confidential</a:t>
            </a:r>
            <a:endParaRPr lang="en-US" sz="900" dirty="0"/>
          </a:p>
        </p:txBody>
      </p:sp>
      <p:sp>
        <p:nvSpPr>
          <p:cNvPr id="6" name="Text 4"/>
          <p:cNvSpPr/>
          <p:nvPr/>
        </p:nvSpPr>
        <p:spPr>
          <a:xfrm>
            <a:off x="457200" y="1005840"/>
            <a:ext cx="11247120" cy="548640"/>
          </a:xfrm>
          <a:prstGeom prst="rect">
            <a:avLst/>
          </a:prstGeom>
          <a:noFill/>
          <a:ln/>
        </p:spPr>
        <p:txBody>
          <a:bodyPr wrap="square" rtlCol="0" anchor="ctr"/>
          <a:lstStyle/>
          <a:p>
            <a:pPr indent="0" marL="0">
              <a:buNone/>
            </a:pPr>
            <a:r>
              <a:rPr lang="en-US" sz="2800" b="1" dirty="0">
                <a:solidFill>
                  <a:srgbClr val="F5F5F7"/>
                </a:solidFill>
                <a:latin typeface="Georgia" pitchFamily="34" charset="0"/>
                <a:ea typeface="Georgia" pitchFamily="34" charset="-122"/>
                <a:cs typeface="Georgia" pitchFamily="34" charset="-120"/>
              </a:rPr>
              <a:t>Eight intelligent agents.</a:t>
            </a:r>
            <a:endParaRPr lang="en-US" sz="2800" dirty="0"/>
          </a:p>
        </p:txBody>
      </p:sp>
      <p:sp>
        <p:nvSpPr>
          <p:cNvPr id="7" name="Text 5"/>
          <p:cNvSpPr/>
          <p:nvPr/>
        </p:nvSpPr>
        <p:spPr>
          <a:xfrm>
            <a:off x="457200" y="1508760"/>
            <a:ext cx="11247120" cy="457200"/>
          </a:xfrm>
          <a:prstGeom prst="rect">
            <a:avLst/>
          </a:prstGeom>
          <a:noFill/>
          <a:ln/>
        </p:spPr>
        <p:txBody>
          <a:bodyPr wrap="square" rtlCol="0" anchor="ctr"/>
          <a:lstStyle/>
          <a:p>
            <a:pPr indent="0" marL="0">
              <a:buNone/>
            </a:pPr>
            <a:r>
              <a:rPr lang="en-US" sz="1800" i="1" dirty="0">
                <a:solidFill>
                  <a:srgbClr val="8B91A0"/>
                </a:solidFill>
                <a:latin typeface="Georgia" pitchFamily="34" charset="0"/>
                <a:ea typeface="Georgia" pitchFamily="34" charset="-122"/>
                <a:cs typeface="Georgia" pitchFamily="34" charset="-120"/>
              </a:rPr>
              <a:t>One unified content intelligence stack.</a:t>
            </a:r>
            <a:endParaRPr lang="en-US" sz="1800" dirty="0"/>
          </a:p>
        </p:txBody>
      </p:sp>
      <p:sp>
        <p:nvSpPr>
          <p:cNvPr id="8" name="Shape 6"/>
          <p:cNvSpPr/>
          <p:nvPr/>
        </p:nvSpPr>
        <p:spPr>
          <a:xfrm>
            <a:off x="457200" y="2286000"/>
            <a:ext cx="2743200" cy="914400"/>
          </a:xfrm>
          <a:prstGeom prst="rect">
            <a:avLst/>
          </a:prstGeom>
          <a:solidFill>
            <a:srgbClr val="1A1D26"/>
          </a:solidFill>
          <a:ln w="12700">
            <a:solidFill>
              <a:srgbClr val="2B2F3A"/>
            </a:solidFill>
            <a:prstDash val="solid"/>
          </a:ln>
        </p:spPr>
      </p:sp>
      <p:sp>
        <p:nvSpPr>
          <p:cNvPr id="9" name="Shape 7"/>
          <p:cNvSpPr/>
          <p:nvPr/>
        </p:nvSpPr>
        <p:spPr>
          <a:xfrm>
            <a:off x="457200" y="2286000"/>
            <a:ext cx="45720" cy="914400"/>
          </a:xfrm>
          <a:prstGeom prst="rect">
            <a:avLst/>
          </a:prstGeom>
          <a:solidFill>
            <a:srgbClr val="F96167"/>
          </a:solidFill>
          <a:ln w="12700">
            <a:solidFill>
              <a:srgbClr val="F96167"/>
            </a:solidFill>
            <a:prstDash val="solid"/>
          </a:ln>
        </p:spPr>
      </p:sp>
      <p:sp>
        <p:nvSpPr>
          <p:cNvPr id="10" name="Text 8"/>
          <p:cNvSpPr/>
          <p:nvPr/>
        </p:nvSpPr>
        <p:spPr>
          <a:xfrm>
            <a:off x="640080" y="237744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BRAGI</a:t>
            </a:r>
            <a:endParaRPr lang="en-US" sz="1600" dirty="0"/>
          </a:p>
        </p:txBody>
      </p:sp>
      <p:sp>
        <p:nvSpPr>
          <p:cNvPr id="11" name="Text 9"/>
          <p:cNvSpPr/>
          <p:nvPr/>
        </p:nvSpPr>
        <p:spPr>
          <a:xfrm>
            <a:off x="640080" y="274320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AI content generator</a:t>
            </a:r>
            <a:endParaRPr lang="en-US" sz="1100" dirty="0"/>
          </a:p>
        </p:txBody>
      </p:sp>
      <p:sp>
        <p:nvSpPr>
          <p:cNvPr id="12" name="Shape 10"/>
          <p:cNvSpPr/>
          <p:nvPr/>
        </p:nvSpPr>
        <p:spPr>
          <a:xfrm>
            <a:off x="3383280" y="2286000"/>
            <a:ext cx="2743200" cy="914400"/>
          </a:xfrm>
          <a:prstGeom prst="rect">
            <a:avLst/>
          </a:prstGeom>
          <a:solidFill>
            <a:srgbClr val="1A1D26"/>
          </a:solidFill>
          <a:ln w="12700">
            <a:solidFill>
              <a:srgbClr val="2B2F3A"/>
            </a:solidFill>
            <a:prstDash val="solid"/>
          </a:ln>
        </p:spPr>
      </p:sp>
      <p:sp>
        <p:nvSpPr>
          <p:cNvPr id="13" name="Shape 11"/>
          <p:cNvSpPr/>
          <p:nvPr/>
        </p:nvSpPr>
        <p:spPr>
          <a:xfrm>
            <a:off x="3383280" y="2286000"/>
            <a:ext cx="45720" cy="914400"/>
          </a:xfrm>
          <a:prstGeom prst="rect">
            <a:avLst/>
          </a:prstGeom>
          <a:solidFill>
            <a:srgbClr val="F96167"/>
          </a:solidFill>
          <a:ln w="12700">
            <a:solidFill>
              <a:srgbClr val="F96167"/>
            </a:solidFill>
            <a:prstDash val="solid"/>
          </a:ln>
        </p:spPr>
      </p:sp>
      <p:sp>
        <p:nvSpPr>
          <p:cNvPr id="14" name="Text 12"/>
          <p:cNvSpPr/>
          <p:nvPr/>
        </p:nvSpPr>
        <p:spPr>
          <a:xfrm>
            <a:off x="3566160" y="237744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MIMIR</a:t>
            </a:r>
            <a:endParaRPr lang="en-US" sz="1600" dirty="0"/>
          </a:p>
        </p:txBody>
      </p:sp>
      <p:sp>
        <p:nvSpPr>
          <p:cNvPr id="15" name="Text 13"/>
          <p:cNvSpPr/>
          <p:nvPr/>
        </p:nvSpPr>
        <p:spPr>
          <a:xfrm>
            <a:off x="3566160" y="274320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Memory &amp; learning loop</a:t>
            </a:r>
            <a:endParaRPr lang="en-US" sz="1100" dirty="0"/>
          </a:p>
        </p:txBody>
      </p:sp>
      <p:sp>
        <p:nvSpPr>
          <p:cNvPr id="16" name="Shape 14"/>
          <p:cNvSpPr/>
          <p:nvPr/>
        </p:nvSpPr>
        <p:spPr>
          <a:xfrm>
            <a:off x="6309360" y="2286000"/>
            <a:ext cx="2743200" cy="914400"/>
          </a:xfrm>
          <a:prstGeom prst="rect">
            <a:avLst/>
          </a:prstGeom>
          <a:solidFill>
            <a:srgbClr val="1A1D26"/>
          </a:solidFill>
          <a:ln w="12700">
            <a:solidFill>
              <a:srgbClr val="2B2F3A"/>
            </a:solidFill>
            <a:prstDash val="solid"/>
          </a:ln>
        </p:spPr>
      </p:sp>
      <p:sp>
        <p:nvSpPr>
          <p:cNvPr id="17" name="Shape 15"/>
          <p:cNvSpPr/>
          <p:nvPr/>
        </p:nvSpPr>
        <p:spPr>
          <a:xfrm>
            <a:off x="6309360" y="2286000"/>
            <a:ext cx="45720" cy="914400"/>
          </a:xfrm>
          <a:prstGeom prst="rect">
            <a:avLst/>
          </a:prstGeom>
          <a:solidFill>
            <a:srgbClr val="F96167"/>
          </a:solidFill>
          <a:ln w="12700">
            <a:solidFill>
              <a:srgbClr val="F96167"/>
            </a:solidFill>
            <a:prstDash val="solid"/>
          </a:ln>
        </p:spPr>
      </p:sp>
      <p:sp>
        <p:nvSpPr>
          <p:cNvPr id="18" name="Text 16"/>
          <p:cNvSpPr/>
          <p:nvPr/>
        </p:nvSpPr>
        <p:spPr>
          <a:xfrm>
            <a:off x="6492240" y="237744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HUGIN</a:t>
            </a:r>
            <a:endParaRPr lang="en-US" sz="1600" dirty="0"/>
          </a:p>
        </p:txBody>
      </p:sp>
      <p:sp>
        <p:nvSpPr>
          <p:cNvPr id="19" name="Text 17"/>
          <p:cNvSpPr/>
          <p:nvPr/>
        </p:nvSpPr>
        <p:spPr>
          <a:xfrm>
            <a:off x="6492240" y="274320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Long-tail discovery from GSC</a:t>
            </a:r>
            <a:endParaRPr lang="en-US" sz="1100" dirty="0"/>
          </a:p>
        </p:txBody>
      </p:sp>
      <p:sp>
        <p:nvSpPr>
          <p:cNvPr id="20" name="Shape 18"/>
          <p:cNvSpPr/>
          <p:nvPr/>
        </p:nvSpPr>
        <p:spPr>
          <a:xfrm>
            <a:off x="9235440" y="2286000"/>
            <a:ext cx="2743200" cy="914400"/>
          </a:xfrm>
          <a:prstGeom prst="rect">
            <a:avLst/>
          </a:prstGeom>
          <a:solidFill>
            <a:srgbClr val="1A1D26"/>
          </a:solidFill>
          <a:ln w="12700">
            <a:solidFill>
              <a:srgbClr val="2B2F3A"/>
            </a:solidFill>
            <a:prstDash val="solid"/>
          </a:ln>
        </p:spPr>
      </p:sp>
      <p:sp>
        <p:nvSpPr>
          <p:cNvPr id="21" name="Shape 19"/>
          <p:cNvSpPr/>
          <p:nvPr/>
        </p:nvSpPr>
        <p:spPr>
          <a:xfrm>
            <a:off x="9235440" y="2286000"/>
            <a:ext cx="45720" cy="914400"/>
          </a:xfrm>
          <a:prstGeom prst="rect">
            <a:avLst/>
          </a:prstGeom>
          <a:solidFill>
            <a:srgbClr val="F96167"/>
          </a:solidFill>
          <a:ln w="12700">
            <a:solidFill>
              <a:srgbClr val="F96167"/>
            </a:solidFill>
            <a:prstDash val="solid"/>
          </a:ln>
        </p:spPr>
      </p:sp>
      <p:sp>
        <p:nvSpPr>
          <p:cNvPr id="22" name="Text 20"/>
          <p:cNvSpPr/>
          <p:nvPr/>
        </p:nvSpPr>
        <p:spPr>
          <a:xfrm>
            <a:off x="9418320" y="237744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FORSETI</a:t>
            </a:r>
            <a:endParaRPr lang="en-US" sz="1600" dirty="0"/>
          </a:p>
        </p:txBody>
      </p:sp>
      <p:sp>
        <p:nvSpPr>
          <p:cNvPr id="23" name="Text 21"/>
          <p:cNvSpPr/>
          <p:nvPr/>
        </p:nvSpPr>
        <p:spPr>
          <a:xfrm>
            <a:off x="9418320" y="274320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Community signal monitor</a:t>
            </a:r>
            <a:endParaRPr lang="en-US" sz="1100" dirty="0"/>
          </a:p>
        </p:txBody>
      </p:sp>
      <p:sp>
        <p:nvSpPr>
          <p:cNvPr id="24" name="Shape 22"/>
          <p:cNvSpPr/>
          <p:nvPr/>
        </p:nvSpPr>
        <p:spPr>
          <a:xfrm>
            <a:off x="457200" y="3383280"/>
            <a:ext cx="2743200" cy="914400"/>
          </a:xfrm>
          <a:prstGeom prst="rect">
            <a:avLst/>
          </a:prstGeom>
          <a:solidFill>
            <a:srgbClr val="1A1D26"/>
          </a:solidFill>
          <a:ln w="12700">
            <a:solidFill>
              <a:srgbClr val="2B2F3A"/>
            </a:solidFill>
            <a:prstDash val="solid"/>
          </a:ln>
        </p:spPr>
      </p:sp>
      <p:sp>
        <p:nvSpPr>
          <p:cNvPr id="25" name="Shape 23"/>
          <p:cNvSpPr/>
          <p:nvPr/>
        </p:nvSpPr>
        <p:spPr>
          <a:xfrm>
            <a:off x="457200" y="3383280"/>
            <a:ext cx="45720" cy="914400"/>
          </a:xfrm>
          <a:prstGeom prst="rect">
            <a:avLst/>
          </a:prstGeom>
          <a:solidFill>
            <a:srgbClr val="F96167"/>
          </a:solidFill>
          <a:ln w="12700">
            <a:solidFill>
              <a:srgbClr val="F96167"/>
            </a:solidFill>
            <a:prstDash val="solid"/>
          </a:ln>
        </p:spPr>
      </p:sp>
      <p:sp>
        <p:nvSpPr>
          <p:cNvPr id="26" name="Text 24"/>
          <p:cNvSpPr/>
          <p:nvPr/>
        </p:nvSpPr>
        <p:spPr>
          <a:xfrm>
            <a:off x="640080" y="347472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SAGA</a:t>
            </a:r>
            <a:endParaRPr lang="en-US" sz="1600" dirty="0"/>
          </a:p>
        </p:txBody>
      </p:sp>
      <p:sp>
        <p:nvSpPr>
          <p:cNvPr id="27" name="Text 25"/>
          <p:cNvSpPr/>
          <p:nvPr/>
        </p:nvSpPr>
        <p:spPr>
          <a:xfrm>
            <a:off x="640080" y="384048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Keyword cluster builder</a:t>
            </a:r>
            <a:endParaRPr lang="en-US" sz="1100" dirty="0"/>
          </a:p>
        </p:txBody>
      </p:sp>
      <p:sp>
        <p:nvSpPr>
          <p:cNvPr id="28" name="Shape 26"/>
          <p:cNvSpPr/>
          <p:nvPr/>
        </p:nvSpPr>
        <p:spPr>
          <a:xfrm>
            <a:off x="3383280" y="3383280"/>
            <a:ext cx="2743200" cy="914400"/>
          </a:xfrm>
          <a:prstGeom prst="rect">
            <a:avLst/>
          </a:prstGeom>
          <a:solidFill>
            <a:srgbClr val="1A1D26"/>
          </a:solidFill>
          <a:ln w="12700">
            <a:solidFill>
              <a:srgbClr val="2B2F3A"/>
            </a:solidFill>
            <a:prstDash val="solid"/>
          </a:ln>
        </p:spPr>
      </p:sp>
      <p:sp>
        <p:nvSpPr>
          <p:cNvPr id="29" name="Shape 27"/>
          <p:cNvSpPr/>
          <p:nvPr/>
        </p:nvSpPr>
        <p:spPr>
          <a:xfrm>
            <a:off x="3383280" y="3383280"/>
            <a:ext cx="45720" cy="914400"/>
          </a:xfrm>
          <a:prstGeom prst="rect">
            <a:avLst/>
          </a:prstGeom>
          <a:solidFill>
            <a:srgbClr val="F96167"/>
          </a:solidFill>
          <a:ln w="12700">
            <a:solidFill>
              <a:srgbClr val="F96167"/>
            </a:solidFill>
            <a:prstDash val="solid"/>
          </a:ln>
        </p:spPr>
      </p:sp>
      <p:sp>
        <p:nvSpPr>
          <p:cNvPr id="30" name="Text 28"/>
          <p:cNvSpPr/>
          <p:nvPr/>
        </p:nvSpPr>
        <p:spPr>
          <a:xfrm>
            <a:off x="3566160" y="347472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FREYJA</a:t>
            </a:r>
            <a:endParaRPr lang="en-US" sz="1600" dirty="0"/>
          </a:p>
        </p:txBody>
      </p:sp>
      <p:sp>
        <p:nvSpPr>
          <p:cNvPr id="31" name="Text 29"/>
          <p:cNvSpPr/>
          <p:nvPr/>
        </p:nvSpPr>
        <p:spPr>
          <a:xfrm>
            <a:off x="3566160" y="384048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AI Visibility tracker</a:t>
            </a:r>
            <a:endParaRPr lang="en-US" sz="1100" dirty="0"/>
          </a:p>
        </p:txBody>
      </p:sp>
      <p:sp>
        <p:nvSpPr>
          <p:cNvPr id="32" name="Shape 30"/>
          <p:cNvSpPr/>
          <p:nvPr/>
        </p:nvSpPr>
        <p:spPr>
          <a:xfrm>
            <a:off x="6309360" y="3383280"/>
            <a:ext cx="2743200" cy="914400"/>
          </a:xfrm>
          <a:prstGeom prst="rect">
            <a:avLst/>
          </a:prstGeom>
          <a:solidFill>
            <a:srgbClr val="1A1D26"/>
          </a:solidFill>
          <a:ln w="12700">
            <a:solidFill>
              <a:srgbClr val="2B2F3A"/>
            </a:solidFill>
            <a:prstDash val="solid"/>
          </a:ln>
        </p:spPr>
      </p:sp>
      <p:sp>
        <p:nvSpPr>
          <p:cNvPr id="33" name="Shape 31"/>
          <p:cNvSpPr/>
          <p:nvPr/>
        </p:nvSpPr>
        <p:spPr>
          <a:xfrm>
            <a:off x="6309360" y="3383280"/>
            <a:ext cx="45720" cy="914400"/>
          </a:xfrm>
          <a:prstGeom prst="rect">
            <a:avLst/>
          </a:prstGeom>
          <a:solidFill>
            <a:srgbClr val="F96167"/>
          </a:solidFill>
          <a:ln w="12700">
            <a:solidFill>
              <a:srgbClr val="F96167"/>
            </a:solidFill>
            <a:prstDash val="solid"/>
          </a:ln>
        </p:spPr>
      </p:sp>
      <p:sp>
        <p:nvSpPr>
          <p:cNvPr id="34" name="Text 32"/>
          <p:cNvSpPr/>
          <p:nvPr/>
        </p:nvSpPr>
        <p:spPr>
          <a:xfrm>
            <a:off x="6492240" y="347472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LOKI</a:t>
            </a:r>
            <a:endParaRPr lang="en-US" sz="1600" dirty="0"/>
          </a:p>
        </p:txBody>
      </p:sp>
      <p:sp>
        <p:nvSpPr>
          <p:cNvPr id="35" name="Text 33"/>
          <p:cNvSpPr/>
          <p:nvPr/>
        </p:nvSpPr>
        <p:spPr>
          <a:xfrm>
            <a:off x="6492240" y="384048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Competitor intelligence</a:t>
            </a:r>
            <a:endParaRPr lang="en-US" sz="1100" dirty="0"/>
          </a:p>
        </p:txBody>
      </p:sp>
      <p:sp>
        <p:nvSpPr>
          <p:cNvPr id="36" name="Shape 34"/>
          <p:cNvSpPr/>
          <p:nvPr/>
        </p:nvSpPr>
        <p:spPr>
          <a:xfrm>
            <a:off x="9235440" y="3383280"/>
            <a:ext cx="2743200" cy="914400"/>
          </a:xfrm>
          <a:prstGeom prst="rect">
            <a:avLst/>
          </a:prstGeom>
          <a:solidFill>
            <a:srgbClr val="1A1D26"/>
          </a:solidFill>
          <a:ln w="12700">
            <a:solidFill>
              <a:srgbClr val="2B2F3A"/>
            </a:solidFill>
            <a:prstDash val="solid"/>
          </a:ln>
        </p:spPr>
      </p:sp>
      <p:sp>
        <p:nvSpPr>
          <p:cNvPr id="37" name="Shape 35"/>
          <p:cNvSpPr/>
          <p:nvPr/>
        </p:nvSpPr>
        <p:spPr>
          <a:xfrm>
            <a:off x="9235440" y="3383280"/>
            <a:ext cx="45720" cy="914400"/>
          </a:xfrm>
          <a:prstGeom prst="rect">
            <a:avLst/>
          </a:prstGeom>
          <a:solidFill>
            <a:srgbClr val="F96167"/>
          </a:solidFill>
          <a:ln w="12700">
            <a:solidFill>
              <a:srgbClr val="F96167"/>
            </a:solidFill>
            <a:prstDash val="solid"/>
          </a:ln>
        </p:spPr>
      </p:sp>
      <p:sp>
        <p:nvSpPr>
          <p:cNvPr id="38" name="Text 36"/>
          <p:cNvSpPr/>
          <p:nvPr/>
        </p:nvSpPr>
        <p:spPr>
          <a:xfrm>
            <a:off x="9418320" y="3474720"/>
            <a:ext cx="2468880" cy="365760"/>
          </a:xfrm>
          <a:prstGeom prst="rect">
            <a:avLst/>
          </a:prstGeom>
          <a:noFill/>
          <a:ln/>
        </p:spPr>
        <p:txBody>
          <a:bodyPr wrap="square" lIns="0" tIns="0" rIns="0" bIns="0" rtlCol="0" anchor="ctr"/>
          <a:lstStyle/>
          <a:p>
            <a:pPr indent="0" marL="0">
              <a:buNone/>
            </a:pPr>
            <a:r>
              <a:rPr lang="en-US" sz="1600" b="1" spc="200" kern="0" dirty="0">
                <a:solidFill>
                  <a:srgbClr val="F5F5F7"/>
                </a:solidFill>
                <a:latin typeface="Georgia" pitchFamily="34" charset="0"/>
                <a:ea typeface="Georgia" pitchFamily="34" charset="-122"/>
                <a:cs typeface="Georgia" pitchFamily="34" charset="-120"/>
              </a:rPr>
              <a:t>HEIMDALL</a:t>
            </a:r>
            <a:endParaRPr lang="en-US" sz="1600" dirty="0"/>
          </a:p>
        </p:txBody>
      </p:sp>
      <p:sp>
        <p:nvSpPr>
          <p:cNvPr id="39" name="Text 37"/>
          <p:cNvSpPr/>
          <p:nvPr/>
        </p:nvSpPr>
        <p:spPr>
          <a:xfrm>
            <a:off x="9418320" y="3840480"/>
            <a:ext cx="2468880" cy="365760"/>
          </a:xfrm>
          <a:prstGeom prst="rect">
            <a:avLst/>
          </a:prstGeom>
          <a:noFill/>
          <a:ln/>
        </p:spPr>
        <p:txBody>
          <a:bodyPr wrap="square" lIns="0" tIns="0" rIns="0" bIns="0" rtlCol="0" anchor="ctr"/>
          <a:lstStyle/>
          <a:p>
            <a:pPr indent="0" marL="0">
              <a:buNone/>
            </a:pPr>
            <a:r>
              <a:rPr lang="en-US" sz="1100" dirty="0">
                <a:solidFill>
                  <a:srgbClr val="8B91A0"/>
                </a:solidFill>
                <a:latin typeface="Calibri" pitchFamily="34" charset="0"/>
                <a:ea typeface="Calibri" pitchFamily="34" charset="-122"/>
                <a:cs typeface="Calibri" pitchFamily="34" charset="-120"/>
              </a:rPr>
              <a:t>Real-time alerts</a:t>
            </a:r>
            <a:endParaRPr lang="en-US" sz="1100" dirty="0"/>
          </a:p>
        </p:txBody>
      </p:sp>
      <p:sp>
        <p:nvSpPr>
          <p:cNvPr id="40" name="Text 38"/>
          <p:cNvSpPr/>
          <p:nvPr/>
        </p:nvSpPr>
        <p:spPr>
          <a:xfrm>
            <a:off x="457200" y="4572000"/>
            <a:ext cx="11247120" cy="365760"/>
          </a:xfrm>
          <a:prstGeom prst="rect">
            <a:avLst/>
          </a:prstGeom>
          <a:noFill/>
          <a:ln/>
        </p:spPr>
        <p:txBody>
          <a:bodyPr wrap="square" rtlCol="0" anchor="ctr"/>
          <a:lstStyle/>
          <a:p>
            <a:pPr indent="0" marL="0">
              <a:buNone/>
            </a:pPr>
            <a:r>
              <a:rPr lang="en-US" sz="1400" spc="200" kern="0" dirty="0">
                <a:solidFill>
                  <a:srgbClr val="8B91A0"/>
                </a:solidFill>
                <a:latin typeface="Calibri" pitchFamily="34" charset="0"/>
                <a:ea typeface="Calibri" pitchFamily="34" charset="-122"/>
                <a:cs typeface="Calibri" pitchFamily="34" charset="-120"/>
              </a:rPr>
              <a:t>Where our cluster winners rank today:</a:t>
            </a:r>
            <a:endParaRPr lang="en-US" sz="1400" dirty="0"/>
          </a:p>
        </p:txBody>
      </p:sp>
      <p:sp>
        <p:nvSpPr>
          <p:cNvPr id="41" name="Shape 39"/>
          <p:cNvSpPr/>
          <p:nvPr/>
        </p:nvSpPr>
        <p:spPr>
          <a:xfrm>
            <a:off x="457200" y="5029200"/>
            <a:ext cx="7611934" cy="594360"/>
          </a:xfrm>
          <a:prstGeom prst="rect">
            <a:avLst/>
          </a:prstGeom>
          <a:solidFill>
            <a:srgbClr val="4ED9A5"/>
          </a:solidFill>
          <a:ln w="12700">
            <a:solidFill>
              <a:srgbClr val="4ED9A5"/>
            </a:solidFill>
            <a:prstDash val="solid"/>
          </a:ln>
        </p:spPr>
      </p:sp>
      <p:sp>
        <p:nvSpPr>
          <p:cNvPr id="42" name="Text 40"/>
          <p:cNvSpPr/>
          <p:nvPr/>
        </p:nvSpPr>
        <p:spPr>
          <a:xfrm>
            <a:off x="457200" y="5029200"/>
            <a:ext cx="7611934" cy="594360"/>
          </a:xfrm>
          <a:prstGeom prst="rect">
            <a:avLst/>
          </a:prstGeom>
          <a:noFill/>
          <a:ln/>
        </p:spPr>
        <p:txBody>
          <a:bodyPr wrap="square" lIns="0" tIns="0" rIns="0" bIns="0" rtlCol="0" anchor="ctr"/>
          <a:lstStyle/>
          <a:p>
            <a:pPr algn="ctr" indent="0" marL="0">
              <a:buNone/>
            </a:pPr>
            <a:r>
              <a:rPr lang="en-US" sz="1800" b="1" dirty="0">
                <a:solidFill>
                  <a:srgbClr val="0F1117"/>
                </a:solidFill>
                <a:latin typeface="Georgia" pitchFamily="34" charset="0"/>
                <a:ea typeface="Georgia" pitchFamily="34" charset="-122"/>
                <a:cs typeface="Georgia" pitchFamily="34" charset="-120"/>
              </a:rPr>
              <a:t>312</a:t>
            </a:r>
            <a:endParaRPr lang="en-US" sz="1800" dirty="0"/>
          </a:p>
        </p:txBody>
      </p:sp>
      <p:sp>
        <p:nvSpPr>
          <p:cNvPr id="43" name="Shape 41"/>
          <p:cNvSpPr/>
          <p:nvPr/>
        </p:nvSpPr>
        <p:spPr>
          <a:xfrm>
            <a:off x="8069134" y="5029200"/>
            <a:ext cx="2171353" cy="594360"/>
          </a:xfrm>
          <a:prstGeom prst="rect">
            <a:avLst/>
          </a:prstGeom>
          <a:solidFill>
            <a:srgbClr val="F4B860"/>
          </a:solidFill>
          <a:ln w="12700">
            <a:solidFill>
              <a:srgbClr val="F4B860"/>
            </a:solidFill>
            <a:prstDash val="solid"/>
          </a:ln>
        </p:spPr>
      </p:sp>
      <p:sp>
        <p:nvSpPr>
          <p:cNvPr id="44" name="Text 42"/>
          <p:cNvSpPr/>
          <p:nvPr/>
        </p:nvSpPr>
        <p:spPr>
          <a:xfrm>
            <a:off x="8069134" y="5029200"/>
            <a:ext cx="2171353" cy="594360"/>
          </a:xfrm>
          <a:prstGeom prst="rect">
            <a:avLst/>
          </a:prstGeom>
          <a:noFill/>
          <a:ln/>
        </p:spPr>
        <p:txBody>
          <a:bodyPr wrap="square" lIns="0" tIns="0" rIns="0" bIns="0" rtlCol="0" anchor="ctr"/>
          <a:lstStyle/>
          <a:p>
            <a:pPr algn="ctr" indent="0" marL="0">
              <a:buNone/>
            </a:pPr>
            <a:r>
              <a:rPr lang="en-US" sz="1800" b="1" dirty="0">
                <a:solidFill>
                  <a:srgbClr val="0F1117"/>
                </a:solidFill>
                <a:latin typeface="Georgia" pitchFamily="34" charset="0"/>
                <a:ea typeface="Georgia" pitchFamily="34" charset="-122"/>
                <a:cs typeface="Georgia" pitchFamily="34" charset="-120"/>
              </a:rPr>
              <a:t>89</a:t>
            </a:r>
            <a:endParaRPr lang="en-US" sz="1800" dirty="0"/>
          </a:p>
        </p:txBody>
      </p:sp>
      <p:sp>
        <p:nvSpPr>
          <p:cNvPr id="45" name="Shape 43"/>
          <p:cNvSpPr/>
          <p:nvPr/>
        </p:nvSpPr>
        <p:spPr>
          <a:xfrm>
            <a:off x="10240487" y="5029200"/>
            <a:ext cx="1024683" cy="594360"/>
          </a:xfrm>
          <a:prstGeom prst="rect">
            <a:avLst/>
          </a:prstGeom>
          <a:solidFill>
            <a:srgbClr val="F96167"/>
          </a:solidFill>
          <a:ln w="12700">
            <a:solidFill>
              <a:srgbClr val="F96167"/>
            </a:solidFill>
            <a:prstDash val="solid"/>
          </a:ln>
        </p:spPr>
      </p:sp>
      <p:sp>
        <p:nvSpPr>
          <p:cNvPr id="46" name="Shape 44"/>
          <p:cNvSpPr/>
          <p:nvPr/>
        </p:nvSpPr>
        <p:spPr>
          <a:xfrm>
            <a:off x="11265170" y="5029200"/>
            <a:ext cx="439150" cy="594360"/>
          </a:xfrm>
          <a:prstGeom prst="rect">
            <a:avLst/>
          </a:prstGeom>
          <a:solidFill>
            <a:srgbClr val="7A8FA8"/>
          </a:solidFill>
          <a:ln w="12700">
            <a:solidFill>
              <a:srgbClr val="7A8FA8"/>
            </a:solidFill>
            <a:prstDash val="solid"/>
          </a:ln>
        </p:spPr>
      </p:sp>
      <p:sp>
        <p:nvSpPr>
          <p:cNvPr id="47" name="Shape 45"/>
          <p:cNvSpPr/>
          <p:nvPr/>
        </p:nvSpPr>
        <p:spPr>
          <a:xfrm>
            <a:off x="457200" y="5806440"/>
            <a:ext cx="164592" cy="164592"/>
          </a:xfrm>
          <a:prstGeom prst="ellipse">
            <a:avLst/>
          </a:prstGeom>
          <a:solidFill>
            <a:srgbClr val="4ED9A5"/>
          </a:solidFill>
          <a:ln w="12700">
            <a:solidFill>
              <a:srgbClr val="4ED9A5"/>
            </a:solidFill>
            <a:prstDash val="solid"/>
          </a:ln>
        </p:spPr>
      </p:sp>
      <p:sp>
        <p:nvSpPr>
          <p:cNvPr id="48" name="Text 46"/>
          <p:cNvSpPr/>
          <p:nvPr/>
        </p:nvSpPr>
        <p:spPr>
          <a:xfrm>
            <a:off x="685800" y="5788152"/>
            <a:ext cx="2743200" cy="228600"/>
          </a:xfrm>
          <a:prstGeom prst="rect">
            <a:avLst/>
          </a:prstGeom>
          <a:noFill/>
          <a:ln/>
        </p:spPr>
        <p:txBody>
          <a:bodyPr wrap="square" lIns="0" tIns="0" rIns="0" bIns="0" rtlCol="0" anchor="ctr"/>
          <a:lstStyle/>
          <a:p>
            <a:pPr indent="0" marL="0">
              <a:buNone/>
            </a:pPr>
            <a:r>
              <a:rPr lang="en-US" sz="1000" dirty="0">
                <a:solidFill>
                  <a:srgbClr val="8B91A0"/>
                </a:solidFill>
                <a:latin typeface="Calibri" pitchFamily="34" charset="0"/>
                <a:ea typeface="Calibri" pitchFamily="34" charset="-122"/>
                <a:cs typeface="Calibri" pitchFamily="34" charset="-120"/>
              </a:rPr>
              <a:t>Top 3 (312)</a:t>
            </a:r>
            <a:endParaRPr lang="en-US" sz="1000" dirty="0"/>
          </a:p>
        </p:txBody>
      </p:sp>
      <p:sp>
        <p:nvSpPr>
          <p:cNvPr id="49" name="Shape 47"/>
          <p:cNvSpPr/>
          <p:nvPr/>
        </p:nvSpPr>
        <p:spPr>
          <a:xfrm>
            <a:off x="3200400" y="5806440"/>
            <a:ext cx="164592" cy="164592"/>
          </a:xfrm>
          <a:prstGeom prst="ellipse">
            <a:avLst/>
          </a:prstGeom>
          <a:solidFill>
            <a:srgbClr val="F4B860"/>
          </a:solidFill>
          <a:ln w="12700">
            <a:solidFill>
              <a:srgbClr val="F4B860"/>
            </a:solidFill>
            <a:prstDash val="solid"/>
          </a:ln>
        </p:spPr>
      </p:sp>
      <p:sp>
        <p:nvSpPr>
          <p:cNvPr id="50" name="Text 48"/>
          <p:cNvSpPr/>
          <p:nvPr/>
        </p:nvSpPr>
        <p:spPr>
          <a:xfrm>
            <a:off x="3429000" y="5788152"/>
            <a:ext cx="2743200" cy="228600"/>
          </a:xfrm>
          <a:prstGeom prst="rect">
            <a:avLst/>
          </a:prstGeom>
          <a:noFill/>
          <a:ln/>
        </p:spPr>
        <p:txBody>
          <a:bodyPr wrap="square" lIns="0" tIns="0" rIns="0" bIns="0" rtlCol="0" anchor="ctr"/>
          <a:lstStyle/>
          <a:p>
            <a:pPr indent="0" marL="0">
              <a:buNone/>
            </a:pPr>
            <a:r>
              <a:rPr lang="en-US" sz="1000" dirty="0">
                <a:solidFill>
                  <a:srgbClr val="8B91A0"/>
                </a:solidFill>
                <a:latin typeface="Calibri" pitchFamily="34" charset="0"/>
                <a:ea typeface="Calibri" pitchFamily="34" charset="-122"/>
                <a:cs typeface="Calibri" pitchFamily="34" charset="-120"/>
              </a:rPr>
              <a:t>Top 4-10 (89)</a:t>
            </a:r>
            <a:endParaRPr lang="en-US" sz="1000" dirty="0"/>
          </a:p>
        </p:txBody>
      </p:sp>
      <p:sp>
        <p:nvSpPr>
          <p:cNvPr id="51" name="Shape 49"/>
          <p:cNvSpPr/>
          <p:nvPr/>
        </p:nvSpPr>
        <p:spPr>
          <a:xfrm>
            <a:off x="5943600" y="5806440"/>
            <a:ext cx="164592" cy="164592"/>
          </a:xfrm>
          <a:prstGeom prst="ellipse">
            <a:avLst/>
          </a:prstGeom>
          <a:solidFill>
            <a:srgbClr val="F96167"/>
          </a:solidFill>
          <a:ln w="12700">
            <a:solidFill>
              <a:srgbClr val="F96167"/>
            </a:solidFill>
            <a:prstDash val="solid"/>
          </a:ln>
        </p:spPr>
      </p:sp>
      <p:sp>
        <p:nvSpPr>
          <p:cNvPr id="52" name="Text 50"/>
          <p:cNvSpPr/>
          <p:nvPr/>
        </p:nvSpPr>
        <p:spPr>
          <a:xfrm>
            <a:off x="6172200" y="5788152"/>
            <a:ext cx="2743200" cy="228600"/>
          </a:xfrm>
          <a:prstGeom prst="rect">
            <a:avLst/>
          </a:prstGeom>
          <a:noFill/>
          <a:ln/>
        </p:spPr>
        <p:txBody>
          <a:bodyPr wrap="square" lIns="0" tIns="0" rIns="0" bIns="0" rtlCol="0" anchor="ctr"/>
          <a:lstStyle/>
          <a:p>
            <a:pPr indent="0" marL="0">
              <a:buNone/>
            </a:pPr>
            <a:r>
              <a:rPr lang="en-US" sz="1000" dirty="0">
                <a:solidFill>
                  <a:srgbClr val="8B91A0"/>
                </a:solidFill>
                <a:latin typeface="Calibri" pitchFamily="34" charset="0"/>
                <a:ea typeface="Calibri" pitchFamily="34" charset="-122"/>
                <a:cs typeface="Calibri" pitchFamily="34" charset="-120"/>
              </a:rPr>
              <a:t>Beyond 10 (42)</a:t>
            </a:r>
            <a:endParaRPr lang="en-US" sz="1000" dirty="0"/>
          </a:p>
        </p:txBody>
      </p:sp>
      <p:sp>
        <p:nvSpPr>
          <p:cNvPr id="53" name="Shape 51"/>
          <p:cNvSpPr/>
          <p:nvPr/>
        </p:nvSpPr>
        <p:spPr>
          <a:xfrm>
            <a:off x="8686800" y="5806440"/>
            <a:ext cx="164592" cy="164592"/>
          </a:xfrm>
          <a:prstGeom prst="ellipse">
            <a:avLst/>
          </a:prstGeom>
          <a:solidFill>
            <a:srgbClr val="7A8FA8"/>
          </a:solidFill>
          <a:ln w="12700">
            <a:solidFill>
              <a:srgbClr val="7A8FA8"/>
            </a:solidFill>
            <a:prstDash val="solid"/>
          </a:ln>
        </p:spPr>
      </p:sp>
      <p:sp>
        <p:nvSpPr>
          <p:cNvPr id="54" name="Text 52"/>
          <p:cNvSpPr/>
          <p:nvPr/>
        </p:nvSpPr>
        <p:spPr>
          <a:xfrm>
            <a:off x="8915400" y="5788152"/>
            <a:ext cx="2743200" cy="228600"/>
          </a:xfrm>
          <a:prstGeom prst="rect">
            <a:avLst/>
          </a:prstGeom>
          <a:noFill/>
          <a:ln/>
        </p:spPr>
        <p:txBody>
          <a:bodyPr wrap="square" lIns="0" tIns="0" rIns="0" bIns="0" rtlCol="0" anchor="ctr"/>
          <a:lstStyle/>
          <a:p>
            <a:pPr indent="0" marL="0">
              <a:buNone/>
            </a:pPr>
            <a:r>
              <a:rPr lang="en-US" sz="1000" dirty="0">
                <a:solidFill>
                  <a:srgbClr val="8B91A0"/>
                </a:solidFill>
                <a:latin typeface="Calibri" pitchFamily="34" charset="0"/>
                <a:ea typeface="Calibri" pitchFamily="34" charset="-122"/>
                <a:cs typeface="Calibri" pitchFamily="34" charset="-120"/>
              </a:rPr>
              <a:t>Untracked (18)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457200" y="411480"/>
            <a:ext cx="731520" cy="457200"/>
          </a:xfrm>
          <a:prstGeom prst="rect">
            <a:avLst/>
          </a:prstGeom>
          <a:noFill/>
          <a:ln/>
        </p:spPr>
        <p:txBody>
          <a:bodyPr wrap="square" rtlCol="0" anchor="ctr"/>
          <a:lstStyle/>
          <a:p>
            <a:pPr indent="0" marL="0">
              <a:buNone/>
            </a:pPr>
            <a:r>
              <a:rPr lang="en-US" sz="1400" b="1" spc="400" kern="0" dirty="0">
                <a:solidFill>
                  <a:srgbClr val="F96167"/>
                </a:solidFill>
                <a:latin typeface="Calibri" pitchFamily="34" charset="0"/>
                <a:ea typeface="Calibri" pitchFamily="34" charset="-122"/>
                <a:cs typeface="Calibri" pitchFamily="34" charset="-120"/>
              </a:rPr>
              <a:t>05</a:t>
            </a:r>
            <a:endParaRPr lang="en-US" sz="1400" dirty="0"/>
          </a:p>
        </p:txBody>
      </p:sp>
      <p:sp>
        <p:nvSpPr>
          <p:cNvPr id="3" name="Text 1"/>
          <p:cNvSpPr/>
          <p:nvPr/>
        </p:nvSpPr>
        <p:spPr>
          <a:xfrm>
            <a:off x="1143000" y="411480"/>
            <a:ext cx="10515600" cy="457200"/>
          </a:xfrm>
          <a:prstGeom prst="rect">
            <a:avLst/>
          </a:prstGeom>
          <a:noFill/>
          <a:ln/>
        </p:spPr>
        <p:txBody>
          <a:bodyPr wrap="square" rtlCol="0" anchor="ctr"/>
          <a:lstStyle/>
          <a:p>
            <a:pPr indent="0" marL="0">
              <a:buNone/>
            </a:pPr>
            <a:r>
              <a:rPr lang="en-US" sz="1400" spc="400" kern="0" dirty="0">
                <a:solidFill>
                  <a:srgbClr val="8B91A0"/>
                </a:solidFill>
                <a:latin typeface="Calibri" pitchFamily="34" charset="0"/>
                <a:ea typeface="Calibri" pitchFamily="34" charset="-122"/>
                <a:cs typeface="Calibri" pitchFamily="34" charset="-120"/>
              </a:rPr>
              <a:t>THE GAP</a:t>
            </a:r>
            <a:endParaRPr lang="en-US" sz="1400" dirty="0"/>
          </a:p>
        </p:txBody>
      </p:sp>
      <p:sp>
        <p:nvSpPr>
          <p:cNvPr id="4" name="Shape 2"/>
          <p:cNvSpPr/>
          <p:nvPr/>
        </p:nvSpPr>
        <p:spPr>
          <a:xfrm>
            <a:off x="457200" y="6400800"/>
            <a:ext cx="11247120" cy="0"/>
          </a:xfrm>
          <a:prstGeom prst="line">
            <a:avLst/>
          </a:prstGeom>
          <a:noFill/>
          <a:ln w="6350">
            <a:solidFill>
              <a:srgbClr val="2B2F3A"/>
            </a:solidFill>
            <a:prstDash val="solid"/>
          </a:ln>
        </p:spPr>
      </p:sp>
      <p:sp>
        <p:nvSpPr>
          <p:cNvPr id="5" name="Text 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8B91A0"/>
                </a:solidFill>
                <a:latin typeface="Calibri" pitchFamily="34" charset="0"/>
                <a:ea typeface="Calibri" pitchFamily="34" charset="-122"/>
                <a:cs typeface="Calibri" pitchFamily="34" charset="-120"/>
              </a:rPr>
              <a:t>G2G SEO  ·  Confidential</a:t>
            </a:r>
            <a:endParaRPr lang="en-US" sz="900" dirty="0"/>
          </a:p>
        </p:txBody>
      </p:sp>
      <p:sp>
        <p:nvSpPr>
          <p:cNvPr id="6" name="Shape 4"/>
          <p:cNvSpPr/>
          <p:nvPr/>
        </p:nvSpPr>
        <p:spPr>
          <a:xfrm>
            <a:off x="0" y="6400800"/>
            <a:ext cx="12161520" cy="457200"/>
          </a:xfrm>
          <a:prstGeom prst="rect">
            <a:avLst/>
          </a:prstGeom>
          <a:solidFill>
            <a:srgbClr val="F7F7F5"/>
          </a:solidFill>
          <a:ln w="12700">
            <a:solidFill>
              <a:srgbClr val="FFFFFF"/>
            </a:solidFill>
            <a:prstDash val="solid"/>
          </a:ln>
        </p:spPr>
      </p:sp>
      <p:sp>
        <p:nvSpPr>
          <p:cNvPr id="7" name="Shape 5"/>
          <p:cNvSpPr/>
          <p:nvPr/>
        </p:nvSpPr>
        <p:spPr>
          <a:xfrm>
            <a:off x="457200" y="6400800"/>
            <a:ext cx="11247120" cy="0"/>
          </a:xfrm>
          <a:prstGeom prst="line">
            <a:avLst/>
          </a:prstGeom>
          <a:noFill/>
          <a:ln w="6350">
            <a:solidFill>
              <a:srgbClr val="E5E5E0"/>
            </a:solidFill>
            <a:prstDash val="solid"/>
          </a:ln>
        </p:spPr>
      </p:sp>
      <p:sp>
        <p:nvSpPr>
          <p:cNvPr id="8" name="Text 6"/>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5A6275"/>
                </a:solidFill>
                <a:latin typeface="Calibri" pitchFamily="34" charset="0"/>
                <a:ea typeface="Calibri" pitchFamily="34" charset="-122"/>
                <a:cs typeface="Calibri" pitchFamily="34" charset="-120"/>
              </a:rPr>
              <a:t>G2G SEO  ·  Confidential</a:t>
            </a:r>
            <a:endParaRPr lang="en-US" sz="900" dirty="0"/>
          </a:p>
        </p:txBody>
      </p:sp>
      <p:sp>
        <p:nvSpPr>
          <p:cNvPr id="9" name="Text 7"/>
          <p:cNvSpPr/>
          <p:nvPr/>
        </p:nvSpPr>
        <p:spPr>
          <a:xfrm>
            <a:off x="457200" y="1005840"/>
            <a:ext cx="11247120" cy="548640"/>
          </a:xfrm>
          <a:prstGeom prst="rect">
            <a:avLst/>
          </a:prstGeom>
          <a:noFill/>
          <a:ln/>
        </p:spPr>
        <p:txBody>
          <a:bodyPr wrap="square" rtlCol="0" anchor="ctr"/>
          <a:lstStyle/>
          <a:p>
            <a:pPr indent="0" marL="0">
              <a:buNone/>
            </a:pPr>
            <a:r>
              <a:rPr lang="en-US" sz="2800" b="1" dirty="0">
                <a:solidFill>
                  <a:srgbClr val="1A1D26"/>
                </a:solidFill>
                <a:latin typeface="Georgia" pitchFamily="34" charset="0"/>
                <a:ea typeface="Georgia" pitchFamily="34" charset="-122"/>
                <a:cs typeface="Georgia" pitchFamily="34" charset="-120"/>
              </a:rPr>
              <a:t>We are already upgrading content this way.</a:t>
            </a:r>
            <a:endParaRPr lang="en-US" sz="2800" dirty="0"/>
          </a:p>
        </p:txBody>
      </p:sp>
      <p:sp>
        <p:nvSpPr>
          <p:cNvPr id="10" name="Text 8"/>
          <p:cNvSpPr/>
          <p:nvPr/>
        </p:nvSpPr>
        <p:spPr>
          <a:xfrm>
            <a:off x="457200" y="1554480"/>
            <a:ext cx="11247120" cy="457200"/>
          </a:xfrm>
          <a:prstGeom prst="rect">
            <a:avLst/>
          </a:prstGeom>
          <a:noFill/>
          <a:ln/>
        </p:spPr>
        <p:txBody>
          <a:bodyPr wrap="square" rtlCol="0" anchor="ctr"/>
          <a:lstStyle/>
          <a:p>
            <a:pPr indent="0" marL="0">
              <a:buNone/>
            </a:pPr>
            <a:r>
              <a:rPr lang="en-US" sz="1800" i="1" dirty="0">
                <a:solidFill>
                  <a:srgbClr val="F96167"/>
                </a:solidFill>
                <a:latin typeface="Georgia" pitchFamily="34" charset="0"/>
                <a:ea typeface="Georgia" pitchFamily="34" charset="-122"/>
                <a:cs typeface="Georgia" pitchFamily="34" charset="-120"/>
              </a:rPr>
              <a:t>But manual research can't keep pace with the scale.</a:t>
            </a:r>
            <a:endParaRPr lang="en-US" sz="1800" dirty="0"/>
          </a:p>
        </p:txBody>
      </p:sp>
      <p:sp>
        <p:nvSpPr>
          <p:cNvPr id="11" name="Shape 9"/>
          <p:cNvSpPr/>
          <p:nvPr/>
        </p:nvSpPr>
        <p:spPr>
          <a:xfrm>
            <a:off x="457200" y="2468880"/>
            <a:ext cx="5486400" cy="3200400"/>
          </a:xfrm>
          <a:prstGeom prst="rect">
            <a:avLst/>
          </a:prstGeom>
          <a:solidFill>
            <a:srgbClr val="FFFFFF"/>
          </a:solidFill>
          <a:ln w="12700">
            <a:solidFill>
              <a:srgbClr val="E5E5E0"/>
            </a:solidFill>
            <a:prstDash val="solid"/>
          </a:ln>
        </p:spPr>
      </p:sp>
      <p:sp>
        <p:nvSpPr>
          <p:cNvPr id="12" name="Text 10"/>
          <p:cNvSpPr/>
          <p:nvPr/>
        </p:nvSpPr>
        <p:spPr>
          <a:xfrm>
            <a:off x="731520" y="2697480"/>
            <a:ext cx="4937760" cy="365760"/>
          </a:xfrm>
          <a:prstGeom prst="rect">
            <a:avLst/>
          </a:prstGeom>
          <a:noFill/>
          <a:ln/>
        </p:spPr>
        <p:txBody>
          <a:bodyPr wrap="square" lIns="0" tIns="0" rIns="0" bIns="0" rtlCol="0" anchor="ctr"/>
          <a:lstStyle/>
          <a:p>
            <a:pPr indent="0" marL="0">
              <a:buNone/>
            </a:pPr>
            <a:r>
              <a:rPr lang="en-US" sz="1100" b="1" spc="300" kern="0" dirty="0">
                <a:solidFill>
                  <a:srgbClr val="5A6275"/>
                </a:solidFill>
                <a:latin typeface="Calibri" pitchFamily="34" charset="0"/>
                <a:ea typeface="Calibri" pitchFamily="34" charset="-122"/>
                <a:cs typeface="Calibri" pitchFamily="34" charset="-120"/>
              </a:rPr>
              <a:t>Manual upgrade — today</a:t>
            </a:r>
            <a:endParaRPr lang="en-US" sz="1100" dirty="0"/>
          </a:p>
        </p:txBody>
      </p:sp>
      <p:sp>
        <p:nvSpPr>
          <p:cNvPr id="13" name="Text 11"/>
          <p:cNvSpPr/>
          <p:nvPr/>
        </p:nvSpPr>
        <p:spPr>
          <a:xfrm>
            <a:off x="731520" y="3063240"/>
            <a:ext cx="4937760" cy="731520"/>
          </a:xfrm>
          <a:prstGeom prst="rect">
            <a:avLst/>
          </a:prstGeom>
          <a:noFill/>
          <a:ln/>
        </p:spPr>
        <p:txBody>
          <a:bodyPr wrap="square" lIns="0" tIns="0" rIns="0" bIns="0" rtlCol="0" anchor="ctr"/>
          <a:lstStyle/>
          <a:p>
            <a:pPr indent="0" marL="0">
              <a:buNone/>
            </a:pPr>
            <a:r>
              <a:rPr lang="en-US" sz="4800" b="1" dirty="0">
                <a:solidFill>
                  <a:srgbClr val="1A1D26"/>
                </a:solidFill>
                <a:latin typeface="Georgia" pitchFamily="34" charset="0"/>
                <a:ea typeface="Georgia" pitchFamily="34" charset="-122"/>
                <a:cs typeface="Georgia" pitchFamily="34" charset="-120"/>
              </a:rPr>
              <a:t>4-8 hours</a:t>
            </a:r>
            <a:endParaRPr lang="en-US" sz="4800" dirty="0"/>
          </a:p>
        </p:txBody>
      </p:sp>
      <p:sp>
        <p:nvSpPr>
          <p:cNvPr id="14" name="Text 12"/>
          <p:cNvSpPr/>
          <p:nvPr/>
        </p:nvSpPr>
        <p:spPr>
          <a:xfrm>
            <a:off x="731520" y="3794760"/>
            <a:ext cx="4937760" cy="365760"/>
          </a:xfrm>
          <a:prstGeom prst="rect">
            <a:avLst/>
          </a:prstGeom>
          <a:noFill/>
          <a:ln/>
        </p:spPr>
        <p:txBody>
          <a:bodyPr wrap="square" lIns="0" tIns="0" rIns="0" bIns="0" rtlCol="0" anchor="ctr"/>
          <a:lstStyle/>
          <a:p>
            <a:pPr indent="0" marL="0">
              <a:buNone/>
            </a:pPr>
            <a:r>
              <a:rPr lang="en-US" sz="1300" i="1" dirty="0">
                <a:solidFill>
                  <a:srgbClr val="5A6275"/>
                </a:solidFill>
                <a:latin typeface="Calibri" pitchFamily="34" charset="0"/>
                <a:ea typeface="Calibri" pitchFamily="34" charset="-122"/>
                <a:cs typeface="Calibri" pitchFamily="34" charset="-120"/>
              </a:rPr>
              <a:t>research time per product page</a:t>
            </a:r>
            <a:endParaRPr lang="en-US" sz="1300" dirty="0"/>
          </a:p>
        </p:txBody>
      </p:sp>
      <p:sp>
        <p:nvSpPr>
          <p:cNvPr id="15" name="Text 13"/>
          <p:cNvSpPr/>
          <p:nvPr/>
        </p:nvSpPr>
        <p:spPr>
          <a:xfrm>
            <a:off x="731520" y="4297680"/>
            <a:ext cx="4937760" cy="1188720"/>
          </a:xfrm>
          <a:prstGeom prst="rect">
            <a:avLst/>
          </a:prstGeom>
          <a:noFill/>
          <a:ln/>
        </p:spPr>
        <p:txBody>
          <a:bodyPr wrap="square" rtlCol="0" anchor="ctr"/>
          <a:lstStyle/>
          <a:p>
            <a:pPr marL="342900" indent="-342900">
              <a:spcAft>
                <a:spcPts val="400"/>
              </a:spcAft>
              <a:buSzPct val="100000"/>
              <a:buChar char="•"/>
            </a:pPr>
            <a:r>
              <a:rPr lang="en-US" sz="1200" dirty="0">
                <a:solidFill>
                  <a:srgbClr val="1A1D26"/>
                </a:solidFill>
                <a:latin typeface="Calibri" pitchFamily="34" charset="0"/>
                <a:ea typeface="Calibri" pitchFamily="34" charset="-122"/>
                <a:cs typeface="Calibri" pitchFamily="34" charset="-120"/>
              </a:rPr>
              <a:t>SERP analysis · PAA extraction</a:t>
            </a:r>
            <a:endParaRPr lang="en-US" sz="1200" dirty="0"/>
          </a:p>
          <a:p>
            <a:pPr marL="342900" indent="-342900">
              <a:spcAft>
                <a:spcPts val="400"/>
              </a:spcAft>
              <a:buSzPct val="100000"/>
              <a:buChar char="•"/>
            </a:pPr>
            <a:r>
              <a:rPr lang="en-US" sz="1200" dirty="0">
                <a:solidFill>
                  <a:srgbClr val="1A1D26"/>
                </a:solidFill>
                <a:latin typeface="Calibri" pitchFamily="34" charset="0"/>
                <a:ea typeface="Calibri" pitchFamily="34" charset="-122"/>
                <a:cs typeface="Calibri" pitchFamily="34" charset="-120"/>
              </a:rPr>
              <a:t>Competitor review · brief writing</a:t>
            </a:r>
            <a:endParaRPr lang="en-US" sz="1200" dirty="0"/>
          </a:p>
          <a:p>
            <a:pPr marL="342900" indent="-342900">
              <a:spcAft>
                <a:spcPts val="400"/>
              </a:spcAft>
              <a:buSzPct val="100000"/>
              <a:buChar char="•"/>
            </a:pPr>
            <a:r>
              <a:rPr lang="en-US" sz="1200" dirty="0">
                <a:solidFill>
                  <a:srgbClr val="1A1D26"/>
                </a:solidFill>
                <a:latin typeface="Calibri" pitchFamily="34" charset="0"/>
                <a:ea typeface="Calibri" pitchFamily="34" charset="-122"/>
                <a:cs typeface="Calibri" pitchFamily="34" charset="-120"/>
              </a:rPr>
              <a:t>Fan-out brainstorm · schema mapping</a:t>
            </a:r>
            <a:endParaRPr lang="en-US" sz="1200" dirty="0"/>
          </a:p>
        </p:txBody>
      </p:sp>
      <p:sp>
        <p:nvSpPr>
          <p:cNvPr id="16" name="Shape 14"/>
          <p:cNvSpPr/>
          <p:nvPr/>
        </p:nvSpPr>
        <p:spPr>
          <a:xfrm>
            <a:off x="6217920" y="2468880"/>
            <a:ext cx="5486400" cy="3200400"/>
          </a:xfrm>
          <a:prstGeom prst="rect">
            <a:avLst/>
          </a:prstGeom>
          <a:solidFill>
            <a:srgbClr val="2D1B1E"/>
          </a:solidFill>
          <a:ln w="12700">
            <a:solidFill>
              <a:srgbClr val="2D1B1E"/>
            </a:solidFill>
            <a:prstDash val="solid"/>
          </a:ln>
        </p:spPr>
      </p:sp>
      <p:sp>
        <p:nvSpPr>
          <p:cNvPr id="17" name="Text 15"/>
          <p:cNvSpPr/>
          <p:nvPr/>
        </p:nvSpPr>
        <p:spPr>
          <a:xfrm>
            <a:off x="6492240" y="2697480"/>
            <a:ext cx="4937760" cy="365760"/>
          </a:xfrm>
          <a:prstGeom prst="rect">
            <a:avLst/>
          </a:prstGeom>
          <a:noFill/>
          <a:ln/>
        </p:spPr>
        <p:txBody>
          <a:bodyPr wrap="square" lIns="0" tIns="0" rIns="0" bIns="0"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Needed pace — 461 winners</a:t>
            </a:r>
            <a:endParaRPr lang="en-US" sz="1100" dirty="0"/>
          </a:p>
        </p:txBody>
      </p:sp>
      <p:sp>
        <p:nvSpPr>
          <p:cNvPr id="18" name="Text 16"/>
          <p:cNvSpPr/>
          <p:nvPr/>
        </p:nvSpPr>
        <p:spPr>
          <a:xfrm>
            <a:off x="6492240" y="3063240"/>
            <a:ext cx="4937760" cy="731520"/>
          </a:xfrm>
          <a:prstGeom prst="rect">
            <a:avLst/>
          </a:prstGeom>
          <a:noFill/>
          <a:ln/>
        </p:spPr>
        <p:txBody>
          <a:bodyPr wrap="square" lIns="0" tIns="0" rIns="0" bIns="0" rtlCol="0" anchor="ctr"/>
          <a:lstStyle/>
          <a:p>
            <a:pPr indent="0" marL="0">
              <a:buNone/>
            </a:pPr>
            <a:r>
              <a:rPr lang="en-US" sz="4800" b="1" dirty="0">
                <a:solidFill>
                  <a:srgbClr val="F5F5F7"/>
                </a:solidFill>
                <a:latin typeface="Georgia" pitchFamily="34" charset="0"/>
                <a:ea typeface="Georgia" pitchFamily="34" charset="-122"/>
                <a:cs typeface="Georgia" pitchFamily="34" charset="-120"/>
              </a:rPr>
              <a:t>39+ months</a:t>
            </a:r>
            <a:endParaRPr lang="en-US" sz="4800" dirty="0"/>
          </a:p>
        </p:txBody>
      </p:sp>
      <p:sp>
        <p:nvSpPr>
          <p:cNvPr id="19" name="Text 17"/>
          <p:cNvSpPr/>
          <p:nvPr/>
        </p:nvSpPr>
        <p:spPr>
          <a:xfrm>
            <a:off x="6492240" y="3794760"/>
            <a:ext cx="4937760" cy="365760"/>
          </a:xfrm>
          <a:prstGeom prst="rect">
            <a:avLst/>
          </a:prstGeom>
          <a:noFill/>
          <a:ln/>
        </p:spPr>
        <p:txBody>
          <a:bodyPr wrap="square" lIns="0" tIns="0" rIns="0" bIns="0" rtlCol="0" anchor="ctr"/>
          <a:lstStyle/>
          <a:p>
            <a:pPr indent="0" marL="0">
              <a:buNone/>
            </a:pPr>
            <a:r>
              <a:rPr lang="en-US" sz="1300" i="1" dirty="0">
                <a:solidFill>
                  <a:srgbClr val="8B91A0"/>
                </a:solidFill>
                <a:latin typeface="Calibri" pitchFamily="34" charset="0"/>
                <a:ea typeface="Calibri" pitchFamily="34" charset="-122"/>
                <a:cs typeface="Calibri" pitchFamily="34" charset="-120"/>
              </a:rPr>
              <a:t>to manually upgrade every winner page</a:t>
            </a:r>
            <a:endParaRPr lang="en-US" sz="1300" dirty="0"/>
          </a:p>
        </p:txBody>
      </p:sp>
      <p:sp>
        <p:nvSpPr>
          <p:cNvPr id="20" name="Text 18"/>
          <p:cNvSpPr/>
          <p:nvPr/>
        </p:nvSpPr>
        <p:spPr>
          <a:xfrm>
            <a:off x="6492240" y="4297680"/>
            <a:ext cx="4937760" cy="1188720"/>
          </a:xfrm>
          <a:prstGeom prst="rect">
            <a:avLst/>
          </a:prstGeom>
          <a:noFill/>
          <a:ln/>
        </p:spPr>
        <p:txBody>
          <a:bodyPr wrap="square" rtlCol="0" anchor="ctr"/>
          <a:lstStyle/>
          <a:p>
            <a:pPr marL="342900" indent="-342900">
              <a:spcAft>
                <a:spcPts val="400"/>
              </a:spcAft>
              <a:buSzPct val="100000"/>
              <a:buChar char="•"/>
            </a:pPr>
            <a:r>
              <a:rPr lang="en-US" sz="1200" dirty="0">
                <a:solidFill>
                  <a:srgbClr val="F5F5F7"/>
                </a:solidFill>
                <a:latin typeface="Calibri" pitchFamily="34" charset="0"/>
                <a:ea typeface="Calibri" pitchFamily="34" charset="-122"/>
                <a:cs typeface="Calibri" pitchFamily="34" charset="-120"/>
              </a:rPr>
              <a:t>Search behavior shifts every quarter</a:t>
            </a:r>
            <a:endParaRPr lang="en-US" sz="1200" dirty="0"/>
          </a:p>
          <a:p>
            <a:pPr marL="342900" indent="-342900">
              <a:spcAft>
                <a:spcPts val="400"/>
              </a:spcAft>
              <a:buSzPct val="100000"/>
              <a:buChar char="•"/>
            </a:pPr>
            <a:r>
              <a:rPr lang="en-US" sz="1200" dirty="0">
                <a:solidFill>
                  <a:srgbClr val="F5F5F7"/>
                </a:solidFill>
                <a:latin typeface="Calibri" pitchFamily="34" charset="0"/>
                <a:ea typeface="Calibri" pitchFamily="34" charset="-122"/>
                <a:cs typeface="Calibri" pitchFamily="34" charset="-120"/>
              </a:rPr>
              <a:t>Competitors deepening their pages now</a:t>
            </a:r>
            <a:endParaRPr lang="en-US" sz="1200" dirty="0"/>
          </a:p>
          <a:p>
            <a:pPr marL="342900" indent="-342900">
              <a:spcAft>
                <a:spcPts val="400"/>
              </a:spcAft>
              <a:buSzPct val="100000"/>
              <a:buChar char="•"/>
            </a:pPr>
            <a:r>
              <a:rPr lang="en-US" sz="1200" dirty="0">
                <a:solidFill>
                  <a:srgbClr val="F5F5F7"/>
                </a:solidFill>
                <a:latin typeface="Calibri" pitchFamily="34" charset="0"/>
                <a:ea typeface="Calibri" pitchFamily="34" charset="-122"/>
                <a:cs typeface="Calibri" pitchFamily="34" charset="-120"/>
              </a:rPr>
              <a:t>AI Overview citations being decided today</a:t>
            </a:r>
            <a:endParaRPr lang="en-US" sz="1200" dirty="0"/>
          </a:p>
        </p:txBody>
      </p:sp>
      <p:sp>
        <p:nvSpPr>
          <p:cNvPr id="21" name="Text 19"/>
          <p:cNvSpPr/>
          <p:nvPr/>
        </p:nvSpPr>
        <p:spPr>
          <a:xfrm>
            <a:off x="457200" y="5852160"/>
            <a:ext cx="11247120" cy="457200"/>
          </a:xfrm>
          <a:prstGeom prst="rect">
            <a:avLst/>
          </a:prstGeom>
          <a:noFill/>
          <a:ln/>
        </p:spPr>
        <p:txBody>
          <a:bodyPr wrap="square" rtlCol="0" anchor="ctr"/>
          <a:lstStyle/>
          <a:p>
            <a:pPr algn="ctr" indent="0" marL="0">
              <a:buNone/>
            </a:pPr>
            <a:r>
              <a:rPr lang="en-US" sz="1800" i="1" dirty="0">
                <a:solidFill>
                  <a:srgbClr val="1A1D26"/>
                </a:solidFill>
                <a:latin typeface="Georgia" pitchFamily="34" charset="0"/>
                <a:ea typeface="Georgia" pitchFamily="34" charset="-122"/>
                <a:cs typeface="Georgia" pitchFamily="34" charset="-120"/>
              </a:rPr>
              <a:t>The approach is valid. The velocity is the bottleneck.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411480"/>
            <a:ext cx="731520" cy="457200"/>
          </a:xfrm>
          <a:prstGeom prst="rect">
            <a:avLst/>
          </a:prstGeom>
          <a:noFill/>
          <a:ln/>
        </p:spPr>
        <p:txBody>
          <a:bodyPr wrap="square" rtlCol="0" anchor="ctr"/>
          <a:lstStyle/>
          <a:p>
            <a:pPr indent="0" marL="0">
              <a:buNone/>
            </a:pPr>
            <a:r>
              <a:rPr lang="en-US" sz="1400" b="1" spc="400" kern="0" dirty="0">
                <a:solidFill>
                  <a:srgbClr val="F96167"/>
                </a:solidFill>
                <a:latin typeface="Calibri" pitchFamily="34" charset="0"/>
                <a:ea typeface="Calibri" pitchFamily="34" charset="-122"/>
                <a:cs typeface="Calibri" pitchFamily="34" charset="-120"/>
              </a:rPr>
              <a:t>06</a:t>
            </a:r>
            <a:endParaRPr lang="en-US" sz="1400" dirty="0"/>
          </a:p>
        </p:txBody>
      </p:sp>
      <p:sp>
        <p:nvSpPr>
          <p:cNvPr id="3" name="Text 1"/>
          <p:cNvSpPr/>
          <p:nvPr/>
        </p:nvSpPr>
        <p:spPr>
          <a:xfrm>
            <a:off x="1143000" y="411480"/>
            <a:ext cx="10515600" cy="457200"/>
          </a:xfrm>
          <a:prstGeom prst="rect">
            <a:avLst/>
          </a:prstGeom>
          <a:noFill/>
          <a:ln/>
        </p:spPr>
        <p:txBody>
          <a:bodyPr wrap="square" rtlCol="0" anchor="ctr"/>
          <a:lstStyle/>
          <a:p>
            <a:pPr indent="0" marL="0">
              <a:buNone/>
            </a:pPr>
            <a:r>
              <a:rPr lang="en-US" sz="1400" spc="400" kern="0" dirty="0">
                <a:solidFill>
                  <a:srgbClr val="8B91A0"/>
                </a:solidFill>
                <a:latin typeface="Calibri" pitchFamily="34" charset="0"/>
                <a:ea typeface="Calibri" pitchFamily="34" charset="-122"/>
                <a:cs typeface="Calibri" pitchFamily="34" charset="-120"/>
              </a:rPr>
              <a:t>CONTENT KIT BUILDER</a:t>
            </a:r>
            <a:endParaRPr lang="en-US" sz="1400" dirty="0"/>
          </a:p>
        </p:txBody>
      </p:sp>
      <p:sp>
        <p:nvSpPr>
          <p:cNvPr id="4" name="Shape 2"/>
          <p:cNvSpPr/>
          <p:nvPr/>
        </p:nvSpPr>
        <p:spPr>
          <a:xfrm>
            <a:off x="457200" y="6400800"/>
            <a:ext cx="11247120" cy="0"/>
          </a:xfrm>
          <a:prstGeom prst="line">
            <a:avLst/>
          </a:prstGeom>
          <a:noFill/>
          <a:ln w="6350">
            <a:solidFill>
              <a:srgbClr val="2B2F3A"/>
            </a:solidFill>
            <a:prstDash val="solid"/>
          </a:ln>
        </p:spPr>
      </p:sp>
      <p:sp>
        <p:nvSpPr>
          <p:cNvPr id="5" name="Text 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8B91A0"/>
                </a:solidFill>
                <a:latin typeface="Calibri" pitchFamily="34" charset="0"/>
                <a:ea typeface="Calibri" pitchFamily="34" charset="-122"/>
                <a:cs typeface="Calibri" pitchFamily="34" charset="-120"/>
              </a:rPr>
              <a:t>G2G SEO  ·  Confidential</a:t>
            </a:r>
            <a:endParaRPr lang="en-US" sz="900" dirty="0"/>
          </a:p>
        </p:txBody>
      </p:sp>
      <p:sp>
        <p:nvSpPr>
          <p:cNvPr id="6" name="Text 4"/>
          <p:cNvSpPr/>
          <p:nvPr/>
        </p:nvSpPr>
        <p:spPr>
          <a:xfrm>
            <a:off x="457200" y="1005840"/>
            <a:ext cx="11247120" cy="548640"/>
          </a:xfrm>
          <a:prstGeom prst="rect">
            <a:avLst/>
          </a:prstGeom>
          <a:noFill/>
          <a:ln/>
        </p:spPr>
        <p:txBody>
          <a:bodyPr wrap="square" rtlCol="0" anchor="ctr"/>
          <a:lstStyle/>
          <a:p>
            <a:pPr indent="0" marL="0">
              <a:buNone/>
            </a:pPr>
            <a:r>
              <a:rPr lang="en-US" sz="2600" b="1" dirty="0">
                <a:solidFill>
                  <a:srgbClr val="F5F5F7"/>
                </a:solidFill>
                <a:latin typeface="Georgia" pitchFamily="34" charset="0"/>
                <a:ea typeface="Georgia" pitchFamily="34" charset="-122"/>
                <a:cs typeface="Georgia" pitchFamily="34" charset="-120"/>
              </a:rPr>
              <a:t>One winner keyword in.</a:t>
            </a:r>
            <a:endParaRPr lang="en-US" sz="2600" dirty="0"/>
          </a:p>
        </p:txBody>
      </p:sp>
      <p:sp>
        <p:nvSpPr>
          <p:cNvPr id="7" name="Text 5"/>
          <p:cNvSpPr/>
          <p:nvPr/>
        </p:nvSpPr>
        <p:spPr>
          <a:xfrm>
            <a:off x="457200" y="1554480"/>
            <a:ext cx="11247120" cy="457200"/>
          </a:xfrm>
          <a:prstGeom prst="rect">
            <a:avLst/>
          </a:prstGeom>
          <a:noFill/>
          <a:ln/>
        </p:spPr>
        <p:txBody>
          <a:bodyPr wrap="square" rtlCol="0" anchor="ctr"/>
          <a:lstStyle/>
          <a:p>
            <a:pPr indent="0" marL="0">
              <a:buNone/>
            </a:pPr>
            <a:r>
              <a:rPr lang="en-US" sz="1800" i="1" dirty="0">
                <a:solidFill>
                  <a:srgbClr val="F96167"/>
                </a:solidFill>
                <a:latin typeface="Georgia" pitchFamily="34" charset="0"/>
                <a:ea typeface="Georgia" pitchFamily="34" charset="-122"/>
                <a:cs typeface="Georgia" pitchFamily="34" charset="-120"/>
              </a:rPr>
              <a:t>One comprehensive product page brief out.</a:t>
            </a:r>
            <a:endParaRPr lang="en-US" sz="1800" dirty="0"/>
          </a:p>
        </p:txBody>
      </p:sp>
      <p:sp>
        <p:nvSpPr>
          <p:cNvPr id="8" name="Shape 6"/>
          <p:cNvSpPr/>
          <p:nvPr/>
        </p:nvSpPr>
        <p:spPr>
          <a:xfrm>
            <a:off x="457200" y="2468880"/>
            <a:ext cx="3657600" cy="3291840"/>
          </a:xfrm>
          <a:prstGeom prst="rect">
            <a:avLst/>
          </a:prstGeom>
          <a:solidFill>
            <a:srgbClr val="1A1D26"/>
          </a:solidFill>
          <a:ln w="12700">
            <a:solidFill>
              <a:srgbClr val="2B2F3A"/>
            </a:solidFill>
            <a:prstDash val="solid"/>
          </a:ln>
        </p:spPr>
      </p:sp>
      <p:sp>
        <p:nvSpPr>
          <p:cNvPr id="9" name="Text 7"/>
          <p:cNvSpPr/>
          <p:nvPr/>
        </p:nvSpPr>
        <p:spPr>
          <a:xfrm>
            <a:off x="731520" y="2697480"/>
            <a:ext cx="3108960" cy="365760"/>
          </a:xfrm>
          <a:prstGeom prst="rect">
            <a:avLst/>
          </a:prstGeom>
          <a:noFill/>
          <a:ln/>
        </p:spPr>
        <p:txBody>
          <a:bodyPr wrap="square" lIns="0" tIns="0" rIns="0" bIns="0" rtlCol="0" anchor="ctr"/>
          <a:lstStyle/>
          <a:p>
            <a:pPr indent="0" marL="0">
              <a:buNone/>
            </a:pPr>
            <a:r>
              <a:rPr lang="en-US" sz="1100" b="1" spc="400" kern="0" dirty="0">
                <a:solidFill>
                  <a:srgbClr val="8B91A0"/>
                </a:solidFill>
                <a:latin typeface="Calibri" pitchFamily="34" charset="0"/>
                <a:ea typeface="Calibri" pitchFamily="34" charset="-122"/>
                <a:cs typeface="Calibri" pitchFamily="34" charset="-120"/>
              </a:rPr>
              <a:t>INPUT</a:t>
            </a:r>
            <a:endParaRPr lang="en-US" sz="1100" dirty="0"/>
          </a:p>
        </p:txBody>
      </p:sp>
      <p:sp>
        <p:nvSpPr>
          <p:cNvPr id="10" name="Text 8"/>
          <p:cNvSpPr/>
          <p:nvPr/>
        </p:nvSpPr>
        <p:spPr>
          <a:xfrm>
            <a:off x="731520" y="3154680"/>
            <a:ext cx="3108960" cy="2377440"/>
          </a:xfrm>
          <a:prstGeom prst="rect">
            <a:avLst/>
          </a:prstGeom>
          <a:noFill/>
          <a:ln/>
        </p:spPr>
        <p:txBody>
          <a:bodyPr wrap="square" rtlCol="0" anchor="t"/>
          <a:lstStyle/>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1 cluster winner KW</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from existing Keyword Master</a:t>
            </a:r>
            <a:endParaRPr lang="en-US" sz="1300" dirty="0"/>
          </a:p>
        </p:txBody>
      </p:sp>
      <p:sp>
        <p:nvSpPr>
          <p:cNvPr id="11" name="Shape 9"/>
          <p:cNvSpPr/>
          <p:nvPr/>
        </p:nvSpPr>
        <p:spPr>
          <a:xfrm>
            <a:off x="4251960" y="2468880"/>
            <a:ext cx="3657600" cy="3291840"/>
          </a:xfrm>
          <a:prstGeom prst="rect">
            <a:avLst/>
          </a:prstGeom>
          <a:solidFill>
            <a:srgbClr val="2D1B1E"/>
          </a:solidFill>
          <a:ln w="25400">
            <a:solidFill>
              <a:srgbClr val="F96167"/>
            </a:solidFill>
            <a:prstDash val="solid"/>
          </a:ln>
        </p:spPr>
      </p:sp>
      <p:sp>
        <p:nvSpPr>
          <p:cNvPr id="12" name="Text 10"/>
          <p:cNvSpPr/>
          <p:nvPr/>
        </p:nvSpPr>
        <p:spPr>
          <a:xfrm>
            <a:off x="4526280" y="2697480"/>
            <a:ext cx="3108960" cy="365760"/>
          </a:xfrm>
          <a:prstGeom prst="rect">
            <a:avLst/>
          </a:prstGeom>
          <a:noFill/>
          <a:ln/>
        </p:spPr>
        <p:txBody>
          <a:bodyPr wrap="square" lIns="0" tIns="0" rIns="0" bIns="0" rtlCol="0" anchor="ctr"/>
          <a:lstStyle/>
          <a:p>
            <a:pPr indent="0" marL="0">
              <a:buNone/>
            </a:pPr>
            <a:r>
              <a:rPr lang="en-US" sz="1100" b="1" spc="400" kern="0" dirty="0">
                <a:solidFill>
                  <a:srgbClr val="F96167"/>
                </a:solidFill>
                <a:latin typeface="Calibri" pitchFamily="34" charset="0"/>
                <a:ea typeface="Calibri" pitchFamily="34" charset="-122"/>
                <a:cs typeface="Calibri" pitchFamily="34" charset="-120"/>
              </a:rPr>
              <a:t>PROCESS (~45 sec)</a:t>
            </a:r>
            <a:endParaRPr lang="en-US" sz="1100" dirty="0"/>
          </a:p>
        </p:txBody>
      </p:sp>
      <p:sp>
        <p:nvSpPr>
          <p:cNvPr id="13" name="Text 11"/>
          <p:cNvSpPr/>
          <p:nvPr/>
        </p:nvSpPr>
        <p:spPr>
          <a:xfrm>
            <a:off x="4526280" y="3154680"/>
            <a:ext cx="3108960" cy="2377440"/>
          </a:xfrm>
          <a:prstGeom prst="rect">
            <a:avLst/>
          </a:prstGeom>
          <a:noFill/>
          <a:ln/>
        </p:spPr>
        <p:txBody>
          <a:bodyPr wrap="square" rtlCol="0" anchor="t"/>
          <a:lstStyle/>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SERP scrape (PAA + related)</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Semantic expansion (DFS Labs)</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Long-tail integration (Hugin)</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Intent classifier (filter)</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Fan-out generator (Haiku)</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Content gap analysis</a:t>
            </a:r>
            <a:endParaRPr lang="en-US" sz="1300" dirty="0"/>
          </a:p>
        </p:txBody>
      </p:sp>
      <p:sp>
        <p:nvSpPr>
          <p:cNvPr id="14" name="Shape 12"/>
          <p:cNvSpPr/>
          <p:nvPr/>
        </p:nvSpPr>
        <p:spPr>
          <a:xfrm>
            <a:off x="8046720" y="2468880"/>
            <a:ext cx="3657600" cy="3291840"/>
          </a:xfrm>
          <a:prstGeom prst="rect">
            <a:avLst/>
          </a:prstGeom>
          <a:solidFill>
            <a:srgbClr val="1A1D26"/>
          </a:solidFill>
          <a:ln w="12700">
            <a:solidFill>
              <a:srgbClr val="2B2F3A"/>
            </a:solidFill>
            <a:prstDash val="solid"/>
          </a:ln>
        </p:spPr>
      </p:sp>
      <p:sp>
        <p:nvSpPr>
          <p:cNvPr id="15" name="Text 13"/>
          <p:cNvSpPr/>
          <p:nvPr/>
        </p:nvSpPr>
        <p:spPr>
          <a:xfrm>
            <a:off x="8321040" y="2697480"/>
            <a:ext cx="3108960" cy="365760"/>
          </a:xfrm>
          <a:prstGeom prst="rect">
            <a:avLst/>
          </a:prstGeom>
          <a:noFill/>
          <a:ln/>
        </p:spPr>
        <p:txBody>
          <a:bodyPr wrap="square" lIns="0" tIns="0" rIns="0" bIns="0" rtlCol="0" anchor="ctr"/>
          <a:lstStyle/>
          <a:p>
            <a:pPr indent="0" marL="0">
              <a:buNone/>
            </a:pPr>
            <a:r>
              <a:rPr lang="en-US" sz="1100" b="1" spc="400" kern="0" dirty="0">
                <a:solidFill>
                  <a:srgbClr val="8B91A0"/>
                </a:solidFill>
                <a:latin typeface="Calibri" pitchFamily="34" charset="0"/>
                <a:ea typeface="Calibri" pitchFamily="34" charset="-122"/>
                <a:cs typeface="Calibri" pitchFamily="34" charset="-120"/>
              </a:rPr>
              <a:t>OUTPUT</a:t>
            </a:r>
            <a:endParaRPr lang="en-US" sz="1100" dirty="0"/>
          </a:p>
        </p:txBody>
      </p:sp>
      <p:sp>
        <p:nvSpPr>
          <p:cNvPr id="16" name="Text 14"/>
          <p:cNvSpPr/>
          <p:nvPr/>
        </p:nvSpPr>
        <p:spPr>
          <a:xfrm>
            <a:off x="8321040" y="3154680"/>
            <a:ext cx="3108960" cy="2377440"/>
          </a:xfrm>
          <a:prstGeom prst="rect">
            <a:avLst/>
          </a:prstGeom>
          <a:noFill/>
          <a:ln/>
        </p:spPr>
        <p:txBody>
          <a:bodyPr wrap="square" rtlCol="0" anchor="t"/>
          <a:lstStyle/>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Section blueprint (5-7 H2)</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FAQ (EN + ID side-by-side)</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Fan-out passages library</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Keyword placement map</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Cross-link suggestions</a:t>
            </a:r>
            <a:endParaRPr lang="en-US" sz="1300" dirty="0"/>
          </a:p>
          <a:p>
            <a:pPr marL="342900" indent="-342900">
              <a:spcAft>
                <a:spcPts val="600"/>
              </a:spcAft>
              <a:buSzPct val="100000"/>
              <a:buChar char="•"/>
            </a:pPr>
            <a:r>
              <a:rPr lang="en-US" sz="1300" dirty="0">
                <a:solidFill>
                  <a:srgbClr val="F5F5F7"/>
                </a:solidFill>
                <a:latin typeface="Calibri" pitchFamily="34" charset="0"/>
                <a:ea typeface="Calibri" pitchFamily="34" charset="-122"/>
                <a:cs typeface="Calibri" pitchFamily="34" charset="-120"/>
              </a:rPr>
              <a:t>FAQPage JSON-LD schema</a:t>
            </a:r>
            <a:endParaRPr lang="en-US" sz="1300" dirty="0"/>
          </a:p>
        </p:txBody>
      </p:sp>
      <p:sp>
        <p:nvSpPr>
          <p:cNvPr id="17" name="Shape 15"/>
          <p:cNvSpPr/>
          <p:nvPr/>
        </p:nvSpPr>
        <p:spPr>
          <a:xfrm>
            <a:off x="4123944" y="4114800"/>
            <a:ext cx="118872" cy="0"/>
          </a:xfrm>
          <a:prstGeom prst="line">
            <a:avLst/>
          </a:prstGeom>
          <a:noFill/>
          <a:ln w="25400">
            <a:solidFill>
              <a:srgbClr val="F96167"/>
            </a:solidFill>
            <a:prstDash val="solid"/>
            <a:tailEnd type="triangle"/>
          </a:ln>
        </p:spPr>
      </p:sp>
      <p:sp>
        <p:nvSpPr>
          <p:cNvPr id="18" name="Shape 16"/>
          <p:cNvSpPr/>
          <p:nvPr/>
        </p:nvSpPr>
        <p:spPr>
          <a:xfrm>
            <a:off x="7918704" y="4114800"/>
            <a:ext cx="118872" cy="0"/>
          </a:xfrm>
          <a:prstGeom prst="line">
            <a:avLst/>
          </a:prstGeom>
          <a:noFill/>
          <a:ln w="25400">
            <a:solidFill>
              <a:srgbClr val="F96167"/>
            </a:solidFill>
            <a:prstDash val="solid"/>
            <a:tailEnd type="triangle"/>
          </a:ln>
        </p:spPr>
      </p:sp>
      <p:sp>
        <p:nvSpPr>
          <p:cNvPr id="19" name="Text 17"/>
          <p:cNvSpPr/>
          <p:nvPr/>
        </p:nvSpPr>
        <p:spPr>
          <a:xfrm>
            <a:off x="457200" y="5989320"/>
            <a:ext cx="11247120" cy="365760"/>
          </a:xfrm>
          <a:prstGeom prst="rect">
            <a:avLst/>
          </a:prstGeom>
          <a:noFill/>
          <a:ln/>
        </p:spPr>
        <p:txBody>
          <a:bodyPr wrap="square" rtlCol="0" anchor="ctr"/>
          <a:lstStyle/>
          <a:p>
            <a:pPr algn="ctr" indent="0" marL="0">
              <a:buNone/>
            </a:pPr>
            <a:r>
              <a:rPr lang="en-US" sz="1600" i="1" dirty="0">
                <a:solidFill>
                  <a:srgbClr val="8B91A0"/>
                </a:solidFill>
                <a:latin typeface="Georgia" pitchFamily="34" charset="0"/>
                <a:ea typeface="Georgia" pitchFamily="34" charset="-122"/>
                <a:cs typeface="Georgia" pitchFamily="34" charset="-120"/>
              </a:rPr>
              <a:t>From one keyword winner, into one product page that owns the entire topic.</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457200" y="411480"/>
            <a:ext cx="731520" cy="457200"/>
          </a:xfrm>
          <a:prstGeom prst="rect">
            <a:avLst/>
          </a:prstGeom>
          <a:noFill/>
          <a:ln/>
        </p:spPr>
        <p:txBody>
          <a:bodyPr wrap="square" rtlCol="0" anchor="ctr"/>
          <a:lstStyle/>
          <a:p>
            <a:pPr indent="0" marL="0">
              <a:buNone/>
            </a:pPr>
            <a:r>
              <a:rPr lang="en-US" sz="1400" b="1" spc="400" kern="0" dirty="0">
                <a:solidFill>
                  <a:srgbClr val="F96167"/>
                </a:solidFill>
                <a:latin typeface="Calibri" pitchFamily="34" charset="0"/>
                <a:ea typeface="Calibri" pitchFamily="34" charset="-122"/>
                <a:cs typeface="Calibri" pitchFamily="34" charset="-120"/>
              </a:rPr>
              <a:t>07</a:t>
            </a:r>
            <a:endParaRPr lang="en-US" sz="1400" dirty="0"/>
          </a:p>
        </p:txBody>
      </p:sp>
      <p:sp>
        <p:nvSpPr>
          <p:cNvPr id="3" name="Text 1"/>
          <p:cNvSpPr/>
          <p:nvPr/>
        </p:nvSpPr>
        <p:spPr>
          <a:xfrm>
            <a:off x="1143000" y="411480"/>
            <a:ext cx="10515600" cy="457200"/>
          </a:xfrm>
          <a:prstGeom prst="rect">
            <a:avLst/>
          </a:prstGeom>
          <a:noFill/>
          <a:ln/>
        </p:spPr>
        <p:txBody>
          <a:bodyPr wrap="square" rtlCol="0" anchor="ctr"/>
          <a:lstStyle/>
          <a:p>
            <a:pPr indent="0" marL="0">
              <a:buNone/>
            </a:pPr>
            <a:r>
              <a:rPr lang="en-US" sz="1400" spc="400" kern="0" dirty="0">
                <a:solidFill>
                  <a:srgbClr val="8B91A0"/>
                </a:solidFill>
                <a:latin typeface="Calibri" pitchFamily="34" charset="0"/>
                <a:ea typeface="Calibri" pitchFamily="34" charset="-122"/>
                <a:cs typeface="Calibri" pitchFamily="34" charset="-120"/>
              </a:rPr>
              <a:t>DEMO — REAL EXAMPLE</a:t>
            </a:r>
            <a:endParaRPr lang="en-US" sz="1400" dirty="0"/>
          </a:p>
        </p:txBody>
      </p:sp>
      <p:sp>
        <p:nvSpPr>
          <p:cNvPr id="4" name="Shape 2"/>
          <p:cNvSpPr/>
          <p:nvPr/>
        </p:nvSpPr>
        <p:spPr>
          <a:xfrm>
            <a:off x="457200" y="6400800"/>
            <a:ext cx="11247120" cy="0"/>
          </a:xfrm>
          <a:prstGeom prst="line">
            <a:avLst/>
          </a:prstGeom>
          <a:noFill/>
          <a:ln w="6350">
            <a:solidFill>
              <a:srgbClr val="2B2F3A"/>
            </a:solidFill>
            <a:prstDash val="solid"/>
          </a:ln>
        </p:spPr>
      </p:sp>
      <p:sp>
        <p:nvSpPr>
          <p:cNvPr id="5" name="Text 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8B91A0"/>
                </a:solidFill>
                <a:latin typeface="Calibri" pitchFamily="34" charset="0"/>
                <a:ea typeface="Calibri" pitchFamily="34" charset="-122"/>
                <a:cs typeface="Calibri" pitchFamily="34" charset="-120"/>
              </a:rPr>
              <a:t>G2G SEO  ·  Confidential</a:t>
            </a:r>
            <a:endParaRPr lang="en-US" sz="900" dirty="0"/>
          </a:p>
        </p:txBody>
      </p:sp>
      <p:sp>
        <p:nvSpPr>
          <p:cNvPr id="6" name="Shape 4"/>
          <p:cNvSpPr/>
          <p:nvPr/>
        </p:nvSpPr>
        <p:spPr>
          <a:xfrm>
            <a:off x="0" y="6400800"/>
            <a:ext cx="12161520" cy="457200"/>
          </a:xfrm>
          <a:prstGeom prst="rect">
            <a:avLst/>
          </a:prstGeom>
          <a:solidFill>
            <a:srgbClr val="F7F7F5"/>
          </a:solidFill>
          <a:ln w="12700">
            <a:solidFill>
              <a:srgbClr val="FFFFFF"/>
            </a:solidFill>
            <a:prstDash val="solid"/>
          </a:ln>
        </p:spPr>
      </p:sp>
      <p:sp>
        <p:nvSpPr>
          <p:cNvPr id="7" name="Shape 5"/>
          <p:cNvSpPr/>
          <p:nvPr/>
        </p:nvSpPr>
        <p:spPr>
          <a:xfrm>
            <a:off x="457200" y="6400800"/>
            <a:ext cx="11247120" cy="0"/>
          </a:xfrm>
          <a:prstGeom prst="line">
            <a:avLst/>
          </a:prstGeom>
          <a:noFill/>
          <a:ln w="6350">
            <a:solidFill>
              <a:srgbClr val="E5E5E0"/>
            </a:solidFill>
            <a:prstDash val="solid"/>
          </a:ln>
        </p:spPr>
      </p:sp>
      <p:sp>
        <p:nvSpPr>
          <p:cNvPr id="8" name="Text 6"/>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5A6275"/>
                </a:solidFill>
                <a:latin typeface="Calibri" pitchFamily="34" charset="0"/>
                <a:ea typeface="Calibri" pitchFamily="34" charset="-122"/>
                <a:cs typeface="Calibri" pitchFamily="34" charset="-120"/>
              </a:rPr>
              <a:t>G2G SEO  ·  Confidential</a:t>
            </a:r>
            <a:endParaRPr lang="en-US" sz="900" dirty="0"/>
          </a:p>
        </p:txBody>
      </p:sp>
      <p:sp>
        <p:nvSpPr>
          <p:cNvPr id="9" name="Text 7"/>
          <p:cNvSpPr/>
          <p:nvPr/>
        </p:nvSpPr>
        <p:spPr>
          <a:xfrm>
            <a:off x="457200" y="1005840"/>
            <a:ext cx="11247120" cy="548640"/>
          </a:xfrm>
          <a:prstGeom prst="rect">
            <a:avLst/>
          </a:prstGeom>
          <a:noFill/>
          <a:ln/>
        </p:spPr>
        <p:txBody>
          <a:bodyPr wrap="square" rtlCol="0" anchor="ctr"/>
          <a:lstStyle/>
          <a:p>
            <a:pPr indent="0" marL="0">
              <a:buNone/>
            </a:pPr>
            <a:r>
              <a:rPr lang="en-US" sz="2400" b="1" dirty="0">
                <a:solidFill>
                  <a:srgbClr val="1A1D26"/>
                </a:solidFill>
                <a:latin typeface="Georgia" pitchFamily="34" charset="0"/>
                <a:ea typeface="Georgia" pitchFamily="34" charset="-122"/>
                <a:cs typeface="Georgia" pitchFamily="34" charset="-120"/>
              </a:rPr>
              <a:t>Path of Exile 2 — "cheap poe 2 item"</a:t>
            </a:r>
            <a:endParaRPr lang="en-US" sz="2400" dirty="0"/>
          </a:p>
        </p:txBody>
      </p:sp>
      <p:sp>
        <p:nvSpPr>
          <p:cNvPr id="10" name="Text 8"/>
          <p:cNvSpPr/>
          <p:nvPr/>
        </p:nvSpPr>
        <p:spPr>
          <a:xfrm>
            <a:off x="457200" y="1508760"/>
            <a:ext cx="11247120" cy="365760"/>
          </a:xfrm>
          <a:prstGeom prst="rect">
            <a:avLst/>
          </a:prstGeom>
          <a:noFill/>
          <a:ln/>
        </p:spPr>
        <p:txBody>
          <a:bodyPr wrap="square" rtlCol="0" anchor="ctr"/>
          <a:lstStyle/>
          <a:p>
            <a:pPr indent="0" marL="0">
              <a:buNone/>
            </a:pPr>
            <a:r>
              <a:rPr lang="en-US" sz="1400" i="1" dirty="0">
                <a:solidFill>
                  <a:srgbClr val="5A6275"/>
                </a:solidFill>
                <a:latin typeface="Calibri" pitchFamily="34" charset="0"/>
                <a:ea typeface="Calibri" pitchFamily="34" charset="-122"/>
                <a:cs typeface="Calibri" pitchFamily="34" charset="-120"/>
              </a:rPr>
              <a:t>Real winner KW · Tier 1 · EN · Currently ranked #2</a:t>
            </a:r>
            <a:endParaRPr lang="en-US" sz="1400" dirty="0"/>
          </a:p>
        </p:txBody>
      </p:sp>
      <p:sp>
        <p:nvSpPr>
          <p:cNvPr id="11" name="Shape 9"/>
          <p:cNvSpPr/>
          <p:nvPr/>
        </p:nvSpPr>
        <p:spPr>
          <a:xfrm>
            <a:off x="971550" y="2194560"/>
            <a:ext cx="731520" cy="731520"/>
          </a:xfrm>
          <a:prstGeom prst="ellipse">
            <a:avLst/>
          </a:prstGeom>
          <a:solidFill>
            <a:srgbClr val="F96167"/>
          </a:solidFill>
          <a:ln w="12700">
            <a:solidFill>
              <a:srgbClr val="F96167"/>
            </a:solidFill>
            <a:prstDash val="solid"/>
          </a:ln>
        </p:spPr>
      </p:sp>
      <p:sp>
        <p:nvSpPr>
          <p:cNvPr id="12" name="Text 10"/>
          <p:cNvSpPr/>
          <p:nvPr/>
        </p:nvSpPr>
        <p:spPr>
          <a:xfrm>
            <a:off x="971550" y="21945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13" name="Text 11"/>
          <p:cNvSpPr/>
          <p:nvPr/>
        </p:nvSpPr>
        <p:spPr>
          <a:xfrm>
            <a:off x="457200" y="3017520"/>
            <a:ext cx="1760220" cy="320040"/>
          </a:xfrm>
          <a:prstGeom prst="rect">
            <a:avLst/>
          </a:prstGeom>
          <a:noFill/>
          <a:ln/>
        </p:spPr>
        <p:txBody>
          <a:bodyPr wrap="square" lIns="0" tIns="0" rIns="0" bIns="0" rtlCol="0" anchor="ctr"/>
          <a:lstStyle/>
          <a:p>
            <a:pPr algn="ctr" indent="0" marL="0">
              <a:buNone/>
            </a:pPr>
            <a:r>
              <a:rPr lang="en-US" sz="1100" b="1" spc="200" kern="0" dirty="0">
                <a:solidFill>
                  <a:srgbClr val="1A1D26"/>
                </a:solidFill>
                <a:latin typeface="Calibri" pitchFamily="34" charset="0"/>
                <a:ea typeface="Calibri" pitchFamily="34" charset="-122"/>
                <a:cs typeface="Calibri" pitchFamily="34" charset="-120"/>
              </a:rPr>
              <a:t>CLICK</a:t>
            </a:r>
            <a:endParaRPr lang="en-US" sz="1100" dirty="0"/>
          </a:p>
        </p:txBody>
      </p:sp>
      <p:sp>
        <p:nvSpPr>
          <p:cNvPr id="14" name="Text 12"/>
          <p:cNvSpPr/>
          <p:nvPr/>
        </p:nvSpPr>
        <p:spPr>
          <a:xfrm>
            <a:off x="457200" y="3337560"/>
            <a:ext cx="1760220" cy="411480"/>
          </a:xfrm>
          <a:prstGeom prst="rect">
            <a:avLst/>
          </a:prstGeom>
          <a:noFill/>
          <a:ln/>
        </p:spPr>
        <p:txBody>
          <a:bodyPr wrap="square" lIns="0" tIns="0" rIns="0" bIns="0" rtlCol="0" anchor="ctr"/>
          <a:lstStyle/>
          <a:p>
            <a:pPr algn="ctr" indent="0" marL="0">
              <a:buNone/>
            </a:pPr>
            <a:r>
              <a:rPr lang="en-US" sz="1000" dirty="0">
                <a:solidFill>
                  <a:srgbClr val="5A6275"/>
                </a:solidFill>
                <a:latin typeface="Calibri" pitchFamily="34" charset="0"/>
                <a:ea typeface="Calibri" pitchFamily="34" charset="-122"/>
                <a:cs typeface="Calibri" pitchFamily="34" charset="-120"/>
              </a:rPr>
              <a:t>Build Content Kit on winner row</a:t>
            </a:r>
            <a:endParaRPr lang="en-US" sz="1000" dirty="0"/>
          </a:p>
        </p:txBody>
      </p:sp>
      <p:sp>
        <p:nvSpPr>
          <p:cNvPr id="15" name="Shape 13"/>
          <p:cNvSpPr/>
          <p:nvPr/>
        </p:nvSpPr>
        <p:spPr>
          <a:xfrm>
            <a:off x="2217420" y="2560320"/>
            <a:ext cx="137160" cy="0"/>
          </a:xfrm>
          <a:prstGeom prst="line">
            <a:avLst/>
          </a:prstGeom>
          <a:noFill/>
          <a:ln w="25400">
            <a:solidFill>
              <a:srgbClr val="F96167"/>
            </a:solidFill>
            <a:prstDash val="solid"/>
          </a:ln>
        </p:spPr>
      </p:sp>
      <p:sp>
        <p:nvSpPr>
          <p:cNvPr id="16" name="Shape 14"/>
          <p:cNvSpPr/>
          <p:nvPr/>
        </p:nvSpPr>
        <p:spPr>
          <a:xfrm>
            <a:off x="2868930" y="2194560"/>
            <a:ext cx="731520" cy="731520"/>
          </a:xfrm>
          <a:prstGeom prst="ellipse">
            <a:avLst/>
          </a:prstGeom>
          <a:solidFill>
            <a:srgbClr val="F96167"/>
          </a:solidFill>
          <a:ln w="12700">
            <a:solidFill>
              <a:srgbClr val="F96167"/>
            </a:solidFill>
            <a:prstDash val="solid"/>
          </a:ln>
        </p:spPr>
      </p:sp>
      <p:sp>
        <p:nvSpPr>
          <p:cNvPr id="17" name="Text 15"/>
          <p:cNvSpPr/>
          <p:nvPr/>
        </p:nvSpPr>
        <p:spPr>
          <a:xfrm>
            <a:off x="2868930" y="21945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8" name="Text 16"/>
          <p:cNvSpPr/>
          <p:nvPr/>
        </p:nvSpPr>
        <p:spPr>
          <a:xfrm>
            <a:off x="2354580" y="3017520"/>
            <a:ext cx="1760220" cy="320040"/>
          </a:xfrm>
          <a:prstGeom prst="rect">
            <a:avLst/>
          </a:prstGeom>
          <a:noFill/>
          <a:ln/>
        </p:spPr>
        <p:txBody>
          <a:bodyPr wrap="square" lIns="0" tIns="0" rIns="0" bIns="0" rtlCol="0" anchor="ctr"/>
          <a:lstStyle/>
          <a:p>
            <a:pPr algn="ctr" indent="0" marL="0">
              <a:buNone/>
            </a:pPr>
            <a:r>
              <a:rPr lang="en-US" sz="1100" b="1" spc="200" kern="0" dirty="0">
                <a:solidFill>
                  <a:srgbClr val="1A1D26"/>
                </a:solidFill>
                <a:latin typeface="Calibri" pitchFamily="34" charset="0"/>
                <a:ea typeface="Calibri" pitchFamily="34" charset="-122"/>
                <a:cs typeface="Calibri" pitchFamily="34" charset="-120"/>
              </a:rPr>
              <a:t>ANALYZE</a:t>
            </a:r>
            <a:endParaRPr lang="en-US" sz="1100" dirty="0"/>
          </a:p>
        </p:txBody>
      </p:sp>
      <p:sp>
        <p:nvSpPr>
          <p:cNvPr id="19" name="Text 17"/>
          <p:cNvSpPr/>
          <p:nvPr/>
        </p:nvSpPr>
        <p:spPr>
          <a:xfrm>
            <a:off x="2354580" y="3337560"/>
            <a:ext cx="1760220" cy="411480"/>
          </a:xfrm>
          <a:prstGeom prst="rect">
            <a:avLst/>
          </a:prstGeom>
          <a:noFill/>
          <a:ln/>
        </p:spPr>
        <p:txBody>
          <a:bodyPr wrap="square" lIns="0" tIns="0" rIns="0" bIns="0" rtlCol="0" anchor="ctr"/>
          <a:lstStyle/>
          <a:p>
            <a:pPr algn="ctr" indent="0" marL="0">
              <a:buNone/>
            </a:pPr>
            <a:r>
              <a:rPr lang="en-US" sz="1000" dirty="0">
                <a:solidFill>
                  <a:srgbClr val="5A6275"/>
                </a:solidFill>
                <a:latin typeface="Calibri" pitchFamily="34" charset="0"/>
                <a:ea typeface="Calibri" pitchFamily="34" charset="-122"/>
                <a:cs typeface="Calibri" pitchFamily="34" charset="-120"/>
              </a:rPr>
              <a:t>SERP + intent classifier · 45 sec</a:t>
            </a:r>
            <a:endParaRPr lang="en-US" sz="1000" dirty="0"/>
          </a:p>
        </p:txBody>
      </p:sp>
      <p:sp>
        <p:nvSpPr>
          <p:cNvPr id="20" name="Shape 18"/>
          <p:cNvSpPr/>
          <p:nvPr/>
        </p:nvSpPr>
        <p:spPr>
          <a:xfrm>
            <a:off x="4114800" y="2560320"/>
            <a:ext cx="137160" cy="0"/>
          </a:xfrm>
          <a:prstGeom prst="line">
            <a:avLst/>
          </a:prstGeom>
          <a:noFill/>
          <a:ln w="25400">
            <a:solidFill>
              <a:srgbClr val="F96167"/>
            </a:solidFill>
            <a:prstDash val="solid"/>
          </a:ln>
        </p:spPr>
      </p:sp>
      <p:sp>
        <p:nvSpPr>
          <p:cNvPr id="21" name="Shape 19"/>
          <p:cNvSpPr/>
          <p:nvPr/>
        </p:nvSpPr>
        <p:spPr>
          <a:xfrm>
            <a:off x="4766310" y="2194560"/>
            <a:ext cx="731520" cy="731520"/>
          </a:xfrm>
          <a:prstGeom prst="ellipse">
            <a:avLst/>
          </a:prstGeom>
          <a:solidFill>
            <a:srgbClr val="F96167"/>
          </a:solidFill>
          <a:ln w="12700">
            <a:solidFill>
              <a:srgbClr val="F96167"/>
            </a:solidFill>
            <a:prstDash val="solid"/>
          </a:ln>
        </p:spPr>
      </p:sp>
      <p:sp>
        <p:nvSpPr>
          <p:cNvPr id="22" name="Text 20"/>
          <p:cNvSpPr/>
          <p:nvPr/>
        </p:nvSpPr>
        <p:spPr>
          <a:xfrm>
            <a:off x="4766310" y="21945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23" name="Text 21"/>
          <p:cNvSpPr/>
          <p:nvPr/>
        </p:nvSpPr>
        <p:spPr>
          <a:xfrm>
            <a:off x="4251960" y="3017520"/>
            <a:ext cx="1760220" cy="320040"/>
          </a:xfrm>
          <a:prstGeom prst="rect">
            <a:avLst/>
          </a:prstGeom>
          <a:noFill/>
          <a:ln/>
        </p:spPr>
        <p:txBody>
          <a:bodyPr wrap="square" lIns="0" tIns="0" rIns="0" bIns="0" rtlCol="0" anchor="ctr"/>
          <a:lstStyle/>
          <a:p>
            <a:pPr algn="ctr" indent="0" marL="0">
              <a:buNone/>
            </a:pPr>
            <a:r>
              <a:rPr lang="en-US" sz="1100" b="1" spc="200" kern="0" dirty="0">
                <a:solidFill>
                  <a:srgbClr val="1A1D26"/>
                </a:solidFill>
                <a:latin typeface="Calibri" pitchFamily="34" charset="0"/>
                <a:ea typeface="Calibri" pitchFamily="34" charset="-122"/>
                <a:cs typeface="Calibri" pitchFamily="34" charset="-120"/>
              </a:rPr>
              <a:t>REVIEW</a:t>
            </a:r>
            <a:endParaRPr lang="en-US" sz="1100" dirty="0"/>
          </a:p>
        </p:txBody>
      </p:sp>
      <p:sp>
        <p:nvSpPr>
          <p:cNvPr id="24" name="Text 22"/>
          <p:cNvSpPr/>
          <p:nvPr/>
        </p:nvSpPr>
        <p:spPr>
          <a:xfrm>
            <a:off x="4251960" y="3337560"/>
            <a:ext cx="1760220" cy="411480"/>
          </a:xfrm>
          <a:prstGeom prst="rect">
            <a:avLst/>
          </a:prstGeom>
          <a:noFill/>
          <a:ln/>
        </p:spPr>
        <p:txBody>
          <a:bodyPr wrap="square" lIns="0" tIns="0" rIns="0" bIns="0" rtlCol="0" anchor="ctr"/>
          <a:lstStyle/>
          <a:p>
            <a:pPr algn="ctr" indent="0" marL="0">
              <a:buNone/>
            </a:pPr>
            <a:r>
              <a:rPr lang="en-US" sz="1000" dirty="0">
                <a:solidFill>
                  <a:srgbClr val="5A6275"/>
                </a:solidFill>
                <a:latin typeface="Calibri" pitchFamily="34" charset="0"/>
                <a:ea typeface="Calibri" pitchFamily="34" charset="-122"/>
                <a:cs typeface="Calibri" pitchFamily="34" charset="-120"/>
              </a:rPr>
              <a:t>5 H2 sections + 10 FAQ + 8 passages</a:t>
            </a:r>
            <a:endParaRPr lang="en-US" sz="1000" dirty="0"/>
          </a:p>
        </p:txBody>
      </p:sp>
      <p:sp>
        <p:nvSpPr>
          <p:cNvPr id="25" name="Shape 23"/>
          <p:cNvSpPr/>
          <p:nvPr/>
        </p:nvSpPr>
        <p:spPr>
          <a:xfrm>
            <a:off x="6012180" y="2560320"/>
            <a:ext cx="137160" cy="0"/>
          </a:xfrm>
          <a:prstGeom prst="line">
            <a:avLst/>
          </a:prstGeom>
          <a:noFill/>
          <a:ln w="25400">
            <a:solidFill>
              <a:srgbClr val="F96167"/>
            </a:solidFill>
            <a:prstDash val="solid"/>
          </a:ln>
        </p:spPr>
      </p:sp>
      <p:sp>
        <p:nvSpPr>
          <p:cNvPr id="26" name="Shape 24"/>
          <p:cNvSpPr/>
          <p:nvPr/>
        </p:nvSpPr>
        <p:spPr>
          <a:xfrm>
            <a:off x="6663690" y="2194560"/>
            <a:ext cx="731520" cy="731520"/>
          </a:xfrm>
          <a:prstGeom prst="ellipse">
            <a:avLst/>
          </a:prstGeom>
          <a:solidFill>
            <a:srgbClr val="F96167"/>
          </a:solidFill>
          <a:ln w="12700">
            <a:solidFill>
              <a:srgbClr val="F96167"/>
            </a:solidFill>
            <a:prstDash val="solid"/>
          </a:ln>
        </p:spPr>
      </p:sp>
      <p:sp>
        <p:nvSpPr>
          <p:cNvPr id="27" name="Text 25"/>
          <p:cNvSpPr/>
          <p:nvPr/>
        </p:nvSpPr>
        <p:spPr>
          <a:xfrm>
            <a:off x="6663690" y="21945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4</a:t>
            </a:r>
            <a:endParaRPr lang="en-US" sz="2800" dirty="0"/>
          </a:p>
        </p:txBody>
      </p:sp>
      <p:sp>
        <p:nvSpPr>
          <p:cNvPr id="28" name="Text 26"/>
          <p:cNvSpPr/>
          <p:nvPr/>
        </p:nvSpPr>
        <p:spPr>
          <a:xfrm>
            <a:off x="6149340" y="3017520"/>
            <a:ext cx="1760220" cy="320040"/>
          </a:xfrm>
          <a:prstGeom prst="rect">
            <a:avLst/>
          </a:prstGeom>
          <a:noFill/>
          <a:ln/>
        </p:spPr>
        <p:txBody>
          <a:bodyPr wrap="square" lIns="0" tIns="0" rIns="0" bIns="0" rtlCol="0" anchor="ctr"/>
          <a:lstStyle/>
          <a:p>
            <a:pPr algn="ctr" indent="0" marL="0">
              <a:buNone/>
            </a:pPr>
            <a:r>
              <a:rPr lang="en-US" sz="1100" b="1" spc="200" kern="0" dirty="0">
                <a:solidFill>
                  <a:srgbClr val="1A1D26"/>
                </a:solidFill>
                <a:latin typeface="Calibri" pitchFamily="34" charset="0"/>
                <a:ea typeface="Calibri" pitchFamily="34" charset="-122"/>
                <a:cs typeface="Calibri" pitchFamily="34" charset="-120"/>
              </a:rPr>
              <a:t>TWEAK</a:t>
            </a:r>
            <a:endParaRPr lang="en-US" sz="1100" dirty="0"/>
          </a:p>
        </p:txBody>
      </p:sp>
      <p:sp>
        <p:nvSpPr>
          <p:cNvPr id="29" name="Text 27"/>
          <p:cNvSpPr/>
          <p:nvPr/>
        </p:nvSpPr>
        <p:spPr>
          <a:xfrm>
            <a:off x="6149340" y="3337560"/>
            <a:ext cx="1760220" cy="411480"/>
          </a:xfrm>
          <a:prstGeom prst="rect">
            <a:avLst/>
          </a:prstGeom>
          <a:noFill/>
          <a:ln/>
        </p:spPr>
        <p:txBody>
          <a:bodyPr wrap="square" lIns="0" tIns="0" rIns="0" bIns="0" rtlCol="0" anchor="ctr"/>
          <a:lstStyle/>
          <a:p>
            <a:pPr algn="ctr" indent="0" marL="0">
              <a:buNone/>
            </a:pPr>
            <a:r>
              <a:rPr lang="en-US" sz="1000" dirty="0">
                <a:solidFill>
                  <a:srgbClr val="5A6275"/>
                </a:solidFill>
                <a:latin typeface="Calibri" pitchFamily="34" charset="0"/>
                <a:ea typeface="Calibri" pitchFamily="34" charset="-122"/>
                <a:cs typeface="Calibri" pitchFamily="34" charset="-120"/>
              </a:rPr>
              <a:t>Remove unwanted, edit phrasing</a:t>
            </a:r>
            <a:endParaRPr lang="en-US" sz="1000" dirty="0"/>
          </a:p>
        </p:txBody>
      </p:sp>
      <p:sp>
        <p:nvSpPr>
          <p:cNvPr id="30" name="Shape 28"/>
          <p:cNvSpPr/>
          <p:nvPr/>
        </p:nvSpPr>
        <p:spPr>
          <a:xfrm>
            <a:off x="7909560" y="2560320"/>
            <a:ext cx="137160" cy="0"/>
          </a:xfrm>
          <a:prstGeom prst="line">
            <a:avLst/>
          </a:prstGeom>
          <a:noFill/>
          <a:ln w="25400">
            <a:solidFill>
              <a:srgbClr val="F96167"/>
            </a:solidFill>
            <a:prstDash val="solid"/>
          </a:ln>
        </p:spPr>
      </p:sp>
      <p:sp>
        <p:nvSpPr>
          <p:cNvPr id="31" name="Shape 29"/>
          <p:cNvSpPr/>
          <p:nvPr/>
        </p:nvSpPr>
        <p:spPr>
          <a:xfrm>
            <a:off x="8561070" y="2194560"/>
            <a:ext cx="731520" cy="731520"/>
          </a:xfrm>
          <a:prstGeom prst="ellipse">
            <a:avLst/>
          </a:prstGeom>
          <a:solidFill>
            <a:srgbClr val="F96167"/>
          </a:solidFill>
          <a:ln w="12700">
            <a:solidFill>
              <a:srgbClr val="F96167"/>
            </a:solidFill>
            <a:prstDash val="solid"/>
          </a:ln>
        </p:spPr>
      </p:sp>
      <p:sp>
        <p:nvSpPr>
          <p:cNvPr id="32" name="Text 30"/>
          <p:cNvSpPr/>
          <p:nvPr/>
        </p:nvSpPr>
        <p:spPr>
          <a:xfrm>
            <a:off x="8561070" y="21945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a:t>
            </a:r>
            <a:endParaRPr lang="en-US" sz="2800" dirty="0"/>
          </a:p>
        </p:txBody>
      </p:sp>
      <p:sp>
        <p:nvSpPr>
          <p:cNvPr id="33" name="Text 31"/>
          <p:cNvSpPr/>
          <p:nvPr/>
        </p:nvSpPr>
        <p:spPr>
          <a:xfrm>
            <a:off x="8046720" y="3017520"/>
            <a:ext cx="1760220" cy="320040"/>
          </a:xfrm>
          <a:prstGeom prst="rect">
            <a:avLst/>
          </a:prstGeom>
          <a:noFill/>
          <a:ln/>
        </p:spPr>
        <p:txBody>
          <a:bodyPr wrap="square" lIns="0" tIns="0" rIns="0" bIns="0" rtlCol="0" anchor="ctr"/>
          <a:lstStyle/>
          <a:p>
            <a:pPr algn="ctr" indent="0" marL="0">
              <a:buNone/>
            </a:pPr>
            <a:r>
              <a:rPr lang="en-US" sz="1100" b="1" spc="200" kern="0" dirty="0">
                <a:solidFill>
                  <a:srgbClr val="1A1D26"/>
                </a:solidFill>
                <a:latin typeface="Calibri" pitchFamily="34" charset="0"/>
                <a:ea typeface="Calibri" pitchFamily="34" charset="-122"/>
                <a:cs typeface="Calibri" pitchFamily="34" charset="-120"/>
              </a:rPr>
              <a:t>SEND TO BRAGI</a:t>
            </a:r>
            <a:endParaRPr lang="en-US" sz="1100" dirty="0"/>
          </a:p>
        </p:txBody>
      </p:sp>
      <p:sp>
        <p:nvSpPr>
          <p:cNvPr id="34" name="Text 32"/>
          <p:cNvSpPr/>
          <p:nvPr/>
        </p:nvSpPr>
        <p:spPr>
          <a:xfrm>
            <a:off x="8046720" y="3337560"/>
            <a:ext cx="1760220" cy="411480"/>
          </a:xfrm>
          <a:prstGeom prst="rect">
            <a:avLst/>
          </a:prstGeom>
          <a:noFill/>
          <a:ln/>
        </p:spPr>
        <p:txBody>
          <a:bodyPr wrap="square" lIns="0" tIns="0" rIns="0" bIns="0" rtlCol="0" anchor="ctr"/>
          <a:lstStyle/>
          <a:p>
            <a:pPr algn="ctr" indent="0" marL="0">
              <a:buNone/>
            </a:pPr>
            <a:r>
              <a:rPr lang="en-US" sz="1000" dirty="0">
                <a:solidFill>
                  <a:srgbClr val="5A6275"/>
                </a:solidFill>
                <a:latin typeface="Calibri" pitchFamily="34" charset="0"/>
                <a:ea typeface="Calibri" pitchFamily="34" charset="-122"/>
                <a:cs typeface="Calibri" pitchFamily="34" charset="-120"/>
              </a:rPr>
              <a:t>Brief into existing pipeline</a:t>
            </a:r>
            <a:endParaRPr lang="en-US" sz="1000" dirty="0"/>
          </a:p>
        </p:txBody>
      </p:sp>
      <p:sp>
        <p:nvSpPr>
          <p:cNvPr id="35" name="Shape 33"/>
          <p:cNvSpPr/>
          <p:nvPr/>
        </p:nvSpPr>
        <p:spPr>
          <a:xfrm>
            <a:off x="9806940" y="2560320"/>
            <a:ext cx="137160" cy="0"/>
          </a:xfrm>
          <a:prstGeom prst="line">
            <a:avLst/>
          </a:prstGeom>
          <a:noFill/>
          <a:ln w="25400">
            <a:solidFill>
              <a:srgbClr val="F96167"/>
            </a:solidFill>
            <a:prstDash val="solid"/>
          </a:ln>
        </p:spPr>
      </p:sp>
      <p:sp>
        <p:nvSpPr>
          <p:cNvPr id="36" name="Shape 34"/>
          <p:cNvSpPr/>
          <p:nvPr/>
        </p:nvSpPr>
        <p:spPr>
          <a:xfrm>
            <a:off x="10458450" y="2194560"/>
            <a:ext cx="731520" cy="731520"/>
          </a:xfrm>
          <a:prstGeom prst="ellipse">
            <a:avLst/>
          </a:prstGeom>
          <a:solidFill>
            <a:srgbClr val="F96167"/>
          </a:solidFill>
          <a:ln w="12700">
            <a:solidFill>
              <a:srgbClr val="F96167"/>
            </a:solidFill>
            <a:prstDash val="solid"/>
          </a:ln>
        </p:spPr>
      </p:sp>
      <p:sp>
        <p:nvSpPr>
          <p:cNvPr id="37" name="Text 35"/>
          <p:cNvSpPr/>
          <p:nvPr/>
        </p:nvSpPr>
        <p:spPr>
          <a:xfrm>
            <a:off x="10458450" y="219456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6</a:t>
            </a:r>
            <a:endParaRPr lang="en-US" sz="2800" dirty="0"/>
          </a:p>
        </p:txBody>
      </p:sp>
      <p:sp>
        <p:nvSpPr>
          <p:cNvPr id="38" name="Text 36"/>
          <p:cNvSpPr/>
          <p:nvPr/>
        </p:nvSpPr>
        <p:spPr>
          <a:xfrm>
            <a:off x="9944100" y="3017520"/>
            <a:ext cx="1760220" cy="320040"/>
          </a:xfrm>
          <a:prstGeom prst="rect">
            <a:avLst/>
          </a:prstGeom>
          <a:noFill/>
          <a:ln/>
        </p:spPr>
        <p:txBody>
          <a:bodyPr wrap="square" lIns="0" tIns="0" rIns="0" bIns="0" rtlCol="0" anchor="ctr"/>
          <a:lstStyle/>
          <a:p>
            <a:pPr algn="ctr" indent="0" marL="0">
              <a:buNone/>
            </a:pPr>
            <a:r>
              <a:rPr lang="en-US" sz="1100" b="1" spc="200" kern="0" dirty="0">
                <a:solidFill>
                  <a:srgbClr val="1A1D26"/>
                </a:solidFill>
                <a:latin typeface="Calibri" pitchFamily="34" charset="0"/>
                <a:ea typeface="Calibri" pitchFamily="34" charset="-122"/>
                <a:cs typeface="Calibri" pitchFamily="34" charset="-120"/>
              </a:rPr>
              <a:t>PUBLISH</a:t>
            </a:r>
            <a:endParaRPr lang="en-US" sz="1100" dirty="0"/>
          </a:p>
        </p:txBody>
      </p:sp>
      <p:sp>
        <p:nvSpPr>
          <p:cNvPr id="39" name="Text 37"/>
          <p:cNvSpPr/>
          <p:nvPr/>
        </p:nvSpPr>
        <p:spPr>
          <a:xfrm>
            <a:off x="9944100" y="3337560"/>
            <a:ext cx="1760220" cy="411480"/>
          </a:xfrm>
          <a:prstGeom prst="rect">
            <a:avLst/>
          </a:prstGeom>
          <a:noFill/>
          <a:ln/>
        </p:spPr>
        <p:txBody>
          <a:bodyPr wrap="square" lIns="0" tIns="0" rIns="0" bIns="0" rtlCol="0" anchor="ctr"/>
          <a:lstStyle/>
          <a:p>
            <a:pPr algn="ctr" indent="0" marL="0">
              <a:buNone/>
            </a:pPr>
            <a:r>
              <a:rPr lang="en-US" sz="1000" dirty="0">
                <a:solidFill>
                  <a:srgbClr val="5A6275"/>
                </a:solidFill>
                <a:latin typeface="Calibri" pitchFamily="34" charset="0"/>
                <a:ea typeface="Calibri" pitchFamily="34" charset="-122"/>
                <a:cs typeface="Calibri" pitchFamily="34" charset="-120"/>
              </a:rPr>
              <a:t>Approve + upload via CMS</a:t>
            </a:r>
            <a:endParaRPr lang="en-US" sz="1000" dirty="0"/>
          </a:p>
        </p:txBody>
      </p:sp>
      <p:sp>
        <p:nvSpPr>
          <p:cNvPr id="40" name="Text 38"/>
          <p:cNvSpPr/>
          <p:nvPr/>
        </p:nvSpPr>
        <p:spPr>
          <a:xfrm>
            <a:off x="457200" y="4023360"/>
            <a:ext cx="11247120" cy="320040"/>
          </a:xfrm>
          <a:prstGeom prst="rect">
            <a:avLst/>
          </a:prstGeom>
          <a:noFill/>
          <a:ln/>
        </p:spPr>
        <p:txBody>
          <a:bodyPr wrap="square" rtlCol="0" anchor="ctr"/>
          <a:lstStyle/>
          <a:p>
            <a:pPr indent="0" marL="0">
              <a:buNone/>
            </a:pPr>
            <a:r>
              <a:rPr lang="en-US" sz="1200" spc="200" kern="0" dirty="0">
                <a:solidFill>
                  <a:srgbClr val="5A6275"/>
                </a:solidFill>
                <a:latin typeface="Calibri" pitchFamily="34" charset="0"/>
                <a:ea typeface="Calibri" pitchFamily="34" charset="-122"/>
                <a:cs typeface="Calibri" pitchFamily="34" charset="-120"/>
              </a:rPr>
              <a:t>Sample kit output — auto-generated:</a:t>
            </a:r>
            <a:endParaRPr lang="en-US" sz="1200" dirty="0"/>
          </a:p>
        </p:txBody>
      </p:sp>
      <p:sp>
        <p:nvSpPr>
          <p:cNvPr id="41" name="Shape 39"/>
          <p:cNvSpPr/>
          <p:nvPr/>
        </p:nvSpPr>
        <p:spPr>
          <a:xfrm>
            <a:off x="457200" y="4434840"/>
            <a:ext cx="11247120" cy="1828800"/>
          </a:xfrm>
          <a:prstGeom prst="rect">
            <a:avLst/>
          </a:prstGeom>
          <a:solidFill>
            <a:srgbClr val="FFFFFF"/>
          </a:solidFill>
          <a:ln w="12700">
            <a:solidFill>
              <a:srgbClr val="E5E5E0"/>
            </a:solidFill>
            <a:prstDash val="solid"/>
          </a:ln>
        </p:spPr>
      </p:sp>
      <p:sp>
        <p:nvSpPr>
          <p:cNvPr id="42" name="Shape 40"/>
          <p:cNvSpPr/>
          <p:nvPr/>
        </p:nvSpPr>
        <p:spPr>
          <a:xfrm>
            <a:off x="457200" y="4434840"/>
            <a:ext cx="54864" cy="1828800"/>
          </a:xfrm>
          <a:prstGeom prst="rect">
            <a:avLst/>
          </a:prstGeom>
          <a:solidFill>
            <a:srgbClr val="F96167"/>
          </a:solidFill>
          <a:ln w="12700">
            <a:solidFill>
              <a:srgbClr val="F96167"/>
            </a:solidFill>
            <a:prstDash val="solid"/>
          </a:ln>
        </p:spPr>
      </p:sp>
      <p:sp>
        <p:nvSpPr>
          <p:cNvPr id="43" name="Text 41"/>
          <p:cNvSpPr/>
          <p:nvPr/>
        </p:nvSpPr>
        <p:spPr>
          <a:xfrm>
            <a:off x="731520" y="4572000"/>
            <a:ext cx="10698480" cy="1554480"/>
          </a:xfrm>
          <a:prstGeom prst="rect">
            <a:avLst/>
          </a:prstGeom>
          <a:noFill/>
          <a:ln/>
        </p:spPr>
        <p:txBody>
          <a:bodyPr wrap="square" rtlCol="0" anchor="t"/>
          <a:lstStyle/>
          <a:p>
            <a:pPr indent="0" marL="0">
              <a:spcAft>
                <a:spcPts val="200"/>
              </a:spcAft>
              <a:buNone/>
            </a:pPr>
            <a:r>
              <a:rPr lang="en-US" sz="1200" b="1" dirty="0">
                <a:solidFill>
                  <a:srgbClr val="1A1D26"/>
                </a:solidFill>
                <a:latin typeface="Calibri" pitchFamily="34" charset="0"/>
                <a:ea typeface="Calibri" pitchFamily="34" charset="-122"/>
                <a:cs typeface="Calibri" pitchFamily="34" charset="-120"/>
              </a:rPr>
              <a:t>Section blueprint — 5 H2 </a:t>
            </a:r>
            <a:pPr indent="0" marL="0">
              <a:spcAft>
                <a:spcPts val="200"/>
              </a:spcAft>
              <a:buNone/>
            </a:pPr>
            <a:r>
              <a:rPr lang="en-US" sz="1200" i="1" dirty="0">
                <a:solidFill>
                  <a:srgbClr val="1A1D26"/>
                </a:solidFill>
                <a:latin typeface="Calibri" pitchFamily="34" charset="0"/>
                <a:ea typeface="Calibri" pitchFamily="34" charset="-122"/>
                <a:cs typeface="Calibri" pitchFamily="34" charset="-120"/>
              </a:rPr>
              <a:t>(all commercial-supportive after intent filter):</a:t>
            </a:r>
            <a:endParaRPr lang="en-US" sz="1200" dirty="0"/>
          </a:p>
          <a:p>
            <a:pPr indent="0" marL="0">
              <a:spcAft>
                <a:spcPts val="200"/>
              </a:spcAft>
              <a:buNone/>
            </a:pPr>
            <a:r>
              <a:rPr lang="en-US" sz="1200" dirty="0">
                <a:solidFill>
                  <a:srgbClr val="1A1D26"/>
                </a:solidFill>
                <a:latin typeface="Calibri" pitchFamily="34" charset="0"/>
                <a:ea typeface="Calibri" pitchFamily="34" charset="-122"/>
                <a:cs typeface="Calibri" pitchFamily="34" charset="-120"/>
              </a:rPr>
              <a:t>• Cheap PoE 2 Items — Best Prices Curated  </a:t>
            </a:r>
            <a:endParaRPr lang="en-US" sz="1200" dirty="0"/>
          </a:p>
          <a:p>
            <a:pPr indent="0" marL="0">
              <a:spcAft>
                <a:spcPts val="200"/>
              </a:spcAft>
              <a:buNone/>
            </a:pPr>
            <a:r>
              <a:rPr lang="en-US" sz="1200" dirty="0">
                <a:solidFill>
                  <a:srgbClr val="1A1D26"/>
                </a:solidFill>
                <a:latin typeface="Calibri" pitchFamily="34" charset="0"/>
                <a:ea typeface="Calibri" pitchFamily="34" charset="-122"/>
                <a:cs typeface="Calibri" pitchFamily="34" charset="-120"/>
              </a:rPr>
              <a:t>• How to Buy PoE 2 Items Safely  </a:t>
            </a:r>
            <a:endParaRPr lang="en-US" sz="1200" dirty="0"/>
          </a:p>
          <a:p>
            <a:pPr indent="0" marL="0">
              <a:spcAft>
                <a:spcPts val="200"/>
              </a:spcAft>
              <a:buNone/>
            </a:pPr>
            <a:r>
              <a:rPr lang="en-US" sz="1200" dirty="0">
                <a:solidFill>
                  <a:srgbClr val="1A1D26"/>
                </a:solidFill>
                <a:latin typeface="Calibri" pitchFamily="34" charset="0"/>
                <a:ea typeface="Calibri" pitchFamily="34" charset="-122"/>
                <a:cs typeface="Calibri" pitchFamily="34" charset="-120"/>
              </a:rPr>
              <a:t>• Cross-Platform Delivery: PoE 2 Items for PC, PS5, Xbox  </a:t>
            </a:r>
            <a:endParaRPr lang="en-US" sz="1200" dirty="0"/>
          </a:p>
          <a:p>
            <a:pPr indent="0" marL="0">
              <a:spcAft>
                <a:spcPts val="200"/>
              </a:spcAft>
              <a:buNone/>
            </a:pPr>
            <a:r>
              <a:rPr lang="en-US" sz="1200" dirty="0">
                <a:solidFill>
                  <a:srgbClr val="1A1D26"/>
                </a:solidFill>
                <a:latin typeface="Calibri" pitchFamily="34" charset="0"/>
                <a:ea typeface="Calibri" pitchFamily="34" charset="-122"/>
                <a:cs typeface="Calibri" pitchFamily="34" charset="-120"/>
              </a:rPr>
              <a:t>• Best Item Packages for League Start  </a:t>
            </a:r>
            <a:endParaRPr lang="en-US" sz="1200" dirty="0"/>
          </a:p>
          <a:p>
            <a:pPr indent="0" marL="0">
              <a:spcAft>
                <a:spcPts val="200"/>
              </a:spcAft>
              <a:buNone/>
            </a:pPr>
            <a:r>
              <a:rPr lang="en-US" sz="1200" dirty="0">
                <a:solidFill>
                  <a:srgbClr val="1A1D26"/>
                </a:solidFill>
                <a:latin typeface="Calibri" pitchFamily="34" charset="0"/>
                <a:ea typeface="Calibri" pitchFamily="34" charset="-122"/>
                <a:cs typeface="Calibri" pitchFamily="34" charset="-120"/>
              </a:rPr>
              <a:t>• PoE 2 Items vs Farming Yourself  </a:t>
            </a:r>
            <a:endParaRPr lang="en-US" sz="1200" dirty="0"/>
          </a:p>
          <a:p>
            <a:pPr indent="0" marL="0">
              <a:spcAft>
                <a:spcPts val="200"/>
              </a:spcAft>
              <a:buNone/>
            </a:pPr>
            <a:r>
              <a:rPr lang="en-US" sz="1200" b="1" dirty="0">
                <a:solidFill>
                  <a:srgbClr val="1A1D26"/>
                </a:solidFill>
                <a:latin typeface="Calibri" pitchFamily="34" charset="0"/>
                <a:ea typeface="Calibri" pitchFamily="34" charset="-122"/>
                <a:cs typeface="Calibri" pitchFamily="34" charset="-120"/>
              </a:rPr>
              <a:t>Cross-links: </a:t>
            </a:r>
            <a:pPr indent="0" marL="0">
              <a:spcAft>
                <a:spcPts val="200"/>
              </a:spcAft>
              <a:buNone/>
            </a:pPr>
            <a:r>
              <a:rPr lang="en-US" sz="1200" dirty="0">
                <a:solidFill>
                  <a:srgbClr val="1A1D26"/>
                </a:solidFill>
                <a:latin typeface="Calibri" pitchFamily="34" charset="0"/>
                <a:ea typeface="Calibri" pitchFamily="34" charset="-122"/>
                <a:cs typeface="Calibri" pitchFamily="34" charset="-120"/>
              </a:rPr>
              <a:t>Diablo 4 Currency · Last Epoch Gold · PoE 2 Currency</a:t>
            </a:r>
            <a:endParaRPr lang="en-US" sz="1200" dirty="0"/>
          </a:p>
        </p:txBody>
      </p:sp>
      <p:sp>
        <p:nvSpPr>
          <p:cNvPr id="44" name="Text 42"/>
          <p:cNvSpPr/>
          <p:nvPr/>
        </p:nvSpPr>
        <p:spPr>
          <a:xfrm>
            <a:off x="457200" y="6355080"/>
            <a:ext cx="11247120" cy="365760"/>
          </a:xfrm>
          <a:prstGeom prst="rect">
            <a:avLst/>
          </a:prstGeom>
          <a:noFill/>
          <a:ln/>
        </p:spPr>
        <p:txBody>
          <a:bodyPr wrap="square" rtlCol="0" anchor="ctr"/>
          <a:lstStyle/>
          <a:p>
            <a:pPr algn="ctr" indent="0" marL="0">
              <a:buNone/>
            </a:pPr>
            <a:r>
              <a:rPr lang="en-US" sz="1400" i="1" dirty="0">
                <a:solidFill>
                  <a:srgbClr val="F96167"/>
                </a:solidFill>
                <a:latin typeface="Georgia" pitchFamily="34" charset="0"/>
                <a:ea typeface="Georgia" pitchFamily="34" charset="-122"/>
                <a:cs typeface="Georgia" pitchFamily="34" charset="-120"/>
              </a:rPr>
              <a:t>Total cycle: ~25-45 minutes from click to live page.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411480"/>
            <a:ext cx="731520" cy="457200"/>
          </a:xfrm>
          <a:prstGeom prst="rect">
            <a:avLst/>
          </a:prstGeom>
          <a:noFill/>
          <a:ln/>
        </p:spPr>
        <p:txBody>
          <a:bodyPr wrap="square" rtlCol="0" anchor="ctr"/>
          <a:lstStyle/>
          <a:p>
            <a:pPr indent="0" marL="0">
              <a:buNone/>
            </a:pPr>
            <a:r>
              <a:rPr lang="en-US" sz="1400" b="1" spc="400" kern="0" dirty="0">
                <a:solidFill>
                  <a:srgbClr val="F96167"/>
                </a:solidFill>
                <a:latin typeface="Calibri" pitchFamily="34" charset="0"/>
                <a:ea typeface="Calibri" pitchFamily="34" charset="-122"/>
                <a:cs typeface="Calibri" pitchFamily="34" charset="-120"/>
              </a:rPr>
              <a:t>08</a:t>
            </a:r>
            <a:endParaRPr lang="en-US" sz="1400" dirty="0"/>
          </a:p>
        </p:txBody>
      </p:sp>
      <p:sp>
        <p:nvSpPr>
          <p:cNvPr id="3" name="Text 1"/>
          <p:cNvSpPr/>
          <p:nvPr/>
        </p:nvSpPr>
        <p:spPr>
          <a:xfrm>
            <a:off x="1143000" y="411480"/>
            <a:ext cx="10515600" cy="457200"/>
          </a:xfrm>
          <a:prstGeom prst="rect">
            <a:avLst/>
          </a:prstGeom>
          <a:noFill/>
          <a:ln/>
        </p:spPr>
        <p:txBody>
          <a:bodyPr wrap="square" rtlCol="0" anchor="ctr"/>
          <a:lstStyle/>
          <a:p>
            <a:pPr indent="0" marL="0">
              <a:buNone/>
            </a:pPr>
            <a:r>
              <a:rPr lang="en-US" sz="1400" spc="400" kern="0" dirty="0">
                <a:solidFill>
                  <a:srgbClr val="8B91A0"/>
                </a:solidFill>
                <a:latin typeface="Calibri" pitchFamily="34" charset="0"/>
                <a:ea typeface="Calibri" pitchFamily="34" charset="-122"/>
                <a:cs typeface="Calibri" pitchFamily="34" charset="-120"/>
              </a:rPr>
              <a:t>COST · TIMELINE · OUTCOMES</a:t>
            </a:r>
            <a:endParaRPr lang="en-US" sz="1400" dirty="0"/>
          </a:p>
        </p:txBody>
      </p:sp>
      <p:sp>
        <p:nvSpPr>
          <p:cNvPr id="4" name="Shape 2"/>
          <p:cNvSpPr/>
          <p:nvPr/>
        </p:nvSpPr>
        <p:spPr>
          <a:xfrm>
            <a:off x="457200" y="6400800"/>
            <a:ext cx="11247120" cy="0"/>
          </a:xfrm>
          <a:prstGeom prst="line">
            <a:avLst/>
          </a:prstGeom>
          <a:noFill/>
          <a:ln w="6350">
            <a:solidFill>
              <a:srgbClr val="2B2F3A"/>
            </a:solidFill>
            <a:prstDash val="solid"/>
          </a:ln>
        </p:spPr>
      </p:sp>
      <p:sp>
        <p:nvSpPr>
          <p:cNvPr id="5" name="Text 3"/>
          <p:cNvSpPr/>
          <p:nvPr/>
        </p:nvSpPr>
        <p:spPr>
          <a:xfrm>
            <a:off x="457200" y="6492240"/>
            <a:ext cx="11247120" cy="274320"/>
          </a:xfrm>
          <a:prstGeom prst="rect">
            <a:avLst/>
          </a:prstGeom>
          <a:noFill/>
          <a:ln/>
        </p:spPr>
        <p:txBody>
          <a:bodyPr wrap="square" rtlCol="0" anchor="ctr"/>
          <a:lstStyle/>
          <a:p>
            <a:pPr indent="0" marL="0">
              <a:buNone/>
            </a:pPr>
            <a:r>
              <a:rPr lang="en-US" sz="900" dirty="0">
                <a:solidFill>
                  <a:srgbClr val="8B91A0"/>
                </a:solidFill>
                <a:latin typeface="Calibri" pitchFamily="34" charset="0"/>
                <a:ea typeface="Calibri" pitchFamily="34" charset="-122"/>
                <a:cs typeface="Calibri" pitchFamily="34" charset="-120"/>
              </a:rPr>
              <a:t>G2G SEO  ·  Confidential</a:t>
            </a:r>
            <a:endParaRPr lang="en-US" sz="900" dirty="0"/>
          </a:p>
        </p:txBody>
      </p:sp>
      <p:sp>
        <p:nvSpPr>
          <p:cNvPr id="6" name="Text 4"/>
          <p:cNvSpPr/>
          <p:nvPr/>
        </p:nvSpPr>
        <p:spPr>
          <a:xfrm>
            <a:off x="457200" y="1005840"/>
            <a:ext cx="11247120" cy="548640"/>
          </a:xfrm>
          <a:prstGeom prst="rect">
            <a:avLst/>
          </a:prstGeom>
          <a:noFill/>
          <a:ln/>
        </p:spPr>
        <p:txBody>
          <a:bodyPr wrap="square" rtlCol="0" anchor="ctr"/>
          <a:lstStyle/>
          <a:p>
            <a:pPr indent="0" marL="0">
              <a:buNone/>
            </a:pPr>
            <a:r>
              <a:rPr lang="en-US" sz="2800" b="1" dirty="0">
                <a:solidFill>
                  <a:srgbClr val="F5F5F7"/>
                </a:solidFill>
                <a:latin typeface="Georgia" pitchFamily="34" charset="0"/>
                <a:ea typeface="Georgia" pitchFamily="34" charset="-122"/>
                <a:cs typeface="Georgia" pitchFamily="34" charset="-120"/>
              </a:rPr>
              <a:t>Cheap to run. Quick to ship.</a:t>
            </a:r>
            <a:endParaRPr lang="en-US" sz="2800" dirty="0"/>
          </a:p>
        </p:txBody>
      </p:sp>
      <p:sp>
        <p:nvSpPr>
          <p:cNvPr id="7" name="Text 5"/>
          <p:cNvSpPr/>
          <p:nvPr/>
        </p:nvSpPr>
        <p:spPr>
          <a:xfrm>
            <a:off x="457200" y="1554480"/>
            <a:ext cx="11247120" cy="457200"/>
          </a:xfrm>
          <a:prstGeom prst="rect">
            <a:avLst/>
          </a:prstGeom>
          <a:noFill/>
          <a:ln/>
        </p:spPr>
        <p:txBody>
          <a:bodyPr wrap="square" rtlCol="0" anchor="ctr"/>
          <a:lstStyle/>
          <a:p>
            <a:pPr indent="0" marL="0">
              <a:buNone/>
            </a:pPr>
            <a:r>
              <a:rPr lang="en-US" sz="1800" i="1" dirty="0">
                <a:solidFill>
                  <a:srgbClr val="8B91A0"/>
                </a:solidFill>
                <a:latin typeface="Georgia" pitchFamily="34" charset="0"/>
                <a:ea typeface="Georgia" pitchFamily="34" charset="-122"/>
                <a:cs typeface="Georgia" pitchFamily="34" charset="-120"/>
              </a:rPr>
              <a:t>Built on infrastructure we already have.</a:t>
            </a:r>
            <a:endParaRPr lang="en-US" sz="1800" dirty="0"/>
          </a:p>
        </p:txBody>
      </p:sp>
      <p:sp>
        <p:nvSpPr>
          <p:cNvPr id="8" name="Shape 6"/>
          <p:cNvSpPr/>
          <p:nvPr/>
        </p:nvSpPr>
        <p:spPr>
          <a:xfrm>
            <a:off x="457200" y="2468880"/>
            <a:ext cx="5486400" cy="3200400"/>
          </a:xfrm>
          <a:prstGeom prst="rect">
            <a:avLst/>
          </a:prstGeom>
          <a:solidFill>
            <a:srgbClr val="1A1D26"/>
          </a:solidFill>
          <a:ln w="12700">
            <a:solidFill>
              <a:srgbClr val="2B2F3A"/>
            </a:solidFill>
            <a:prstDash val="solid"/>
          </a:ln>
        </p:spPr>
      </p:sp>
      <p:sp>
        <p:nvSpPr>
          <p:cNvPr id="9" name="Text 7"/>
          <p:cNvSpPr/>
          <p:nvPr/>
        </p:nvSpPr>
        <p:spPr>
          <a:xfrm>
            <a:off x="731520" y="2697480"/>
            <a:ext cx="4937760" cy="365760"/>
          </a:xfrm>
          <a:prstGeom prst="rect">
            <a:avLst/>
          </a:prstGeom>
          <a:noFill/>
          <a:ln/>
        </p:spPr>
        <p:txBody>
          <a:bodyPr wrap="square" lIns="0" tIns="0" rIns="0" bIns="0"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Cost per kit</a:t>
            </a:r>
            <a:endParaRPr lang="en-US" sz="1100" dirty="0"/>
          </a:p>
        </p:txBody>
      </p:sp>
      <p:sp>
        <p:nvSpPr>
          <p:cNvPr id="10" name="Text 8"/>
          <p:cNvSpPr/>
          <p:nvPr/>
        </p:nvSpPr>
        <p:spPr>
          <a:xfrm>
            <a:off x="731520" y="3108960"/>
            <a:ext cx="3840480" cy="292608"/>
          </a:xfrm>
          <a:prstGeom prst="rect">
            <a:avLst/>
          </a:prstGeom>
          <a:noFill/>
          <a:ln/>
        </p:spPr>
        <p:txBody>
          <a:bodyPr wrap="square" lIns="0" tIns="0" rIns="0" bIns="0" rtlCol="0" anchor="ctr"/>
          <a:lstStyle/>
          <a:p>
            <a:pPr indent="0" marL="0">
              <a:buNone/>
            </a:pPr>
            <a:r>
              <a:rPr lang="en-US" sz="1200" dirty="0">
                <a:solidFill>
                  <a:srgbClr val="F5F5F7"/>
                </a:solidFill>
                <a:latin typeface="Calibri" pitchFamily="34" charset="0"/>
                <a:ea typeface="Calibri" pitchFamily="34" charset="-122"/>
                <a:cs typeface="Calibri" pitchFamily="34" charset="-120"/>
              </a:rPr>
              <a:t>SERP scrape (primary)</a:t>
            </a:r>
            <a:endParaRPr lang="en-US" sz="1200" dirty="0"/>
          </a:p>
        </p:txBody>
      </p:sp>
      <p:sp>
        <p:nvSpPr>
          <p:cNvPr id="11" name="Text 9"/>
          <p:cNvSpPr/>
          <p:nvPr/>
        </p:nvSpPr>
        <p:spPr>
          <a:xfrm>
            <a:off x="4297680" y="3108960"/>
            <a:ext cx="1371600" cy="292608"/>
          </a:xfrm>
          <a:prstGeom prst="rect">
            <a:avLst/>
          </a:prstGeom>
          <a:noFill/>
          <a:ln/>
        </p:spPr>
        <p:txBody>
          <a:bodyPr wrap="square" lIns="0" tIns="0" rIns="0" bIns="0" rtlCol="0" anchor="ctr"/>
          <a:lstStyle/>
          <a:p>
            <a:pPr algn="r" indent="0" marL="0">
              <a:buNone/>
            </a:pPr>
            <a:r>
              <a:rPr lang="en-US" sz="1200" dirty="0">
                <a:solidFill>
                  <a:srgbClr val="8B91A0"/>
                </a:solidFill>
                <a:latin typeface="Calibri" pitchFamily="34" charset="0"/>
                <a:ea typeface="Calibri" pitchFamily="34" charset="-122"/>
                <a:cs typeface="Calibri" pitchFamily="34" charset="-120"/>
              </a:rPr>
              <a:t>$0.002</a:t>
            </a:r>
            <a:endParaRPr lang="en-US" sz="1200" dirty="0"/>
          </a:p>
        </p:txBody>
      </p:sp>
      <p:sp>
        <p:nvSpPr>
          <p:cNvPr id="12" name="Text 10"/>
          <p:cNvSpPr/>
          <p:nvPr/>
        </p:nvSpPr>
        <p:spPr>
          <a:xfrm>
            <a:off x="731520" y="3438144"/>
            <a:ext cx="3840480" cy="292608"/>
          </a:xfrm>
          <a:prstGeom prst="rect">
            <a:avLst/>
          </a:prstGeom>
          <a:noFill/>
          <a:ln/>
        </p:spPr>
        <p:txBody>
          <a:bodyPr wrap="square" lIns="0" tIns="0" rIns="0" bIns="0" rtlCol="0" anchor="ctr"/>
          <a:lstStyle/>
          <a:p>
            <a:pPr indent="0" marL="0">
              <a:buNone/>
            </a:pPr>
            <a:r>
              <a:rPr lang="en-US" sz="1200" dirty="0">
                <a:solidFill>
                  <a:srgbClr val="F5F5F7"/>
                </a:solidFill>
                <a:latin typeface="Calibri" pitchFamily="34" charset="0"/>
                <a:ea typeface="Calibri" pitchFamily="34" charset="-122"/>
                <a:cs typeface="Calibri" pitchFamily="34" charset="-120"/>
              </a:rPr>
              <a:t>Related keywords expansion</a:t>
            </a:r>
            <a:endParaRPr lang="en-US" sz="1200" dirty="0"/>
          </a:p>
        </p:txBody>
      </p:sp>
      <p:sp>
        <p:nvSpPr>
          <p:cNvPr id="13" name="Text 11"/>
          <p:cNvSpPr/>
          <p:nvPr/>
        </p:nvSpPr>
        <p:spPr>
          <a:xfrm>
            <a:off x="4297680" y="3438144"/>
            <a:ext cx="1371600" cy="292608"/>
          </a:xfrm>
          <a:prstGeom prst="rect">
            <a:avLst/>
          </a:prstGeom>
          <a:noFill/>
          <a:ln/>
        </p:spPr>
        <p:txBody>
          <a:bodyPr wrap="square" lIns="0" tIns="0" rIns="0" bIns="0" rtlCol="0" anchor="ctr"/>
          <a:lstStyle/>
          <a:p>
            <a:pPr algn="r" indent="0" marL="0">
              <a:buNone/>
            </a:pPr>
            <a:r>
              <a:rPr lang="en-US" sz="1200" dirty="0">
                <a:solidFill>
                  <a:srgbClr val="8B91A0"/>
                </a:solidFill>
                <a:latin typeface="Calibri" pitchFamily="34" charset="0"/>
                <a:ea typeface="Calibri" pitchFamily="34" charset="-122"/>
                <a:cs typeface="Calibri" pitchFamily="34" charset="-120"/>
              </a:rPr>
              <a:t>$0.005</a:t>
            </a:r>
            <a:endParaRPr lang="en-US" sz="1200" dirty="0"/>
          </a:p>
        </p:txBody>
      </p:sp>
      <p:sp>
        <p:nvSpPr>
          <p:cNvPr id="14" name="Text 12"/>
          <p:cNvSpPr/>
          <p:nvPr/>
        </p:nvSpPr>
        <p:spPr>
          <a:xfrm>
            <a:off x="731520" y="3767328"/>
            <a:ext cx="3840480" cy="292608"/>
          </a:xfrm>
          <a:prstGeom prst="rect">
            <a:avLst/>
          </a:prstGeom>
          <a:noFill/>
          <a:ln/>
        </p:spPr>
        <p:txBody>
          <a:bodyPr wrap="square" lIns="0" tIns="0" rIns="0" bIns="0" rtlCol="0" anchor="ctr"/>
          <a:lstStyle/>
          <a:p>
            <a:pPr indent="0" marL="0">
              <a:buNone/>
            </a:pPr>
            <a:r>
              <a:rPr lang="en-US" sz="1200" dirty="0">
                <a:solidFill>
                  <a:srgbClr val="F5F5F7"/>
                </a:solidFill>
                <a:latin typeface="Calibri" pitchFamily="34" charset="0"/>
                <a:ea typeface="Calibri" pitchFamily="34" charset="-122"/>
                <a:cs typeface="Calibri" pitchFamily="34" charset="-120"/>
              </a:rPr>
              <a:t>Intent classification × 15</a:t>
            </a:r>
            <a:endParaRPr lang="en-US" sz="1200" dirty="0"/>
          </a:p>
        </p:txBody>
      </p:sp>
      <p:sp>
        <p:nvSpPr>
          <p:cNvPr id="15" name="Text 13"/>
          <p:cNvSpPr/>
          <p:nvPr/>
        </p:nvSpPr>
        <p:spPr>
          <a:xfrm>
            <a:off x="4297680" y="3767328"/>
            <a:ext cx="1371600" cy="292608"/>
          </a:xfrm>
          <a:prstGeom prst="rect">
            <a:avLst/>
          </a:prstGeom>
          <a:noFill/>
          <a:ln/>
        </p:spPr>
        <p:txBody>
          <a:bodyPr wrap="square" lIns="0" tIns="0" rIns="0" bIns="0" rtlCol="0" anchor="ctr"/>
          <a:lstStyle/>
          <a:p>
            <a:pPr algn="r" indent="0" marL="0">
              <a:buNone/>
            </a:pPr>
            <a:r>
              <a:rPr lang="en-US" sz="1200" dirty="0">
                <a:solidFill>
                  <a:srgbClr val="8B91A0"/>
                </a:solidFill>
                <a:latin typeface="Calibri" pitchFamily="34" charset="0"/>
                <a:ea typeface="Calibri" pitchFamily="34" charset="-122"/>
                <a:cs typeface="Calibri" pitchFamily="34" charset="-120"/>
              </a:rPr>
              <a:t>$0.015</a:t>
            </a:r>
            <a:endParaRPr lang="en-US" sz="1200" dirty="0"/>
          </a:p>
        </p:txBody>
      </p:sp>
      <p:sp>
        <p:nvSpPr>
          <p:cNvPr id="16" name="Text 14"/>
          <p:cNvSpPr/>
          <p:nvPr/>
        </p:nvSpPr>
        <p:spPr>
          <a:xfrm>
            <a:off x="731520" y="4096512"/>
            <a:ext cx="3840480" cy="292608"/>
          </a:xfrm>
          <a:prstGeom prst="rect">
            <a:avLst/>
          </a:prstGeom>
          <a:noFill/>
          <a:ln/>
        </p:spPr>
        <p:txBody>
          <a:bodyPr wrap="square" lIns="0" tIns="0" rIns="0" bIns="0" rtlCol="0" anchor="ctr"/>
          <a:lstStyle/>
          <a:p>
            <a:pPr indent="0" marL="0">
              <a:buNone/>
            </a:pPr>
            <a:r>
              <a:rPr lang="en-US" sz="1200" dirty="0">
                <a:solidFill>
                  <a:srgbClr val="F5F5F7"/>
                </a:solidFill>
                <a:latin typeface="Calibri" pitchFamily="34" charset="0"/>
                <a:ea typeface="Calibri" pitchFamily="34" charset="-122"/>
                <a:cs typeface="Calibri" pitchFamily="34" charset="-120"/>
              </a:rPr>
              <a:t>Fan-out generator (Haiku)</a:t>
            </a:r>
            <a:endParaRPr lang="en-US" sz="1200" dirty="0"/>
          </a:p>
        </p:txBody>
      </p:sp>
      <p:sp>
        <p:nvSpPr>
          <p:cNvPr id="17" name="Text 15"/>
          <p:cNvSpPr/>
          <p:nvPr/>
        </p:nvSpPr>
        <p:spPr>
          <a:xfrm>
            <a:off x="4297680" y="4096512"/>
            <a:ext cx="1371600" cy="292608"/>
          </a:xfrm>
          <a:prstGeom prst="rect">
            <a:avLst/>
          </a:prstGeom>
          <a:noFill/>
          <a:ln/>
        </p:spPr>
        <p:txBody>
          <a:bodyPr wrap="square" lIns="0" tIns="0" rIns="0" bIns="0" rtlCol="0" anchor="ctr"/>
          <a:lstStyle/>
          <a:p>
            <a:pPr algn="r" indent="0" marL="0">
              <a:buNone/>
            </a:pPr>
            <a:r>
              <a:rPr lang="en-US" sz="1200" dirty="0">
                <a:solidFill>
                  <a:srgbClr val="8B91A0"/>
                </a:solidFill>
                <a:latin typeface="Calibri" pitchFamily="34" charset="0"/>
                <a:ea typeface="Calibri" pitchFamily="34" charset="-122"/>
                <a:cs typeface="Calibri" pitchFamily="34" charset="-120"/>
              </a:rPr>
              <a:t>$0.005</a:t>
            </a:r>
            <a:endParaRPr lang="en-US" sz="1200" dirty="0"/>
          </a:p>
        </p:txBody>
      </p:sp>
      <p:sp>
        <p:nvSpPr>
          <p:cNvPr id="18" name="Text 16"/>
          <p:cNvSpPr/>
          <p:nvPr/>
        </p:nvSpPr>
        <p:spPr>
          <a:xfrm>
            <a:off x="731520" y="4425696"/>
            <a:ext cx="3840480" cy="292608"/>
          </a:xfrm>
          <a:prstGeom prst="rect">
            <a:avLst/>
          </a:prstGeom>
          <a:noFill/>
          <a:ln/>
        </p:spPr>
        <p:txBody>
          <a:bodyPr wrap="square" lIns="0" tIns="0" rIns="0" bIns="0" rtlCol="0" anchor="ctr"/>
          <a:lstStyle/>
          <a:p>
            <a:pPr indent="0" marL="0">
              <a:buNone/>
            </a:pPr>
            <a:r>
              <a:rPr lang="en-US" sz="1200" dirty="0">
                <a:solidFill>
                  <a:srgbClr val="F5F5F7"/>
                </a:solidFill>
                <a:latin typeface="Calibri" pitchFamily="34" charset="0"/>
                <a:ea typeface="Calibri" pitchFamily="34" charset="-122"/>
                <a:cs typeface="Calibri" pitchFamily="34" charset="-120"/>
              </a:rPr>
              <a:t>Content gap analyzer (Haiku)</a:t>
            </a:r>
            <a:endParaRPr lang="en-US" sz="1200" dirty="0"/>
          </a:p>
        </p:txBody>
      </p:sp>
      <p:sp>
        <p:nvSpPr>
          <p:cNvPr id="19" name="Text 17"/>
          <p:cNvSpPr/>
          <p:nvPr/>
        </p:nvSpPr>
        <p:spPr>
          <a:xfrm>
            <a:off x="4297680" y="4425696"/>
            <a:ext cx="1371600" cy="292608"/>
          </a:xfrm>
          <a:prstGeom prst="rect">
            <a:avLst/>
          </a:prstGeom>
          <a:noFill/>
          <a:ln/>
        </p:spPr>
        <p:txBody>
          <a:bodyPr wrap="square" lIns="0" tIns="0" rIns="0" bIns="0" rtlCol="0" anchor="ctr"/>
          <a:lstStyle/>
          <a:p>
            <a:pPr algn="r" indent="0" marL="0">
              <a:buNone/>
            </a:pPr>
            <a:r>
              <a:rPr lang="en-US" sz="1200" dirty="0">
                <a:solidFill>
                  <a:srgbClr val="8B91A0"/>
                </a:solidFill>
                <a:latin typeface="Calibri" pitchFamily="34" charset="0"/>
                <a:ea typeface="Calibri" pitchFamily="34" charset="-122"/>
                <a:cs typeface="Calibri" pitchFamily="34" charset="-120"/>
              </a:rPr>
              <a:t>$0.010</a:t>
            </a:r>
            <a:endParaRPr lang="en-US" sz="1200" dirty="0"/>
          </a:p>
        </p:txBody>
      </p:sp>
      <p:sp>
        <p:nvSpPr>
          <p:cNvPr id="20" name="Shape 18"/>
          <p:cNvSpPr/>
          <p:nvPr/>
        </p:nvSpPr>
        <p:spPr>
          <a:xfrm>
            <a:off x="731520" y="4800600"/>
            <a:ext cx="4937760" cy="0"/>
          </a:xfrm>
          <a:prstGeom prst="line">
            <a:avLst/>
          </a:prstGeom>
          <a:noFill/>
          <a:ln w="6350">
            <a:solidFill>
              <a:srgbClr val="2B2F3A"/>
            </a:solidFill>
            <a:prstDash val="solid"/>
          </a:ln>
        </p:spPr>
      </p:sp>
      <p:sp>
        <p:nvSpPr>
          <p:cNvPr id="21" name="Text 19"/>
          <p:cNvSpPr/>
          <p:nvPr/>
        </p:nvSpPr>
        <p:spPr>
          <a:xfrm>
            <a:off x="731520" y="4892040"/>
            <a:ext cx="3840480" cy="365760"/>
          </a:xfrm>
          <a:prstGeom prst="rect">
            <a:avLst/>
          </a:prstGeom>
          <a:noFill/>
          <a:ln/>
        </p:spPr>
        <p:txBody>
          <a:bodyPr wrap="square" lIns="0" tIns="0" rIns="0" bIns="0" rtlCol="0" anchor="ctr"/>
          <a:lstStyle/>
          <a:p>
            <a:pPr indent="0" marL="0">
              <a:buNone/>
            </a:pPr>
            <a:r>
              <a:rPr lang="en-US" sz="1400" b="1" dirty="0">
                <a:solidFill>
                  <a:srgbClr val="F96167"/>
                </a:solidFill>
                <a:latin typeface="Calibri" pitchFamily="34" charset="0"/>
                <a:ea typeface="Calibri" pitchFamily="34" charset="-122"/>
                <a:cs typeface="Calibri" pitchFamily="34" charset="-120"/>
              </a:rPr>
              <a:t>Total per kit</a:t>
            </a:r>
            <a:endParaRPr lang="en-US" sz="1400" dirty="0"/>
          </a:p>
        </p:txBody>
      </p:sp>
      <p:sp>
        <p:nvSpPr>
          <p:cNvPr id="22" name="Text 20"/>
          <p:cNvSpPr/>
          <p:nvPr/>
        </p:nvSpPr>
        <p:spPr>
          <a:xfrm>
            <a:off x="4297680" y="4892040"/>
            <a:ext cx="1371600" cy="365760"/>
          </a:xfrm>
          <a:prstGeom prst="rect">
            <a:avLst/>
          </a:prstGeom>
          <a:noFill/>
          <a:ln/>
        </p:spPr>
        <p:txBody>
          <a:bodyPr wrap="square" lIns="0" tIns="0" rIns="0" bIns="0" rtlCol="0" anchor="ctr"/>
          <a:lstStyle/>
          <a:p>
            <a:pPr algn="r" indent="0" marL="0">
              <a:buNone/>
            </a:pPr>
            <a:r>
              <a:rPr lang="en-US" sz="1600" b="1" dirty="0">
                <a:solidFill>
                  <a:srgbClr val="F96167"/>
                </a:solidFill>
                <a:latin typeface="Georgia" pitchFamily="34" charset="0"/>
                <a:ea typeface="Georgia" pitchFamily="34" charset="-122"/>
                <a:cs typeface="Georgia" pitchFamily="34" charset="-120"/>
              </a:rPr>
              <a:t>~$0.037</a:t>
            </a:r>
            <a:endParaRPr lang="en-US" sz="1600" dirty="0"/>
          </a:p>
        </p:txBody>
      </p:sp>
      <p:sp>
        <p:nvSpPr>
          <p:cNvPr id="23" name="Shape 21"/>
          <p:cNvSpPr/>
          <p:nvPr/>
        </p:nvSpPr>
        <p:spPr>
          <a:xfrm>
            <a:off x="6217920" y="2468880"/>
            <a:ext cx="5486400" cy="3200400"/>
          </a:xfrm>
          <a:prstGeom prst="rect">
            <a:avLst/>
          </a:prstGeom>
          <a:solidFill>
            <a:srgbClr val="2D1B1E"/>
          </a:solidFill>
          <a:ln w="12700">
            <a:solidFill>
              <a:srgbClr val="F96167"/>
            </a:solidFill>
            <a:prstDash val="solid"/>
          </a:ln>
        </p:spPr>
      </p:sp>
      <p:sp>
        <p:nvSpPr>
          <p:cNvPr id="24" name="Text 22"/>
          <p:cNvSpPr/>
          <p:nvPr/>
        </p:nvSpPr>
        <p:spPr>
          <a:xfrm>
            <a:off x="6492240" y="2697480"/>
            <a:ext cx="4937760" cy="365760"/>
          </a:xfrm>
          <a:prstGeom prst="rect">
            <a:avLst/>
          </a:prstGeom>
          <a:noFill/>
          <a:ln/>
        </p:spPr>
        <p:txBody>
          <a:bodyPr wrap="square" lIns="0" tIns="0" rIns="0" bIns="0" rtlCol="0" anchor="ctr"/>
          <a:lstStyle/>
          <a:p>
            <a:pPr indent="0" marL="0">
              <a:buNone/>
            </a:pPr>
            <a:r>
              <a:rPr lang="en-US" sz="1100" b="1" spc="300" kern="0" dirty="0">
                <a:solidFill>
                  <a:srgbClr val="F96167"/>
                </a:solidFill>
                <a:latin typeface="Calibri" pitchFamily="34" charset="0"/>
                <a:ea typeface="Calibri" pitchFamily="34" charset="-122"/>
                <a:cs typeface="Calibri" pitchFamily="34" charset="-120"/>
              </a:rPr>
              <a:t>Practical scenarios</a:t>
            </a:r>
            <a:endParaRPr lang="en-US" sz="1100" dirty="0"/>
          </a:p>
        </p:txBody>
      </p:sp>
      <p:sp>
        <p:nvSpPr>
          <p:cNvPr id="25" name="Text 23"/>
          <p:cNvSpPr/>
          <p:nvPr/>
        </p:nvSpPr>
        <p:spPr>
          <a:xfrm>
            <a:off x="6492240" y="3108960"/>
            <a:ext cx="3657600" cy="36576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One-shot all 461 winners</a:t>
            </a:r>
            <a:endParaRPr lang="en-US" sz="1300" dirty="0"/>
          </a:p>
        </p:txBody>
      </p:sp>
      <p:sp>
        <p:nvSpPr>
          <p:cNvPr id="26" name="Text 24"/>
          <p:cNvSpPr/>
          <p:nvPr/>
        </p:nvSpPr>
        <p:spPr>
          <a:xfrm>
            <a:off x="9875520" y="3108960"/>
            <a:ext cx="1554480" cy="365760"/>
          </a:xfrm>
          <a:prstGeom prst="rect">
            <a:avLst/>
          </a:prstGeom>
          <a:noFill/>
          <a:ln/>
        </p:spPr>
        <p:txBody>
          <a:bodyPr wrap="square" lIns="0" tIns="0" rIns="0" bIns="0" rtlCol="0" anchor="ctr"/>
          <a:lstStyle/>
          <a:p>
            <a:pPr algn="r" indent="0" marL="0">
              <a:buNone/>
            </a:pPr>
            <a:r>
              <a:rPr lang="en-US" sz="1800" b="1" dirty="0">
                <a:solidFill>
                  <a:srgbClr val="F5F5F7"/>
                </a:solidFill>
                <a:latin typeface="Georgia" pitchFamily="34" charset="0"/>
                <a:ea typeface="Georgia" pitchFamily="34" charset="-122"/>
                <a:cs typeface="Georgia" pitchFamily="34" charset="-120"/>
              </a:rPr>
              <a:t>~$17</a:t>
            </a:r>
            <a:endParaRPr lang="en-US" sz="1800" dirty="0"/>
          </a:p>
        </p:txBody>
      </p:sp>
      <p:sp>
        <p:nvSpPr>
          <p:cNvPr id="27" name="Text 25"/>
          <p:cNvSpPr/>
          <p:nvPr/>
        </p:nvSpPr>
        <p:spPr>
          <a:xfrm>
            <a:off x="6492240" y="3566160"/>
            <a:ext cx="3657600" cy="36576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Monthly refresh top 20</a:t>
            </a:r>
            <a:endParaRPr lang="en-US" sz="1300" dirty="0"/>
          </a:p>
        </p:txBody>
      </p:sp>
      <p:sp>
        <p:nvSpPr>
          <p:cNvPr id="28" name="Text 26"/>
          <p:cNvSpPr/>
          <p:nvPr/>
        </p:nvSpPr>
        <p:spPr>
          <a:xfrm>
            <a:off x="9875520" y="3566160"/>
            <a:ext cx="1554480" cy="365760"/>
          </a:xfrm>
          <a:prstGeom prst="rect">
            <a:avLst/>
          </a:prstGeom>
          <a:noFill/>
          <a:ln/>
        </p:spPr>
        <p:txBody>
          <a:bodyPr wrap="square" lIns="0" tIns="0" rIns="0" bIns="0" rtlCol="0" anchor="ctr"/>
          <a:lstStyle/>
          <a:p>
            <a:pPr algn="r" indent="0" marL="0">
              <a:buNone/>
            </a:pPr>
            <a:r>
              <a:rPr lang="en-US" sz="1800" b="1" dirty="0">
                <a:solidFill>
                  <a:srgbClr val="F5F5F7"/>
                </a:solidFill>
                <a:latin typeface="Georgia" pitchFamily="34" charset="0"/>
                <a:ea typeface="Georgia" pitchFamily="34" charset="-122"/>
                <a:cs typeface="Georgia" pitchFamily="34" charset="-120"/>
              </a:rPr>
              <a:t>~$9 / year</a:t>
            </a:r>
            <a:endParaRPr lang="en-US" sz="1800" dirty="0"/>
          </a:p>
        </p:txBody>
      </p:sp>
      <p:sp>
        <p:nvSpPr>
          <p:cNvPr id="29" name="Text 27"/>
          <p:cNvSpPr/>
          <p:nvPr/>
        </p:nvSpPr>
        <p:spPr>
          <a:xfrm>
            <a:off x="6492240" y="4023360"/>
            <a:ext cx="3657600" cy="36576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Weekly refresh top 50</a:t>
            </a:r>
            <a:endParaRPr lang="en-US" sz="1300" dirty="0"/>
          </a:p>
        </p:txBody>
      </p:sp>
      <p:sp>
        <p:nvSpPr>
          <p:cNvPr id="30" name="Text 28"/>
          <p:cNvSpPr/>
          <p:nvPr/>
        </p:nvSpPr>
        <p:spPr>
          <a:xfrm>
            <a:off x="9875520" y="4023360"/>
            <a:ext cx="1554480" cy="365760"/>
          </a:xfrm>
          <a:prstGeom prst="rect">
            <a:avLst/>
          </a:prstGeom>
          <a:noFill/>
          <a:ln/>
        </p:spPr>
        <p:txBody>
          <a:bodyPr wrap="square" lIns="0" tIns="0" rIns="0" bIns="0" rtlCol="0" anchor="ctr"/>
          <a:lstStyle/>
          <a:p>
            <a:pPr algn="r" indent="0" marL="0">
              <a:buNone/>
            </a:pPr>
            <a:r>
              <a:rPr lang="en-US" sz="1800" b="1" dirty="0">
                <a:solidFill>
                  <a:srgbClr val="F5F5F7"/>
                </a:solidFill>
                <a:latin typeface="Georgia" pitchFamily="34" charset="0"/>
                <a:ea typeface="Georgia" pitchFamily="34" charset="-122"/>
                <a:cs typeface="Georgia" pitchFamily="34" charset="-120"/>
              </a:rPr>
              <a:t>~$96 / year</a:t>
            </a:r>
            <a:endParaRPr lang="en-US" sz="1800" dirty="0"/>
          </a:p>
        </p:txBody>
      </p:sp>
      <p:sp>
        <p:nvSpPr>
          <p:cNvPr id="31" name="Shape 29"/>
          <p:cNvSpPr/>
          <p:nvPr/>
        </p:nvSpPr>
        <p:spPr>
          <a:xfrm>
            <a:off x="6492240" y="4526280"/>
            <a:ext cx="4937760" cy="0"/>
          </a:xfrm>
          <a:prstGeom prst="line">
            <a:avLst/>
          </a:prstGeom>
          <a:noFill/>
          <a:ln w="6350">
            <a:solidFill>
              <a:srgbClr val="2B2F3A"/>
            </a:solidFill>
            <a:prstDash val="solid"/>
          </a:ln>
        </p:spPr>
      </p:sp>
      <p:sp>
        <p:nvSpPr>
          <p:cNvPr id="32" name="Text 30"/>
          <p:cNvSpPr/>
          <p:nvPr/>
        </p:nvSpPr>
        <p:spPr>
          <a:xfrm>
            <a:off x="6492240" y="4617720"/>
            <a:ext cx="4937760" cy="914400"/>
          </a:xfrm>
          <a:prstGeom prst="rect">
            <a:avLst/>
          </a:prstGeom>
          <a:noFill/>
          <a:ln/>
        </p:spPr>
        <p:txBody>
          <a:bodyPr wrap="square" rtlCol="0" anchor="ctr"/>
          <a:lstStyle/>
          <a:p>
            <a:pPr indent="0" marL="0">
              <a:spcAft>
                <a:spcPts val="200"/>
              </a:spcAft>
              <a:buNone/>
            </a:pPr>
            <a:r>
              <a:rPr lang="en-US" sz="1100" b="1" dirty="0">
                <a:solidFill>
                  <a:srgbClr val="F5F5F7"/>
                </a:solidFill>
                <a:latin typeface="Calibri" pitchFamily="34" charset="0"/>
                <a:ea typeface="Calibri" pitchFamily="34" charset="-122"/>
                <a:cs typeface="Calibri" pitchFamily="34" charset="-120"/>
              </a:rPr>
              <a:t>Engineering: </a:t>
            </a:r>
            <a:pPr indent="0" marL="0">
              <a:spcAft>
                <a:spcPts val="200"/>
              </a:spcAft>
              <a:buNone/>
            </a:pPr>
            <a:r>
              <a:rPr lang="en-US" sz="1100" dirty="0">
                <a:solidFill>
                  <a:srgbClr val="F5F5F7"/>
                </a:solidFill>
                <a:latin typeface="Calibri" pitchFamily="34" charset="0"/>
                <a:ea typeface="Calibri" pitchFamily="34" charset="-122"/>
                <a:cs typeface="Calibri" pitchFamily="34" charset="-120"/>
              </a:rPr>
              <a:t>2 weeks · 3-4 sprints</a:t>
            </a:r>
            <a:endParaRPr lang="en-US" sz="1100" dirty="0"/>
          </a:p>
          <a:p>
            <a:pPr indent="0" marL="0">
              <a:spcAft>
                <a:spcPts val="200"/>
              </a:spcAft>
              <a:buNone/>
            </a:pPr>
            <a:r>
              <a:rPr lang="en-US" sz="1100" b="1" dirty="0">
                <a:solidFill>
                  <a:srgbClr val="F5F5F7"/>
                </a:solidFill>
                <a:latin typeface="Calibri" pitchFamily="34" charset="0"/>
                <a:ea typeface="Calibri" pitchFamily="34" charset="-122"/>
                <a:cs typeface="Calibri" pitchFamily="34" charset="-120"/>
              </a:rPr>
              <a:t>Content: </a:t>
            </a:r>
            <a:pPr indent="0" marL="0">
              <a:spcAft>
                <a:spcPts val="200"/>
              </a:spcAft>
              <a:buNone/>
            </a:pPr>
            <a:r>
              <a:rPr lang="en-US" sz="1100" dirty="0">
                <a:solidFill>
                  <a:srgbClr val="F5F5F7"/>
                </a:solidFill>
                <a:latin typeface="Calibri" pitchFamily="34" charset="0"/>
                <a:ea typeface="Calibri" pitchFamily="34" charset="-122"/>
                <a:cs typeface="Calibri" pitchFamily="34" charset="-120"/>
              </a:rPr>
              <a:t>$0 extra (uses Bragi)</a:t>
            </a:r>
            <a:endParaRPr lang="en-US" sz="1100" dirty="0"/>
          </a:p>
          <a:p>
            <a:pPr indent="0" marL="0">
              <a:spcAft>
                <a:spcPts val="200"/>
              </a:spcAft>
              <a:buNone/>
            </a:pPr>
            <a:r>
              <a:rPr lang="en-US" sz="1100" b="1" dirty="0">
                <a:solidFill>
                  <a:srgbClr val="F5F5F7"/>
                </a:solidFill>
                <a:latin typeface="Calibri" pitchFamily="34" charset="0"/>
                <a:ea typeface="Calibri" pitchFamily="34" charset="-122"/>
                <a:cs typeface="Calibri" pitchFamily="34" charset="-120"/>
              </a:rPr>
              <a:t>Risk: </a:t>
            </a:r>
            <a:pPr indent="0" marL="0">
              <a:spcAft>
                <a:spcPts val="200"/>
              </a:spcAft>
              <a:buNone/>
            </a:pPr>
            <a:r>
              <a:rPr lang="en-US" sz="1100" dirty="0">
                <a:solidFill>
                  <a:srgbClr val="F5F5F7"/>
                </a:solidFill>
                <a:latin typeface="Calibri" pitchFamily="34" charset="0"/>
                <a:ea typeface="Calibri" pitchFamily="34" charset="-122"/>
                <a:cs typeface="Calibri" pitchFamily="34" charset="-120"/>
              </a:rPr>
              <a:t>low (enriches existing pipeline)</a:t>
            </a:r>
            <a:endParaRPr lang="en-US" sz="1100" dirty="0"/>
          </a:p>
        </p:txBody>
      </p:sp>
      <p:sp>
        <p:nvSpPr>
          <p:cNvPr id="33" name="Text 31"/>
          <p:cNvSpPr/>
          <p:nvPr/>
        </p:nvSpPr>
        <p:spPr>
          <a:xfrm>
            <a:off x="457200" y="5852160"/>
            <a:ext cx="11247120" cy="365760"/>
          </a:xfrm>
          <a:prstGeom prst="rect">
            <a:avLst/>
          </a:prstGeom>
          <a:noFill/>
          <a:ln/>
        </p:spPr>
        <p:txBody>
          <a:bodyPr wrap="square" rtlCol="0" anchor="ctr"/>
          <a:lstStyle/>
          <a:p>
            <a:pPr algn="ctr" indent="0" marL="0">
              <a:buNone/>
            </a:pPr>
            <a:r>
              <a:rPr lang="en-US" sz="2000" i="1" dirty="0">
                <a:solidFill>
                  <a:srgbClr val="F96167"/>
                </a:solidFill>
                <a:latin typeface="Georgia" pitchFamily="34" charset="0"/>
                <a:ea typeface="Georgia" pitchFamily="34" charset="-122"/>
                <a:cs typeface="Georgia" pitchFamily="34" charset="-120"/>
              </a:rPr>
              <a:t>From keyword hunting to topical authority.</a:t>
            </a:r>
            <a:endParaRPr lang="en-US" sz="2000" dirty="0"/>
          </a:p>
        </p:txBody>
      </p:sp>
      <p:sp>
        <p:nvSpPr>
          <p:cNvPr id="34" name="Text 32"/>
          <p:cNvSpPr/>
          <p:nvPr/>
        </p:nvSpPr>
        <p:spPr>
          <a:xfrm>
            <a:off x="457200" y="6263640"/>
            <a:ext cx="11247120" cy="365760"/>
          </a:xfrm>
          <a:prstGeom prst="rect">
            <a:avLst/>
          </a:prstGeom>
          <a:noFill/>
          <a:ln/>
        </p:spPr>
        <p:txBody>
          <a:bodyPr wrap="square" rtlCol="0" anchor="ctr"/>
          <a:lstStyle/>
          <a:p>
            <a:pPr algn="ctr" indent="0" marL="0">
              <a:buNone/>
            </a:pPr>
            <a:r>
              <a:rPr lang="en-US" sz="1400" dirty="0">
                <a:solidFill>
                  <a:srgbClr val="8B91A0"/>
                </a:solidFill>
                <a:latin typeface="Calibri" pitchFamily="34" charset="0"/>
                <a:ea typeface="Calibri" pitchFamily="34" charset="-122"/>
                <a:cs typeface="Calibri" pitchFamily="34" charset="-120"/>
              </a:rPr>
              <a:t>Same team. Same infrastructure. Ten times the velocity.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Keywords: G2G's Next SEO Era</dc:title>
  <dc:subject>PptxGenJS Presentation</dc:subject>
  <dc:creator>G2G SEO Team</dc:creator>
  <cp:lastModifiedBy>G2G SEO Team</cp:lastModifiedBy>
  <cp:revision>1</cp:revision>
  <dcterms:created xsi:type="dcterms:W3CDTF">2026-05-21T14:59:30Z</dcterms:created>
  <dcterms:modified xsi:type="dcterms:W3CDTF">2026-05-21T14:59:30Z</dcterms:modified>
</cp:coreProperties>
</file>